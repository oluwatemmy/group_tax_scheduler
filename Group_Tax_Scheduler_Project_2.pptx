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4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We are the CSC 226 group presenting the Group Tax Scheduler — an object-oriented C++ console application. Our lecturer is Mr Lawal. Over the next few minutes we'll cover what the program does, the OOP concepts behind it, and a short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nineteen group members, listed by matriculation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tax for a whole group by hand is error-prone: you recalculate rates, forget who has paid, and miss deadlines. Our program automates all of that from a simple text menu — you enter each taxpayer once and the app does the maths and the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three objectives. First, apply the OOP principles from the course to a program that actually does something useful. Second, automate tax calculation and payment tracking for a group. Third, practise clean engineering — validating input, handling errors, and storing data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written in standard C++ and compiled with g++ 16 from MSYS2, using the static flag so the executable runs on any Windows machine without extra libraries. We wrote it in VS Code on Windows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program runs from a nine-option text menu. On the left is the menu exactly as the user sees it. On the right are the features that make it useful: automatic calculation, status tracking, overdue detection against the real system date, and save and load. We'll see these live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typical run. On startup, if a saved file exists the program offers to continue or start fresh — continuing is the safe default. Then from the menu we add a taxpayer: choose the type, enter a name and income, and the app confirms. Notice we never type the tax — it is computed from the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demonstrates the four pillars of OOP. Encapsulation: taxpayer data is hidden and reached only through methods. Abstraction: Taxpayer is an abstract base class with pure virtual functions. Inheritance: a three-level chain of taxpayer types. Polymorphism: one calculateTax call behaves differently for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class hierarchy on the left and the code that makes it work on the right. Taxpayer is the abstract base. Individual and Business inherit directly. PremiumIndividual inherits from Individual — a third level — reusing Individual's ten percent and adding a five percent surcharge. Because calculateTax is virtual, one call resolves to the correct version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pillars, three more course concepts appear. A custom exception class inherits from std::runtime_error and is thrown on bad input, then caught in main. Two STL containers hold the data — a vector for the group and a map for category totals. And memory is managed carefully: every new has a matching delete, with a virtual destructor on the base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deliberate choices. We left out an edit feature: since all input is validated at entry, bad data never gets in, and a mistaken record is simply deleted and re-added. Startup defaults to continuing with saved data so a save can never silently overwrite records. And each taxpayer type owns its own tax rule, so changing a rate is a one-line change. Our main challenge was reliable input validation and safe memory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output we will show. The schedule lists each taxpayer with their computed tax and status. Because the due date, 2026-04-31, is in the past, the two unpaid taxpayers are flagged OVERDUE. The totals screen groups tax by category and ends with an overdue alert: two taxpayers owing 210,000 past the due date. We can replace these with real terminal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Group Tax Scheduler applies every core OOP concept from the course in a program that does something genuinely useful. We're honest about its limits and have a clear list of future improvements: full calendar-aware date checking, per-taxpayer due dates, search by name, and a payment history. Thank you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3000" y="914400"/>
            <a:ext cx="16002000" cy="57150"/>
          </a:xfrm>
          <a:prstGeom prst="rect">
            <a:avLst/>
          </a:prstGeom>
          <a:solidFill>
            <a:srgbClr val="17181A"/>
          </a:solidFill>
        </p:spPr>
      </p:sp>
      <p:sp>
        <p:nvSpPr>
          <p:cNvPr id="3" name="Text 1"/>
          <p:cNvSpPr/>
          <p:nvPr/>
        </p:nvSpPr>
        <p:spPr>
          <a:xfrm>
            <a:off x="1143000" y="2976414"/>
            <a:ext cx="17602200" cy="361950"/>
          </a:xfrm>
          <a:prstGeom prst="rect">
            <a:avLst/>
          </a:prstGeom>
          <a:noFill/>
        </p:spPr>
        <p:txBody>
          <a:bodyPr wrap="square" lIns="25400" tIns="25400" rIns="25400" bIns="25400" rtlCol="0" anchor="t">
            <a:normAutofit/>
          </a:bodyPr>
          <a:lstStyle/>
          <a:p>
            <a:pPr marL="0" indent="0" algn="l">
              <a:buNone/>
            </a:pPr>
            <a:r>
              <a:rPr lang="en-US" sz="1950" kern="0" spc="225"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CSC 226 · OBJECT-ORIENTED PROGRAMMING IN C++</a:t>
            </a:r>
            <a:endParaRPr lang="en-US" sz="1950" dirty="0"/>
          </a:p>
        </p:txBody>
      </p:sp>
      <p:sp>
        <p:nvSpPr>
          <p:cNvPr id="4" name="Text 2"/>
          <p:cNvSpPr/>
          <p:nvPr/>
        </p:nvSpPr>
        <p:spPr>
          <a:xfrm>
            <a:off x="1143000" y="3586014"/>
            <a:ext cx="17602200" cy="1208484"/>
          </a:xfrm>
          <a:prstGeom prst="rect">
            <a:avLst/>
          </a:prstGeom>
          <a:noFill/>
        </p:spPr>
        <p:txBody>
          <a:bodyPr wrap="square" lIns="25400" tIns="25400" rIns="25400" bIns="25400" rtlCol="0" anchor="t">
            <a:normAutofit fontScale="92500" lnSpcReduction="20000"/>
          </a:bodyPr>
          <a:lstStyle/>
          <a:p>
            <a:pPr marL="0" indent="0" algn="l">
              <a:lnSpc>
                <a:spcPct val="96000"/>
              </a:lnSpc>
              <a:buNone/>
            </a:pPr>
            <a:r>
              <a:rPr lang="en-US" sz="9600" kern="0" spc="-112" dirty="0">
                <a:solidFill>
                  <a:srgbClr val="17181A"/>
                </a:solidFill>
                <a:latin typeface="Georgia" panose="02040502050405020303" pitchFamily="34" charset="0"/>
                <a:ea typeface="Georgia" panose="02040502050405020303" pitchFamily="34" charset="-122"/>
                <a:cs typeface="Georgia" panose="02040502050405020303" pitchFamily="34" charset="-120"/>
              </a:rPr>
              <a:t>Group Tax Scheduler</a:t>
            </a:r>
            <a:endParaRPr lang="en-US" sz="9600" dirty="0"/>
          </a:p>
        </p:txBody>
      </p:sp>
      <p:sp>
        <p:nvSpPr>
          <p:cNvPr id="5" name="Text 3"/>
          <p:cNvSpPr/>
          <p:nvPr/>
        </p:nvSpPr>
        <p:spPr>
          <a:xfrm>
            <a:off x="1143000" y="5042148"/>
            <a:ext cx="12165330" cy="1478012"/>
          </a:xfrm>
          <a:prstGeom prst="rect">
            <a:avLst/>
          </a:prstGeom>
          <a:noFill/>
        </p:spPr>
        <p:txBody>
          <a:bodyPr wrap="square" lIns="25400" tIns="25400" rIns="25400" bIns="25400" rtlCol="0" anchor="t">
            <a:normAutofit fontScale="92500"/>
          </a:bodyPr>
          <a:lstStyle/>
          <a:p>
            <a:pPr marL="0" indent="0" algn="l">
              <a:lnSpc>
                <a:spcPct val="140000"/>
              </a:lnSpc>
              <a:buNone/>
            </a:pPr>
            <a:r>
              <a:rPr lang="en-US" sz="2700" dirty="0">
                <a:solidFill>
                  <a:srgbClr val="3A3D44"/>
                </a:solidFill>
                <a:latin typeface="Arial" panose="020B0604020202020204" pitchFamily="34" charset="0"/>
                <a:ea typeface="Arial" panose="020B0604020202020204" pitchFamily="34" charset="-122"/>
                <a:cs typeface="Arial" panose="020B0604020202020204" pitchFamily="34" charset="-120"/>
              </a:rPr>
              <a:t>An object-oriented C++ console application that calculates, tracks, and schedules tax for a group of taxpayers — built on inheritance, polymorphism, and file persistence.</a:t>
            </a:r>
            <a:endParaRPr lang="en-US" sz="2700" dirty="0"/>
          </a:p>
        </p:txBody>
      </p:sp>
      <p:sp>
        <p:nvSpPr>
          <p:cNvPr id="6" name="Shape 4"/>
          <p:cNvSpPr/>
          <p:nvPr/>
        </p:nvSpPr>
        <p:spPr>
          <a:xfrm>
            <a:off x="1143000" y="8486775"/>
            <a:ext cx="16002000" cy="9525"/>
          </a:xfrm>
          <a:prstGeom prst="rect">
            <a:avLst/>
          </a:prstGeom>
          <a:solidFill>
            <a:srgbClr val="17181A"/>
          </a:solidFill>
        </p:spPr>
      </p:sp>
      <p:sp>
        <p:nvSpPr>
          <p:cNvPr id="7" name="Text 5"/>
          <p:cNvSpPr/>
          <p:nvPr/>
        </p:nvSpPr>
        <p:spPr>
          <a:xfrm>
            <a:off x="1143000" y="8782050"/>
            <a:ext cx="1445240" cy="314325"/>
          </a:xfrm>
          <a:prstGeom prst="rect">
            <a:avLst/>
          </a:prstGeom>
          <a:noFill/>
        </p:spPr>
        <p:txBody>
          <a:bodyPr wrap="square" lIns="25400" tIns="25400" rIns="25400" bIns="25400" rtlCol="0" anchor="t">
            <a:normAutofit/>
          </a:bodyPr>
          <a:lstStyle/>
          <a:p>
            <a:pPr marL="0" indent="0" algn="l">
              <a:buNone/>
            </a:pPr>
            <a:r>
              <a:rPr lang="en-US" sz="1650" kern="0" spc="150"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LECTURER</a:t>
            </a:r>
            <a:endParaRPr lang="en-US" sz="1650" dirty="0"/>
          </a:p>
        </p:txBody>
      </p:sp>
      <p:sp>
        <p:nvSpPr>
          <p:cNvPr id="8" name="Text 6"/>
          <p:cNvSpPr/>
          <p:nvPr/>
        </p:nvSpPr>
        <p:spPr>
          <a:xfrm>
            <a:off x="1143000" y="9115425"/>
            <a:ext cx="1445240"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17181A"/>
                </a:solidFill>
                <a:latin typeface="Arial" panose="020B0604020202020204" pitchFamily="34" charset="0"/>
                <a:ea typeface="Arial" panose="020B0604020202020204" pitchFamily="34" charset="-122"/>
                <a:cs typeface="Arial" panose="020B0604020202020204" pitchFamily="34" charset="-120"/>
              </a:rPr>
              <a:t>Mr Lawal</a:t>
            </a:r>
            <a:endParaRPr lang="en-US" sz="2550" dirty="0"/>
          </a:p>
        </p:txBody>
      </p:sp>
      <p:sp>
        <p:nvSpPr>
          <p:cNvPr id="9" name="Text 7"/>
          <p:cNvSpPr/>
          <p:nvPr/>
        </p:nvSpPr>
        <p:spPr>
          <a:xfrm>
            <a:off x="12708925" y="8782050"/>
            <a:ext cx="4436075" cy="314325"/>
          </a:xfrm>
          <a:prstGeom prst="rect">
            <a:avLst/>
          </a:prstGeom>
          <a:noFill/>
        </p:spPr>
        <p:txBody>
          <a:bodyPr wrap="square" lIns="25400" tIns="25400" rIns="25400" bIns="25400" rtlCol="0" anchor="t">
            <a:normAutofit/>
          </a:bodyPr>
          <a:lstStyle/>
          <a:p>
            <a:pPr marL="0" indent="0" algn="r">
              <a:buNone/>
            </a:pPr>
            <a:r>
              <a:rPr lang="en-US" sz="1650" kern="0" spc="150"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PRESENTED BY</a:t>
            </a:r>
            <a:endParaRPr lang="en-US" sz="1650" dirty="0"/>
          </a:p>
        </p:txBody>
      </p:sp>
      <p:sp>
        <p:nvSpPr>
          <p:cNvPr id="10" name="Text 8"/>
          <p:cNvSpPr/>
          <p:nvPr/>
        </p:nvSpPr>
        <p:spPr>
          <a:xfrm>
            <a:off x="12708925" y="9115425"/>
            <a:ext cx="4436075" cy="409575"/>
          </a:xfrm>
          <a:prstGeom prst="rect">
            <a:avLst/>
          </a:prstGeom>
          <a:noFill/>
        </p:spPr>
        <p:txBody>
          <a:bodyPr wrap="square" lIns="25400" tIns="25400" rIns="25400" bIns="25400" rtlCol="0" anchor="t">
            <a:normAutofit fontScale="90000"/>
          </a:bodyPr>
          <a:lstStyle/>
          <a:p>
            <a:pPr marL="0" indent="0" algn="r">
              <a:buNone/>
            </a:pPr>
            <a:r>
              <a:rPr lang="en-US" sz="2550" b="1" dirty="0">
                <a:solidFill>
                  <a:srgbClr val="17181A"/>
                </a:solidFill>
                <a:latin typeface="Arial" panose="020B0604020202020204" pitchFamily="34" charset="0"/>
                <a:ea typeface="Arial" panose="020B0604020202020204" pitchFamily="34" charset="-122"/>
                <a:cs typeface="Arial" panose="020B0604020202020204" pitchFamily="34" charset="-120"/>
              </a:rPr>
              <a:t>Group </a:t>
            </a:r>
            <a:r>
              <a:rPr lang="en-GB" altLang="en-US" sz="2550" b="1" dirty="0">
                <a:solidFill>
                  <a:srgbClr val="17181A"/>
                </a:solidFill>
                <a:latin typeface="Arial" panose="020B0604020202020204" pitchFamily="34" charset="0"/>
                <a:ea typeface="Arial" panose="020B0604020202020204" pitchFamily="34" charset="-122"/>
                <a:cs typeface="Arial" panose="020B0604020202020204" pitchFamily="34" charset="-120"/>
              </a:rPr>
              <a:t>8</a:t>
            </a:r>
            <a:r>
              <a:rPr lang="en-US" sz="2550" b="1" dirty="0">
                <a:solidFill>
                  <a:srgbClr val="17181A"/>
                </a:solidFill>
                <a:latin typeface="Arial" panose="020B0604020202020204" pitchFamily="34" charset="0"/>
                <a:ea typeface="Arial" panose="020B0604020202020204" pitchFamily="34" charset="-122"/>
                <a:cs typeface="Arial" panose="020B0604020202020204" pitchFamily="34" charset="-120"/>
              </a:rPr>
              <a:t> (301-320)</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7810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GROUP MEMBERS · BY MATRIC NUMBER</a:t>
            </a:r>
            <a:endParaRPr lang="en-US" sz="1800" dirty="0"/>
          </a:p>
        </p:txBody>
      </p:sp>
      <p:sp>
        <p:nvSpPr>
          <p:cNvPr id="3" name="Text 1"/>
          <p:cNvSpPr/>
          <p:nvPr/>
        </p:nvSpPr>
        <p:spPr>
          <a:xfrm>
            <a:off x="1143000" y="1238250"/>
            <a:ext cx="17602200" cy="620911"/>
          </a:xfrm>
          <a:prstGeom prst="rect">
            <a:avLst/>
          </a:prstGeom>
          <a:noFill/>
        </p:spPr>
        <p:txBody>
          <a:bodyPr wrap="square" lIns="25400" tIns="25400" rIns="25400" bIns="25400" rtlCol="0" anchor="t">
            <a:normAutofit fontScale="92500" lnSpcReduction="20000"/>
          </a:bodyPr>
          <a:lstStyle/>
          <a:p>
            <a:pPr marL="0" indent="0" algn="l">
              <a:lnSpc>
                <a:spcPct val="102000"/>
              </a:lnSpc>
              <a:buNone/>
            </a:pPr>
            <a:r>
              <a:rPr lang="en-US" sz="4500" dirty="0">
                <a:solidFill>
                  <a:srgbClr val="17181A"/>
                </a:solidFill>
                <a:latin typeface="Georgia" panose="02040502050405020303" pitchFamily="34" charset="0"/>
                <a:ea typeface="Georgia" panose="02040502050405020303" pitchFamily="34" charset="-122"/>
                <a:cs typeface="Georgia" panose="02040502050405020303" pitchFamily="34" charset="-120"/>
              </a:rPr>
              <a:t>The team</a:t>
            </a:r>
            <a:endParaRPr lang="en-US" sz="4500" dirty="0"/>
          </a:p>
        </p:txBody>
      </p:sp>
      <p:sp>
        <p:nvSpPr>
          <p:cNvPr id="4" name="Shape 2"/>
          <p:cNvSpPr/>
          <p:nvPr/>
        </p:nvSpPr>
        <p:spPr>
          <a:xfrm>
            <a:off x="1143000" y="2611636"/>
            <a:ext cx="7572375" cy="9525"/>
          </a:xfrm>
          <a:prstGeom prst="rect">
            <a:avLst/>
          </a:prstGeom>
          <a:solidFill>
            <a:srgbClr val="17181A"/>
          </a:solidFill>
        </p:spPr>
      </p:sp>
      <p:sp>
        <p:nvSpPr>
          <p:cNvPr id="5" name="Text 3"/>
          <p:cNvSpPr/>
          <p:nvPr/>
        </p:nvSpPr>
        <p:spPr>
          <a:xfrm>
            <a:off x="1143000" y="2278261"/>
            <a:ext cx="1571625" cy="295275"/>
          </a:xfrm>
          <a:prstGeom prst="rect">
            <a:avLst/>
          </a:prstGeom>
          <a:noFill/>
        </p:spPr>
        <p:txBody>
          <a:bodyPr wrap="square" lIns="25400" tIns="25400" rIns="25400" bIns="25400" rtlCol="0" anchor="t">
            <a:normAutofit/>
          </a:bodyPr>
          <a:lstStyle/>
          <a:p>
            <a:pPr marL="0" indent="0" algn="l">
              <a:buNone/>
            </a:pPr>
            <a:r>
              <a:rPr lang="en-US" sz="150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MATRIC NO.</a:t>
            </a:r>
            <a:endParaRPr lang="en-US" sz="1500" dirty="0"/>
          </a:p>
        </p:txBody>
      </p:sp>
      <p:sp>
        <p:nvSpPr>
          <p:cNvPr id="6" name="Text 4"/>
          <p:cNvSpPr/>
          <p:nvPr/>
        </p:nvSpPr>
        <p:spPr>
          <a:xfrm>
            <a:off x="2800350" y="2278261"/>
            <a:ext cx="571500" cy="295275"/>
          </a:xfrm>
          <a:prstGeom prst="rect">
            <a:avLst/>
          </a:prstGeom>
          <a:noFill/>
        </p:spPr>
        <p:txBody>
          <a:bodyPr wrap="square" lIns="25400" tIns="25400" rIns="25400" bIns="25400" rtlCol="0" anchor="t">
            <a:normAutofit/>
          </a:bodyPr>
          <a:lstStyle/>
          <a:p>
            <a:pPr marL="0" indent="0" algn="l">
              <a:buNone/>
            </a:pPr>
            <a:r>
              <a:rPr lang="en-US" sz="150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NAME</a:t>
            </a:r>
            <a:endParaRPr lang="en-US" sz="1500" dirty="0"/>
          </a:p>
        </p:txBody>
      </p:sp>
      <p:sp>
        <p:nvSpPr>
          <p:cNvPr id="7" name="Shape 5"/>
          <p:cNvSpPr/>
          <p:nvPr/>
        </p:nvSpPr>
        <p:spPr>
          <a:xfrm>
            <a:off x="1143000" y="3154561"/>
            <a:ext cx="7572375" cy="9525"/>
          </a:xfrm>
          <a:prstGeom prst="rect">
            <a:avLst/>
          </a:prstGeom>
          <a:solidFill>
            <a:srgbClr val="E6E4DE"/>
          </a:solidFill>
        </p:spPr>
      </p:sp>
      <p:sp>
        <p:nvSpPr>
          <p:cNvPr id="8" name="Text 6"/>
          <p:cNvSpPr/>
          <p:nvPr/>
        </p:nvSpPr>
        <p:spPr>
          <a:xfrm>
            <a:off x="1143000" y="272593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230591318</a:t>
            </a:r>
            <a:endParaRPr lang="en-US" sz="1950" dirty="0"/>
          </a:p>
        </p:txBody>
      </p:sp>
      <p:sp>
        <p:nvSpPr>
          <p:cNvPr id="9" name="Text 7"/>
          <p:cNvSpPr/>
          <p:nvPr/>
        </p:nvSpPr>
        <p:spPr>
          <a:xfrm>
            <a:off x="2800350" y="2725936"/>
            <a:ext cx="3741777"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Jackson Anuoluwapo Solomon</a:t>
            </a:r>
            <a:endParaRPr lang="en-US" sz="1950" dirty="0"/>
          </a:p>
        </p:txBody>
      </p:sp>
      <p:sp>
        <p:nvSpPr>
          <p:cNvPr id="10" name="Shape 8"/>
          <p:cNvSpPr/>
          <p:nvPr/>
        </p:nvSpPr>
        <p:spPr>
          <a:xfrm>
            <a:off x="1143000" y="3697486"/>
            <a:ext cx="7572375" cy="9525"/>
          </a:xfrm>
          <a:prstGeom prst="rect">
            <a:avLst/>
          </a:prstGeom>
          <a:solidFill>
            <a:srgbClr val="E6E4DE"/>
          </a:solidFill>
        </p:spPr>
      </p:sp>
      <p:sp>
        <p:nvSpPr>
          <p:cNvPr id="11" name="Text 9"/>
          <p:cNvSpPr/>
          <p:nvPr/>
        </p:nvSpPr>
        <p:spPr>
          <a:xfrm>
            <a:off x="1143000" y="326886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240591301</a:t>
            </a:r>
            <a:endParaRPr lang="en-US" sz="1950" dirty="0"/>
          </a:p>
        </p:txBody>
      </p:sp>
      <p:sp>
        <p:nvSpPr>
          <p:cNvPr id="12" name="Text 10"/>
          <p:cNvSpPr/>
          <p:nvPr/>
        </p:nvSpPr>
        <p:spPr>
          <a:xfrm>
            <a:off x="2800350" y="3268861"/>
            <a:ext cx="3246388"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Adegbenro David Ademola</a:t>
            </a:r>
            <a:endParaRPr lang="en-US" sz="1950" dirty="0"/>
          </a:p>
        </p:txBody>
      </p:sp>
      <p:sp>
        <p:nvSpPr>
          <p:cNvPr id="13" name="Shape 11"/>
          <p:cNvSpPr/>
          <p:nvPr/>
        </p:nvSpPr>
        <p:spPr>
          <a:xfrm>
            <a:off x="1143000" y="4240411"/>
            <a:ext cx="7572375" cy="9525"/>
          </a:xfrm>
          <a:prstGeom prst="rect">
            <a:avLst/>
          </a:prstGeom>
          <a:solidFill>
            <a:srgbClr val="E6E4DE"/>
          </a:solidFill>
        </p:spPr>
      </p:sp>
      <p:sp>
        <p:nvSpPr>
          <p:cNvPr id="14" name="Text 12"/>
          <p:cNvSpPr/>
          <p:nvPr/>
        </p:nvSpPr>
        <p:spPr>
          <a:xfrm>
            <a:off x="1143000" y="381178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240591302</a:t>
            </a:r>
            <a:endParaRPr lang="en-US" sz="1950" dirty="0"/>
          </a:p>
        </p:txBody>
      </p:sp>
      <p:sp>
        <p:nvSpPr>
          <p:cNvPr id="15" name="Text 13"/>
          <p:cNvSpPr/>
          <p:nvPr/>
        </p:nvSpPr>
        <p:spPr>
          <a:xfrm>
            <a:off x="2800350" y="3811786"/>
            <a:ext cx="2902922"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Adeniyi Bright Olatunde</a:t>
            </a:r>
            <a:endParaRPr lang="en-US" sz="1950" dirty="0"/>
          </a:p>
        </p:txBody>
      </p:sp>
      <p:sp>
        <p:nvSpPr>
          <p:cNvPr id="16" name="Shape 14"/>
          <p:cNvSpPr/>
          <p:nvPr/>
        </p:nvSpPr>
        <p:spPr>
          <a:xfrm>
            <a:off x="1143000" y="4783336"/>
            <a:ext cx="7572375" cy="9525"/>
          </a:xfrm>
          <a:prstGeom prst="rect">
            <a:avLst/>
          </a:prstGeom>
          <a:solidFill>
            <a:srgbClr val="E6E4DE"/>
          </a:solidFill>
        </p:spPr>
      </p:sp>
      <p:sp>
        <p:nvSpPr>
          <p:cNvPr id="17" name="Text 15"/>
          <p:cNvSpPr/>
          <p:nvPr/>
        </p:nvSpPr>
        <p:spPr>
          <a:xfrm>
            <a:off x="1143000" y="435471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240591303</a:t>
            </a:r>
            <a:endParaRPr lang="en-US" sz="1950" dirty="0"/>
          </a:p>
        </p:txBody>
      </p:sp>
      <p:sp>
        <p:nvSpPr>
          <p:cNvPr id="18" name="Text 16"/>
          <p:cNvSpPr/>
          <p:nvPr/>
        </p:nvSpPr>
        <p:spPr>
          <a:xfrm>
            <a:off x="2800350" y="4354711"/>
            <a:ext cx="4033674"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Adeyemi Shakrudeen Oluwaseun</a:t>
            </a:r>
            <a:endParaRPr lang="en-US" sz="1950" dirty="0"/>
          </a:p>
        </p:txBody>
      </p:sp>
      <p:sp>
        <p:nvSpPr>
          <p:cNvPr id="19" name="Shape 17"/>
          <p:cNvSpPr/>
          <p:nvPr/>
        </p:nvSpPr>
        <p:spPr>
          <a:xfrm>
            <a:off x="1143000" y="5326261"/>
            <a:ext cx="7572375" cy="9525"/>
          </a:xfrm>
          <a:prstGeom prst="rect">
            <a:avLst/>
          </a:prstGeom>
          <a:solidFill>
            <a:srgbClr val="E6E4DE"/>
          </a:solidFill>
        </p:spPr>
      </p:sp>
      <p:sp>
        <p:nvSpPr>
          <p:cNvPr id="20" name="Text 18"/>
          <p:cNvSpPr/>
          <p:nvPr/>
        </p:nvSpPr>
        <p:spPr>
          <a:xfrm>
            <a:off x="1143000" y="489763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240591304</a:t>
            </a:r>
            <a:endParaRPr lang="en-US" sz="1950" dirty="0"/>
          </a:p>
        </p:txBody>
      </p:sp>
      <p:sp>
        <p:nvSpPr>
          <p:cNvPr id="21" name="Text 19"/>
          <p:cNvSpPr/>
          <p:nvPr/>
        </p:nvSpPr>
        <p:spPr>
          <a:xfrm>
            <a:off x="2800350" y="4897636"/>
            <a:ext cx="4329827"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Agbuke Ejiroghene Oluwafunmilayo</a:t>
            </a:r>
            <a:endParaRPr lang="en-US" sz="1950" dirty="0"/>
          </a:p>
        </p:txBody>
      </p:sp>
      <p:sp>
        <p:nvSpPr>
          <p:cNvPr id="22" name="Shape 20"/>
          <p:cNvSpPr/>
          <p:nvPr/>
        </p:nvSpPr>
        <p:spPr>
          <a:xfrm>
            <a:off x="1143000" y="5869186"/>
            <a:ext cx="7572375" cy="9525"/>
          </a:xfrm>
          <a:prstGeom prst="rect">
            <a:avLst/>
          </a:prstGeom>
          <a:solidFill>
            <a:srgbClr val="E6E4DE"/>
          </a:solidFill>
        </p:spPr>
      </p:sp>
      <p:sp>
        <p:nvSpPr>
          <p:cNvPr id="23" name="Text 21"/>
          <p:cNvSpPr/>
          <p:nvPr/>
        </p:nvSpPr>
        <p:spPr>
          <a:xfrm>
            <a:off x="1143000" y="544056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240591305</a:t>
            </a:r>
            <a:endParaRPr lang="en-US" sz="1950" dirty="0"/>
          </a:p>
        </p:txBody>
      </p:sp>
      <p:sp>
        <p:nvSpPr>
          <p:cNvPr id="24" name="Text 22"/>
          <p:cNvSpPr/>
          <p:nvPr/>
        </p:nvSpPr>
        <p:spPr>
          <a:xfrm>
            <a:off x="2800350" y="5440561"/>
            <a:ext cx="3126551"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Ajayi Oluwaseyi Temitope</a:t>
            </a:r>
            <a:endParaRPr lang="en-US" sz="1950" dirty="0"/>
          </a:p>
        </p:txBody>
      </p:sp>
      <p:sp>
        <p:nvSpPr>
          <p:cNvPr id="25" name="Shape 23"/>
          <p:cNvSpPr/>
          <p:nvPr/>
        </p:nvSpPr>
        <p:spPr>
          <a:xfrm>
            <a:off x="1143000" y="6412111"/>
            <a:ext cx="7572375" cy="9525"/>
          </a:xfrm>
          <a:prstGeom prst="rect">
            <a:avLst/>
          </a:prstGeom>
          <a:solidFill>
            <a:srgbClr val="E6E4DE"/>
          </a:solidFill>
        </p:spPr>
      </p:sp>
      <p:sp>
        <p:nvSpPr>
          <p:cNvPr id="26" name="Text 24"/>
          <p:cNvSpPr/>
          <p:nvPr/>
        </p:nvSpPr>
        <p:spPr>
          <a:xfrm>
            <a:off x="1143000" y="598348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240591306</a:t>
            </a:r>
            <a:endParaRPr lang="en-US" sz="1950" dirty="0"/>
          </a:p>
        </p:txBody>
      </p:sp>
      <p:sp>
        <p:nvSpPr>
          <p:cNvPr id="27" name="Text 25"/>
          <p:cNvSpPr/>
          <p:nvPr/>
        </p:nvSpPr>
        <p:spPr>
          <a:xfrm>
            <a:off x="2800350" y="5983486"/>
            <a:ext cx="3547943"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Ajayi Temiloluwa Perosayemi</a:t>
            </a:r>
            <a:endParaRPr lang="en-US" sz="1950" dirty="0"/>
          </a:p>
        </p:txBody>
      </p:sp>
      <p:sp>
        <p:nvSpPr>
          <p:cNvPr id="28" name="Shape 26"/>
          <p:cNvSpPr/>
          <p:nvPr/>
        </p:nvSpPr>
        <p:spPr>
          <a:xfrm>
            <a:off x="1143000" y="6955036"/>
            <a:ext cx="7572375" cy="9525"/>
          </a:xfrm>
          <a:prstGeom prst="rect">
            <a:avLst/>
          </a:prstGeom>
          <a:solidFill>
            <a:srgbClr val="E6E4DE"/>
          </a:solidFill>
        </p:spPr>
      </p:sp>
      <p:sp>
        <p:nvSpPr>
          <p:cNvPr id="29" name="Text 27"/>
          <p:cNvSpPr/>
          <p:nvPr/>
        </p:nvSpPr>
        <p:spPr>
          <a:xfrm>
            <a:off x="1143000" y="652641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240591307</a:t>
            </a:r>
            <a:endParaRPr lang="en-US" sz="1950" dirty="0"/>
          </a:p>
        </p:txBody>
      </p:sp>
      <p:sp>
        <p:nvSpPr>
          <p:cNvPr id="30" name="Text 28"/>
          <p:cNvSpPr/>
          <p:nvPr/>
        </p:nvSpPr>
        <p:spPr>
          <a:xfrm>
            <a:off x="2800350" y="6526411"/>
            <a:ext cx="3603114"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Ajileye Kehinde Abdulrahman</a:t>
            </a:r>
            <a:endParaRPr lang="en-US" sz="1950" dirty="0"/>
          </a:p>
        </p:txBody>
      </p:sp>
      <p:sp>
        <p:nvSpPr>
          <p:cNvPr id="31" name="Shape 29"/>
          <p:cNvSpPr/>
          <p:nvPr/>
        </p:nvSpPr>
        <p:spPr>
          <a:xfrm>
            <a:off x="1143000" y="7497961"/>
            <a:ext cx="7572375" cy="9525"/>
          </a:xfrm>
          <a:prstGeom prst="rect">
            <a:avLst/>
          </a:prstGeom>
          <a:solidFill>
            <a:srgbClr val="E6E4DE"/>
          </a:solidFill>
        </p:spPr>
      </p:sp>
      <p:sp>
        <p:nvSpPr>
          <p:cNvPr id="32" name="Text 30"/>
          <p:cNvSpPr/>
          <p:nvPr/>
        </p:nvSpPr>
        <p:spPr>
          <a:xfrm>
            <a:off x="1143000" y="706933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240591308</a:t>
            </a:r>
            <a:endParaRPr lang="en-US" sz="1950" dirty="0"/>
          </a:p>
        </p:txBody>
      </p:sp>
      <p:sp>
        <p:nvSpPr>
          <p:cNvPr id="33" name="Text 31"/>
          <p:cNvSpPr/>
          <p:nvPr/>
        </p:nvSpPr>
        <p:spPr>
          <a:xfrm>
            <a:off x="2800350" y="7069336"/>
            <a:ext cx="3366879"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Akindele Sultan Olamilekan</a:t>
            </a:r>
            <a:endParaRPr lang="en-US" sz="1950" dirty="0"/>
          </a:p>
        </p:txBody>
      </p:sp>
      <p:sp>
        <p:nvSpPr>
          <p:cNvPr id="34" name="Shape 32"/>
          <p:cNvSpPr/>
          <p:nvPr/>
        </p:nvSpPr>
        <p:spPr>
          <a:xfrm>
            <a:off x="1143000" y="8040886"/>
            <a:ext cx="7572375" cy="9525"/>
          </a:xfrm>
          <a:prstGeom prst="rect">
            <a:avLst/>
          </a:prstGeom>
          <a:solidFill>
            <a:srgbClr val="E6E4DE"/>
          </a:solidFill>
        </p:spPr>
      </p:sp>
      <p:sp>
        <p:nvSpPr>
          <p:cNvPr id="35" name="Text 33"/>
          <p:cNvSpPr/>
          <p:nvPr/>
        </p:nvSpPr>
        <p:spPr>
          <a:xfrm>
            <a:off x="1143000" y="761226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240591309</a:t>
            </a:r>
            <a:endParaRPr lang="en-US" sz="1950" dirty="0"/>
          </a:p>
        </p:txBody>
      </p:sp>
      <p:sp>
        <p:nvSpPr>
          <p:cNvPr id="36" name="Text 34"/>
          <p:cNvSpPr/>
          <p:nvPr/>
        </p:nvSpPr>
        <p:spPr>
          <a:xfrm>
            <a:off x="2800350" y="7612261"/>
            <a:ext cx="4186744"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Alesinloye Irebami Oluwadarasimi</a:t>
            </a:r>
            <a:endParaRPr lang="en-US" sz="1950" dirty="0"/>
          </a:p>
        </p:txBody>
      </p:sp>
      <p:sp>
        <p:nvSpPr>
          <p:cNvPr id="37" name="Shape 35"/>
          <p:cNvSpPr/>
          <p:nvPr/>
        </p:nvSpPr>
        <p:spPr>
          <a:xfrm>
            <a:off x="9572625" y="2611636"/>
            <a:ext cx="7572375" cy="9525"/>
          </a:xfrm>
          <a:prstGeom prst="rect">
            <a:avLst/>
          </a:prstGeom>
          <a:solidFill>
            <a:srgbClr val="17181A"/>
          </a:solidFill>
        </p:spPr>
      </p:sp>
      <p:sp>
        <p:nvSpPr>
          <p:cNvPr id="38" name="Text 36"/>
          <p:cNvSpPr/>
          <p:nvPr/>
        </p:nvSpPr>
        <p:spPr>
          <a:xfrm>
            <a:off x="9572625" y="2278261"/>
            <a:ext cx="1571625" cy="295275"/>
          </a:xfrm>
          <a:prstGeom prst="rect">
            <a:avLst/>
          </a:prstGeom>
          <a:noFill/>
        </p:spPr>
        <p:txBody>
          <a:bodyPr wrap="square" lIns="25400" tIns="25400" rIns="25400" bIns="25400" rtlCol="0" anchor="t">
            <a:normAutofit/>
          </a:bodyPr>
          <a:lstStyle/>
          <a:p>
            <a:pPr marL="0" indent="0" algn="l">
              <a:buNone/>
            </a:pPr>
            <a:r>
              <a:rPr lang="en-US" sz="150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MATRIC NO.</a:t>
            </a:r>
            <a:endParaRPr lang="en-US" sz="1500" dirty="0"/>
          </a:p>
        </p:txBody>
      </p:sp>
      <p:sp>
        <p:nvSpPr>
          <p:cNvPr id="39" name="Text 37"/>
          <p:cNvSpPr/>
          <p:nvPr/>
        </p:nvSpPr>
        <p:spPr>
          <a:xfrm>
            <a:off x="11229975" y="2278261"/>
            <a:ext cx="571500" cy="295275"/>
          </a:xfrm>
          <a:prstGeom prst="rect">
            <a:avLst/>
          </a:prstGeom>
          <a:noFill/>
        </p:spPr>
        <p:txBody>
          <a:bodyPr wrap="square" lIns="25400" tIns="25400" rIns="25400" bIns="25400" rtlCol="0" anchor="t">
            <a:normAutofit/>
          </a:bodyPr>
          <a:lstStyle/>
          <a:p>
            <a:pPr marL="0" indent="0" algn="l">
              <a:buNone/>
            </a:pPr>
            <a:r>
              <a:rPr lang="en-US" sz="150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NAME</a:t>
            </a:r>
            <a:endParaRPr lang="en-US" sz="1500" dirty="0"/>
          </a:p>
        </p:txBody>
      </p:sp>
      <p:sp>
        <p:nvSpPr>
          <p:cNvPr id="40" name="Shape 38"/>
          <p:cNvSpPr/>
          <p:nvPr/>
        </p:nvSpPr>
        <p:spPr>
          <a:xfrm>
            <a:off x="9572625" y="3154561"/>
            <a:ext cx="7572375" cy="9525"/>
          </a:xfrm>
          <a:prstGeom prst="rect">
            <a:avLst/>
          </a:prstGeom>
          <a:solidFill>
            <a:srgbClr val="E6E4DE"/>
          </a:solidFill>
        </p:spPr>
      </p:sp>
      <p:sp>
        <p:nvSpPr>
          <p:cNvPr id="41" name="Text 39"/>
          <p:cNvSpPr/>
          <p:nvPr/>
        </p:nvSpPr>
        <p:spPr>
          <a:xfrm>
            <a:off x="9572625" y="272593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240591310</a:t>
            </a:r>
            <a:endParaRPr lang="en-US" sz="1950" dirty="0"/>
          </a:p>
        </p:txBody>
      </p:sp>
      <p:sp>
        <p:nvSpPr>
          <p:cNvPr id="42" name="Text 40"/>
          <p:cNvSpPr/>
          <p:nvPr/>
        </p:nvSpPr>
        <p:spPr>
          <a:xfrm>
            <a:off x="11229975" y="2725936"/>
            <a:ext cx="2664232"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Awode Fuad Ademola</a:t>
            </a:r>
            <a:endParaRPr lang="en-US" sz="1950" dirty="0"/>
          </a:p>
        </p:txBody>
      </p:sp>
      <p:sp>
        <p:nvSpPr>
          <p:cNvPr id="43" name="Shape 41"/>
          <p:cNvSpPr/>
          <p:nvPr/>
        </p:nvSpPr>
        <p:spPr>
          <a:xfrm>
            <a:off x="9572625" y="3697486"/>
            <a:ext cx="7572375" cy="9525"/>
          </a:xfrm>
          <a:prstGeom prst="rect">
            <a:avLst/>
          </a:prstGeom>
          <a:solidFill>
            <a:srgbClr val="E6E4DE"/>
          </a:solidFill>
        </p:spPr>
      </p:sp>
      <p:sp>
        <p:nvSpPr>
          <p:cNvPr id="44" name="Text 42"/>
          <p:cNvSpPr/>
          <p:nvPr/>
        </p:nvSpPr>
        <p:spPr>
          <a:xfrm>
            <a:off x="9572625" y="326886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240591311</a:t>
            </a:r>
            <a:endParaRPr lang="en-US" sz="1950" dirty="0"/>
          </a:p>
        </p:txBody>
      </p:sp>
      <p:sp>
        <p:nvSpPr>
          <p:cNvPr id="45" name="Text 43"/>
          <p:cNvSpPr/>
          <p:nvPr/>
        </p:nvSpPr>
        <p:spPr>
          <a:xfrm>
            <a:off x="11229975" y="3268861"/>
            <a:ext cx="2936156"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Dokun Leslie Olajumoke</a:t>
            </a:r>
            <a:endParaRPr lang="en-US" sz="1950" dirty="0"/>
          </a:p>
        </p:txBody>
      </p:sp>
      <p:sp>
        <p:nvSpPr>
          <p:cNvPr id="46" name="Shape 44"/>
          <p:cNvSpPr/>
          <p:nvPr/>
        </p:nvSpPr>
        <p:spPr>
          <a:xfrm>
            <a:off x="9572625" y="4240411"/>
            <a:ext cx="7572375" cy="9525"/>
          </a:xfrm>
          <a:prstGeom prst="rect">
            <a:avLst/>
          </a:prstGeom>
          <a:solidFill>
            <a:srgbClr val="E6E4DE"/>
          </a:solidFill>
        </p:spPr>
      </p:sp>
      <p:sp>
        <p:nvSpPr>
          <p:cNvPr id="47" name="Text 45"/>
          <p:cNvSpPr/>
          <p:nvPr/>
        </p:nvSpPr>
        <p:spPr>
          <a:xfrm>
            <a:off x="9572625" y="381178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240591312</a:t>
            </a:r>
            <a:endParaRPr lang="en-US" sz="1950" dirty="0"/>
          </a:p>
        </p:txBody>
      </p:sp>
      <p:sp>
        <p:nvSpPr>
          <p:cNvPr id="48" name="Text 46"/>
          <p:cNvSpPr/>
          <p:nvPr/>
        </p:nvSpPr>
        <p:spPr>
          <a:xfrm>
            <a:off x="11229975" y="3811786"/>
            <a:ext cx="2929280"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Dominic Chigozie Prince</a:t>
            </a:r>
            <a:endParaRPr lang="en-US" sz="1950" dirty="0"/>
          </a:p>
        </p:txBody>
      </p:sp>
      <p:sp>
        <p:nvSpPr>
          <p:cNvPr id="49" name="Shape 47"/>
          <p:cNvSpPr/>
          <p:nvPr/>
        </p:nvSpPr>
        <p:spPr>
          <a:xfrm>
            <a:off x="9572625" y="4783336"/>
            <a:ext cx="7572375" cy="9525"/>
          </a:xfrm>
          <a:prstGeom prst="rect">
            <a:avLst/>
          </a:prstGeom>
          <a:solidFill>
            <a:srgbClr val="E6E4DE"/>
          </a:solidFill>
        </p:spPr>
      </p:sp>
      <p:sp>
        <p:nvSpPr>
          <p:cNvPr id="50" name="Text 48"/>
          <p:cNvSpPr/>
          <p:nvPr/>
        </p:nvSpPr>
        <p:spPr>
          <a:xfrm>
            <a:off x="9572625" y="435471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240591313</a:t>
            </a:r>
            <a:endParaRPr lang="en-US" sz="1950" dirty="0"/>
          </a:p>
        </p:txBody>
      </p:sp>
      <p:sp>
        <p:nvSpPr>
          <p:cNvPr id="51" name="Text 49"/>
          <p:cNvSpPr/>
          <p:nvPr/>
        </p:nvSpPr>
        <p:spPr>
          <a:xfrm>
            <a:off x="11229975" y="4354711"/>
            <a:ext cx="2985269"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Eletu Fiyinfoluwa Favour</a:t>
            </a:r>
            <a:endParaRPr lang="en-US" sz="1950" dirty="0"/>
          </a:p>
        </p:txBody>
      </p:sp>
      <p:sp>
        <p:nvSpPr>
          <p:cNvPr id="52" name="Shape 50"/>
          <p:cNvSpPr/>
          <p:nvPr/>
        </p:nvSpPr>
        <p:spPr>
          <a:xfrm>
            <a:off x="9572625" y="5326261"/>
            <a:ext cx="7572375" cy="9525"/>
          </a:xfrm>
          <a:prstGeom prst="rect">
            <a:avLst/>
          </a:prstGeom>
          <a:solidFill>
            <a:srgbClr val="E6E4DE"/>
          </a:solidFill>
        </p:spPr>
      </p:sp>
      <p:sp>
        <p:nvSpPr>
          <p:cNvPr id="53" name="Text 51"/>
          <p:cNvSpPr/>
          <p:nvPr/>
        </p:nvSpPr>
        <p:spPr>
          <a:xfrm>
            <a:off x="9572625" y="489763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240591314</a:t>
            </a:r>
            <a:endParaRPr lang="en-US" sz="1950" dirty="0"/>
          </a:p>
        </p:txBody>
      </p:sp>
      <p:sp>
        <p:nvSpPr>
          <p:cNvPr id="54" name="Text 52"/>
          <p:cNvSpPr/>
          <p:nvPr/>
        </p:nvSpPr>
        <p:spPr>
          <a:xfrm>
            <a:off x="11229975" y="4897636"/>
            <a:ext cx="2259538"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Frank Cheta Noble</a:t>
            </a:r>
            <a:endParaRPr lang="en-US" sz="1950" dirty="0"/>
          </a:p>
        </p:txBody>
      </p:sp>
      <p:sp>
        <p:nvSpPr>
          <p:cNvPr id="55" name="Shape 53"/>
          <p:cNvSpPr/>
          <p:nvPr/>
        </p:nvSpPr>
        <p:spPr>
          <a:xfrm>
            <a:off x="9572625" y="5869186"/>
            <a:ext cx="7572375" cy="9525"/>
          </a:xfrm>
          <a:prstGeom prst="rect">
            <a:avLst/>
          </a:prstGeom>
          <a:solidFill>
            <a:srgbClr val="E6E4DE"/>
          </a:solidFill>
        </p:spPr>
      </p:sp>
      <p:sp>
        <p:nvSpPr>
          <p:cNvPr id="56" name="Text 54"/>
          <p:cNvSpPr/>
          <p:nvPr/>
        </p:nvSpPr>
        <p:spPr>
          <a:xfrm>
            <a:off x="9572625" y="544056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240591315</a:t>
            </a:r>
            <a:endParaRPr lang="en-US" sz="1950" dirty="0"/>
          </a:p>
        </p:txBody>
      </p:sp>
      <p:sp>
        <p:nvSpPr>
          <p:cNvPr id="57" name="Text 55"/>
          <p:cNvSpPr/>
          <p:nvPr/>
        </p:nvSpPr>
        <p:spPr>
          <a:xfrm>
            <a:off x="11229975" y="5440561"/>
            <a:ext cx="2751162"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Ganikale Abibat Eniola</a:t>
            </a:r>
            <a:endParaRPr lang="en-US" sz="1950" dirty="0"/>
          </a:p>
        </p:txBody>
      </p:sp>
      <p:sp>
        <p:nvSpPr>
          <p:cNvPr id="58" name="Shape 56"/>
          <p:cNvSpPr/>
          <p:nvPr/>
        </p:nvSpPr>
        <p:spPr>
          <a:xfrm>
            <a:off x="9572625" y="6412111"/>
            <a:ext cx="7572375" cy="9525"/>
          </a:xfrm>
          <a:prstGeom prst="rect">
            <a:avLst/>
          </a:prstGeom>
          <a:solidFill>
            <a:srgbClr val="E6E4DE"/>
          </a:solidFill>
        </p:spPr>
      </p:sp>
      <p:sp>
        <p:nvSpPr>
          <p:cNvPr id="59" name="Text 57"/>
          <p:cNvSpPr/>
          <p:nvPr/>
        </p:nvSpPr>
        <p:spPr>
          <a:xfrm>
            <a:off x="9572625" y="598348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240591316</a:t>
            </a:r>
            <a:endParaRPr lang="en-US" sz="1950" dirty="0"/>
          </a:p>
        </p:txBody>
      </p:sp>
      <p:sp>
        <p:nvSpPr>
          <p:cNvPr id="60" name="Text 58"/>
          <p:cNvSpPr/>
          <p:nvPr/>
        </p:nvSpPr>
        <p:spPr>
          <a:xfrm>
            <a:off x="11229975" y="5983486"/>
            <a:ext cx="2976429"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Samuel Olamide Hassan</a:t>
            </a:r>
            <a:endParaRPr lang="en-US" sz="1950" dirty="0"/>
          </a:p>
        </p:txBody>
      </p:sp>
      <p:sp>
        <p:nvSpPr>
          <p:cNvPr id="61" name="Shape 59"/>
          <p:cNvSpPr/>
          <p:nvPr/>
        </p:nvSpPr>
        <p:spPr>
          <a:xfrm>
            <a:off x="9572625" y="6955036"/>
            <a:ext cx="7572375" cy="9525"/>
          </a:xfrm>
          <a:prstGeom prst="rect">
            <a:avLst/>
          </a:prstGeom>
          <a:solidFill>
            <a:srgbClr val="E6E4DE"/>
          </a:solidFill>
        </p:spPr>
      </p:sp>
      <p:sp>
        <p:nvSpPr>
          <p:cNvPr id="62" name="Text 60"/>
          <p:cNvSpPr/>
          <p:nvPr/>
        </p:nvSpPr>
        <p:spPr>
          <a:xfrm>
            <a:off x="9572625" y="6526411"/>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240591317</a:t>
            </a:r>
            <a:endParaRPr lang="en-US" sz="1950" dirty="0"/>
          </a:p>
        </p:txBody>
      </p:sp>
      <p:sp>
        <p:nvSpPr>
          <p:cNvPr id="63" name="Text 61"/>
          <p:cNvSpPr/>
          <p:nvPr/>
        </p:nvSpPr>
        <p:spPr>
          <a:xfrm>
            <a:off x="11229975" y="6526411"/>
            <a:ext cx="1935391"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Idowu Fisayomi</a:t>
            </a:r>
            <a:endParaRPr lang="en-US" sz="1950" dirty="0"/>
          </a:p>
        </p:txBody>
      </p:sp>
      <p:sp>
        <p:nvSpPr>
          <p:cNvPr id="64" name="Shape 62"/>
          <p:cNvSpPr/>
          <p:nvPr/>
        </p:nvSpPr>
        <p:spPr>
          <a:xfrm>
            <a:off x="9572625" y="7497961"/>
            <a:ext cx="7572375" cy="9525"/>
          </a:xfrm>
          <a:prstGeom prst="rect">
            <a:avLst/>
          </a:prstGeom>
          <a:solidFill>
            <a:srgbClr val="E6E4DE"/>
          </a:solidFill>
        </p:spPr>
      </p:sp>
      <p:sp>
        <p:nvSpPr>
          <p:cNvPr id="65" name="Text 63"/>
          <p:cNvSpPr/>
          <p:nvPr/>
        </p:nvSpPr>
        <p:spPr>
          <a:xfrm>
            <a:off x="9572625" y="7069336"/>
            <a:ext cx="1571625" cy="361950"/>
          </a:xfrm>
          <a:prstGeom prst="rect">
            <a:avLst/>
          </a:prstGeom>
          <a:noFill/>
        </p:spPr>
        <p:txBody>
          <a:bodyPr wrap="square" lIns="25400" tIns="25400" rIns="25400" bIns="25400" rtlCol="0" anchor="t">
            <a:normAutofit/>
          </a:bodyPr>
          <a:lstStyle/>
          <a:p>
            <a:pPr marL="0" indent="0" algn="l">
              <a:buNone/>
            </a:pPr>
            <a:r>
              <a:rPr lang="en-US" sz="19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240591319</a:t>
            </a:r>
            <a:endParaRPr lang="en-US" sz="1950" dirty="0"/>
          </a:p>
        </p:txBody>
      </p:sp>
      <p:sp>
        <p:nvSpPr>
          <p:cNvPr id="66" name="Text 64"/>
          <p:cNvSpPr/>
          <p:nvPr/>
        </p:nvSpPr>
        <p:spPr>
          <a:xfrm>
            <a:off x="11229975" y="7069336"/>
            <a:ext cx="2872472" cy="361950"/>
          </a:xfrm>
          <a:prstGeom prst="rect">
            <a:avLst/>
          </a:prstGeom>
          <a:noFill/>
        </p:spPr>
        <p:txBody>
          <a:bodyPr wrap="square" lIns="25400" tIns="25400" rIns="25400" bIns="25400" rtlCol="0" anchor="t">
            <a:normAutofit/>
          </a:bodyPr>
          <a:lstStyle/>
          <a:p>
            <a:pPr marL="0" indent="0" algn="l">
              <a:buNone/>
            </a:pP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Kuti </a:t>
            </a:r>
            <a:r>
              <a:rPr lang="en-US" sz="1950" dirty="0" err="1">
                <a:solidFill>
                  <a:srgbClr val="17181A"/>
                </a:solidFill>
                <a:latin typeface="Arial" panose="020B0604020202020204" pitchFamily="34" charset="0"/>
                <a:ea typeface="Arial" panose="020B0604020202020204" pitchFamily="34" charset="-122"/>
                <a:cs typeface="Arial" panose="020B0604020202020204" pitchFamily="34" charset="-120"/>
              </a:rPr>
              <a:t>Hamzat</a:t>
            </a:r>
            <a:r>
              <a:rPr lang="en-US" sz="1950" dirty="0">
                <a:solidFill>
                  <a:srgbClr val="17181A"/>
                </a:solidFill>
                <a:latin typeface="Arial" panose="020B0604020202020204" pitchFamily="34" charset="0"/>
                <a:ea typeface="Arial" panose="020B0604020202020204" pitchFamily="34" charset="-122"/>
                <a:cs typeface="Arial" panose="020B0604020202020204" pitchFamily="34" charset="-120"/>
              </a:rPr>
              <a:t> </a:t>
            </a:r>
            <a:r>
              <a:rPr lang="en-US" sz="1950" dirty="0" err="1">
                <a:solidFill>
                  <a:srgbClr val="17181A"/>
                </a:solidFill>
                <a:latin typeface="Arial" panose="020B0604020202020204" pitchFamily="34" charset="0"/>
                <a:ea typeface="Arial" panose="020B0604020202020204" pitchFamily="34" charset="-122"/>
                <a:cs typeface="Arial" panose="020B0604020202020204" pitchFamily="34" charset="-120"/>
              </a:rPr>
              <a:t>Boluwatife</a:t>
            </a:r>
            <a:endParaRPr lang="en-US" sz="1950" dirty="0"/>
          </a:p>
        </p:txBody>
      </p:sp>
      <p:sp>
        <p:nvSpPr>
          <p:cNvPr id="67" name="Text 65"/>
          <p:cNvSpPr/>
          <p:nvPr/>
        </p:nvSpPr>
        <p:spPr>
          <a:xfrm>
            <a:off x="11229975" y="8248365"/>
            <a:ext cx="2208297" cy="304800"/>
          </a:xfrm>
          <a:prstGeom prst="rect">
            <a:avLst/>
          </a:prstGeom>
          <a:noFill/>
        </p:spPr>
        <p:txBody>
          <a:bodyPr wrap="square" lIns="25400" tIns="25400" rIns="25400" bIns="25400" rtlCol="0" anchor="t">
            <a:normAutofit lnSpcReduction="10000"/>
          </a:bodyPr>
          <a:lstStyle/>
          <a:p>
            <a:pPr marL="0" indent="0" algn="l">
              <a:buNone/>
            </a:pPr>
            <a:r>
              <a:rPr lang="en-US" sz="1800" i="1" dirty="0">
                <a:solidFill>
                  <a:srgbClr val="8A8D94"/>
                </a:solidFill>
                <a:latin typeface="Arial" panose="020B0604020202020204" pitchFamily="34" charset="0"/>
                <a:ea typeface="Arial" panose="020B0604020202020204" pitchFamily="34" charset="-122"/>
                <a:cs typeface="Arial" panose="020B0604020202020204" pitchFamily="34" charset="-120"/>
              </a:rPr>
              <a:t>20 members in total</a:t>
            </a:r>
            <a:endParaRPr lang="en-US" sz="1800" dirty="0"/>
          </a:p>
        </p:txBody>
      </p:sp>
      <p:sp>
        <p:nvSpPr>
          <p:cNvPr id="69" name="Shape 62"/>
          <p:cNvSpPr/>
          <p:nvPr/>
        </p:nvSpPr>
        <p:spPr>
          <a:xfrm>
            <a:off x="9572625" y="7947422"/>
            <a:ext cx="7572375" cy="9525"/>
          </a:xfrm>
          <a:prstGeom prst="rect">
            <a:avLst/>
          </a:prstGeom>
          <a:solidFill>
            <a:srgbClr val="E6E4DE"/>
          </a:solidFill>
        </p:spPr>
      </p:sp>
      <p:sp>
        <p:nvSpPr>
          <p:cNvPr id="70" name="TextBox 69"/>
          <p:cNvSpPr txBox="1"/>
          <p:nvPr/>
        </p:nvSpPr>
        <p:spPr>
          <a:xfrm>
            <a:off x="9572623" y="7616324"/>
            <a:ext cx="1657352" cy="392415"/>
          </a:xfrm>
          <a:prstGeom prst="rect">
            <a:avLst/>
          </a:prstGeom>
          <a:noFill/>
        </p:spPr>
        <p:txBody>
          <a:bodyPr wrap="square" rtlCol="0">
            <a:spAutoFit/>
          </a:bodyPr>
          <a:lstStyle/>
          <a:p>
            <a:r>
              <a:rPr lang="en-US" sz="1950" dirty="0">
                <a:latin typeface="Courier New" panose="02070309020205020404" pitchFamily="34" charset="0"/>
                <a:cs typeface="Courier New" panose="02070309020205020404" pitchFamily="34" charset="0"/>
              </a:rPr>
              <a:t>240591320</a:t>
            </a:r>
            <a:endParaRPr lang="en-US" sz="1950" dirty="0">
              <a:latin typeface="Courier New" panose="02070309020205020404" pitchFamily="34" charset="0"/>
              <a:cs typeface="Courier New" panose="02070309020205020404" pitchFamily="34" charset="0"/>
            </a:endParaRPr>
          </a:p>
        </p:txBody>
      </p:sp>
      <p:sp>
        <p:nvSpPr>
          <p:cNvPr id="71" name="TextBox 70"/>
          <p:cNvSpPr txBox="1"/>
          <p:nvPr/>
        </p:nvSpPr>
        <p:spPr>
          <a:xfrm>
            <a:off x="11192968" y="7575299"/>
            <a:ext cx="5844092" cy="392415"/>
          </a:xfrm>
          <a:prstGeom prst="rect">
            <a:avLst/>
          </a:prstGeom>
          <a:noFill/>
        </p:spPr>
        <p:txBody>
          <a:bodyPr wrap="square" rtlCol="0">
            <a:spAutoFit/>
          </a:bodyPr>
          <a:lstStyle/>
          <a:p>
            <a:r>
              <a:rPr lang="en-US" sz="1950" dirty="0">
                <a:latin typeface="Arial" panose="020B0604020202020204" pitchFamily="34" charset="0"/>
                <a:cs typeface="Arial" panose="020B0604020202020204" pitchFamily="34" charset="0"/>
              </a:rPr>
              <a:t>Mbah Joshua </a:t>
            </a:r>
            <a:r>
              <a:rPr lang="en-US" sz="1950" dirty="0" err="1">
                <a:latin typeface="Arial" panose="020B0604020202020204" pitchFamily="34" charset="0"/>
                <a:cs typeface="Arial" panose="020B0604020202020204" pitchFamily="34" charset="0"/>
              </a:rPr>
              <a:t>Oluwademilade</a:t>
            </a:r>
            <a:endParaRPr lang="en-US" sz="195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01 · INTRODUCTION</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The problem it solves</a:t>
            </a:r>
            <a:endParaRPr lang="en-US" sz="4800" dirty="0"/>
          </a:p>
        </p:txBody>
      </p:sp>
      <p:sp>
        <p:nvSpPr>
          <p:cNvPr id="4" name="Text 2"/>
          <p:cNvSpPr/>
          <p:nvPr/>
        </p:nvSpPr>
        <p:spPr>
          <a:xfrm>
            <a:off x="1143000" y="2449711"/>
            <a:ext cx="8396162" cy="1981200"/>
          </a:xfrm>
          <a:prstGeom prst="rect">
            <a:avLst/>
          </a:prstGeom>
          <a:noFill/>
        </p:spPr>
        <p:txBody>
          <a:bodyPr wrap="square" lIns="25400" tIns="25400" rIns="25400" bIns="25400" rtlCol="0" anchor="t">
            <a:normAutofit fontScale="92500"/>
          </a:bodyPr>
          <a:lstStyle/>
          <a:p>
            <a:pPr marL="0" indent="0" algn="l">
              <a:lnSpc>
                <a:spcPct val="150000"/>
              </a:lnSpc>
              <a:buNone/>
            </a:pPr>
            <a:r>
              <a:rPr lang="en-US" sz="2550" dirty="0">
                <a:solidFill>
                  <a:srgbClr val="17181A"/>
                </a:solidFill>
                <a:latin typeface="Arial" panose="020B0604020202020204" pitchFamily="34" charset="0"/>
                <a:ea typeface="Arial" panose="020B0604020202020204" pitchFamily="34" charset="-122"/>
                <a:cs typeface="Arial" panose="020B0604020202020204" pitchFamily="34" charset="-120"/>
              </a:rPr>
              <a:t>Managing tax for a group of people by hand is slow and easy to get wrong. Rates differ by taxpayer type, payments are hard to track, and deadlines slip by unnoticed.</a:t>
            </a:r>
            <a:endParaRPr lang="en-US" sz="2550" dirty="0"/>
          </a:p>
        </p:txBody>
      </p:sp>
      <p:sp>
        <p:nvSpPr>
          <p:cNvPr id="5" name="Text 3"/>
          <p:cNvSpPr/>
          <p:nvPr/>
        </p:nvSpPr>
        <p:spPr>
          <a:xfrm>
            <a:off x="1143000" y="4697611"/>
            <a:ext cx="8396162" cy="1990725"/>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2550" dirty="0">
                <a:solidFill>
                  <a:srgbClr val="3A3D44"/>
                </a:solidFill>
                <a:latin typeface="Arial" panose="020B0604020202020204" pitchFamily="34" charset="0"/>
                <a:ea typeface="Arial" panose="020B0604020202020204" pitchFamily="34" charset="-122"/>
                <a:cs typeface="Arial" panose="020B0604020202020204" pitchFamily="34" charset="-120"/>
              </a:rPr>
              <a:t>The </a:t>
            </a:r>
            <a:r>
              <a:rPr lang="en-US" sz="2550" b="1" dirty="0">
                <a:solidFill>
                  <a:srgbClr val="17181A"/>
                </a:solidFill>
                <a:latin typeface="Arial" panose="020B0604020202020204" pitchFamily="34" charset="0"/>
                <a:ea typeface="Arial" panose="020B0604020202020204" pitchFamily="34" charset="-122"/>
                <a:cs typeface="Arial" panose="020B0604020202020204" pitchFamily="34" charset="-120"/>
              </a:rPr>
              <a:t>Group Tax Scheduler </a:t>
            </a:r>
            <a:r>
              <a:rPr lang="en-US" sz="2550" dirty="0">
                <a:solidFill>
                  <a:srgbClr val="3A3D44"/>
                </a:solidFill>
                <a:latin typeface="Arial" panose="020B0604020202020204" pitchFamily="34" charset="0"/>
                <a:ea typeface="Arial" panose="020B0604020202020204" pitchFamily="34" charset="-122"/>
                <a:cs typeface="Arial" panose="020B0604020202020204" pitchFamily="34" charset="-120"/>
              </a:rPr>
              <a:t>replaces that manual work with one menu-driven program that calculates every tax automatically, records who has paid, and flags who is overdue against today's date.</a:t>
            </a:r>
            <a:endParaRPr lang="en-US" sz="2550" dirty="0"/>
          </a:p>
        </p:txBody>
      </p:sp>
      <p:sp>
        <p:nvSpPr>
          <p:cNvPr id="6" name="Shape 4"/>
          <p:cNvSpPr/>
          <p:nvPr/>
        </p:nvSpPr>
        <p:spPr>
          <a:xfrm>
            <a:off x="10056614" y="2449711"/>
            <a:ext cx="7088237" cy="9525"/>
          </a:xfrm>
          <a:prstGeom prst="rect">
            <a:avLst/>
          </a:prstGeom>
          <a:solidFill>
            <a:srgbClr val="17181A"/>
          </a:solidFill>
        </p:spPr>
      </p:sp>
      <p:sp>
        <p:nvSpPr>
          <p:cNvPr id="7" name="Shape 5"/>
          <p:cNvSpPr/>
          <p:nvPr/>
        </p:nvSpPr>
        <p:spPr>
          <a:xfrm>
            <a:off x="10056614" y="3276451"/>
            <a:ext cx="7088237" cy="9525"/>
          </a:xfrm>
          <a:prstGeom prst="rect">
            <a:avLst/>
          </a:prstGeom>
          <a:solidFill>
            <a:srgbClr val="E6E4DE"/>
          </a:solidFill>
        </p:spPr>
      </p:sp>
      <p:sp>
        <p:nvSpPr>
          <p:cNvPr id="8" name="Text 6"/>
          <p:cNvSpPr/>
          <p:nvPr/>
        </p:nvSpPr>
        <p:spPr>
          <a:xfrm>
            <a:off x="10056614" y="2687836"/>
            <a:ext cx="373559" cy="323850"/>
          </a:xfrm>
          <a:prstGeom prst="rect">
            <a:avLst/>
          </a:prstGeom>
          <a:noFill/>
        </p:spPr>
        <p:txBody>
          <a:bodyPr wrap="square" lIns="25400" tIns="25400" rIns="25400" bIns="25400" rtlCol="0" anchor="t">
            <a:normAutofit fontScale="92500" lnSpcReduction="10000"/>
          </a:bodyPr>
          <a:lstStyle/>
          <a:p>
            <a:pPr marL="0" indent="0" algn="l">
              <a:buNone/>
            </a:pPr>
            <a:r>
              <a:rPr lang="en-US" sz="195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01</a:t>
            </a:r>
            <a:endParaRPr lang="en-US" sz="1950" dirty="0"/>
          </a:p>
        </p:txBody>
      </p:sp>
      <p:sp>
        <p:nvSpPr>
          <p:cNvPr id="9" name="Text 7"/>
          <p:cNvSpPr/>
          <p:nvPr/>
        </p:nvSpPr>
        <p:spPr>
          <a:xfrm>
            <a:off x="10563523" y="2687836"/>
            <a:ext cx="6760771" cy="398115"/>
          </a:xfrm>
          <a:prstGeom prst="rect">
            <a:avLst/>
          </a:prstGeom>
          <a:noFill/>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Different rates per taxpayer type, calculated for you</a:t>
            </a:r>
            <a:endParaRPr lang="en-US" sz="2100" dirty="0"/>
          </a:p>
        </p:txBody>
      </p:sp>
      <p:sp>
        <p:nvSpPr>
          <p:cNvPr id="10" name="Shape 8"/>
          <p:cNvSpPr/>
          <p:nvPr/>
        </p:nvSpPr>
        <p:spPr>
          <a:xfrm>
            <a:off x="10056614" y="4103191"/>
            <a:ext cx="7088237" cy="9525"/>
          </a:xfrm>
          <a:prstGeom prst="rect">
            <a:avLst/>
          </a:prstGeom>
          <a:solidFill>
            <a:srgbClr val="E6E4DE"/>
          </a:solidFill>
        </p:spPr>
      </p:sp>
      <p:sp>
        <p:nvSpPr>
          <p:cNvPr id="11" name="Text 9"/>
          <p:cNvSpPr/>
          <p:nvPr/>
        </p:nvSpPr>
        <p:spPr>
          <a:xfrm>
            <a:off x="10056614" y="3514576"/>
            <a:ext cx="373559" cy="323850"/>
          </a:xfrm>
          <a:prstGeom prst="rect">
            <a:avLst/>
          </a:prstGeom>
          <a:noFill/>
        </p:spPr>
        <p:txBody>
          <a:bodyPr wrap="square" lIns="25400" tIns="25400" rIns="25400" bIns="25400" rtlCol="0" anchor="t">
            <a:normAutofit fontScale="92500" lnSpcReduction="10000"/>
          </a:bodyPr>
          <a:lstStyle/>
          <a:p>
            <a:pPr marL="0" indent="0" algn="l">
              <a:buNone/>
            </a:pPr>
            <a:r>
              <a:rPr lang="en-US" sz="195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02</a:t>
            </a:r>
            <a:endParaRPr lang="en-US" sz="1950" dirty="0"/>
          </a:p>
        </p:txBody>
      </p:sp>
      <p:sp>
        <p:nvSpPr>
          <p:cNvPr id="12" name="Text 10"/>
          <p:cNvSpPr/>
          <p:nvPr/>
        </p:nvSpPr>
        <p:spPr>
          <a:xfrm>
            <a:off x="10563523" y="3514576"/>
            <a:ext cx="7056433" cy="398115"/>
          </a:xfrm>
          <a:prstGeom prst="rect">
            <a:avLst/>
          </a:prstGeom>
          <a:noFill/>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Payment status tracked as PAID, unpaid, or OVERDUE</a:t>
            </a:r>
            <a:endParaRPr lang="en-US" sz="2100" dirty="0"/>
          </a:p>
        </p:txBody>
      </p:sp>
      <p:sp>
        <p:nvSpPr>
          <p:cNvPr id="13" name="Text 11"/>
          <p:cNvSpPr/>
          <p:nvPr/>
        </p:nvSpPr>
        <p:spPr>
          <a:xfrm>
            <a:off x="10056614" y="4341316"/>
            <a:ext cx="373559" cy="323850"/>
          </a:xfrm>
          <a:prstGeom prst="rect">
            <a:avLst/>
          </a:prstGeom>
          <a:noFill/>
        </p:spPr>
        <p:txBody>
          <a:bodyPr wrap="square" lIns="25400" tIns="25400" rIns="25400" bIns="25400" rtlCol="0" anchor="t">
            <a:normAutofit fontScale="92500" lnSpcReduction="10000"/>
          </a:bodyPr>
          <a:lstStyle/>
          <a:p>
            <a:pPr marL="0" indent="0" algn="l">
              <a:buNone/>
            </a:pPr>
            <a:r>
              <a:rPr lang="en-US" sz="195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03</a:t>
            </a:r>
            <a:endParaRPr lang="en-US" sz="1950" dirty="0"/>
          </a:p>
        </p:txBody>
      </p:sp>
      <p:sp>
        <p:nvSpPr>
          <p:cNvPr id="14" name="Text 12"/>
          <p:cNvSpPr/>
          <p:nvPr/>
        </p:nvSpPr>
        <p:spPr>
          <a:xfrm>
            <a:off x="10563523" y="4341316"/>
            <a:ext cx="6959352" cy="398115"/>
          </a:xfrm>
          <a:prstGeom prst="rect">
            <a:avLst/>
          </a:prstGeom>
          <a:noFill/>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All records saved to a file and reloaded between runs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02 · OBJECTIVES</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What we set out to do</a:t>
            </a:r>
            <a:endParaRPr lang="en-US" sz="4800" dirty="0"/>
          </a:p>
        </p:txBody>
      </p:sp>
      <p:sp>
        <p:nvSpPr>
          <p:cNvPr id="4" name="Shape 2"/>
          <p:cNvSpPr/>
          <p:nvPr/>
        </p:nvSpPr>
        <p:spPr>
          <a:xfrm>
            <a:off x="1143000" y="2449711"/>
            <a:ext cx="5079950" cy="7075289"/>
          </a:xfrm>
          <a:prstGeom prst="roundRect">
            <a:avLst>
              <a:gd name="adj" fmla="val 1125"/>
            </a:avLst>
          </a:prstGeom>
          <a:ln w="9525">
            <a:solidFill>
              <a:srgbClr val="17181A"/>
            </a:solidFill>
            <a:prstDash val="solid"/>
          </a:ln>
        </p:spPr>
      </p:sp>
      <p:sp>
        <p:nvSpPr>
          <p:cNvPr id="5" name="Text 3"/>
          <p:cNvSpPr/>
          <p:nvPr/>
        </p:nvSpPr>
        <p:spPr>
          <a:xfrm>
            <a:off x="1533525" y="2878336"/>
            <a:ext cx="4728790" cy="609600"/>
          </a:xfrm>
          <a:prstGeom prst="rect">
            <a:avLst/>
          </a:prstGeom>
          <a:noFill/>
        </p:spPr>
        <p:txBody>
          <a:bodyPr wrap="square" lIns="25400" tIns="25400" rIns="25400" bIns="25400" rtlCol="0" anchor="t">
            <a:normAutofit fontScale="92500" lnSpcReduction="20000"/>
          </a:bodyPr>
          <a:lstStyle/>
          <a:p>
            <a:pPr marL="0" indent="0" algn="l">
              <a:lnSpc>
                <a:spcPct val="100000"/>
              </a:lnSpc>
              <a:buNone/>
            </a:pPr>
            <a:r>
              <a:rPr lang="en-US" sz="4500" dirty="0">
                <a:solidFill>
                  <a:srgbClr val="17181A"/>
                </a:solidFill>
                <a:latin typeface="Georgia" panose="02040502050405020303" pitchFamily="34" charset="0"/>
                <a:ea typeface="Georgia" panose="02040502050405020303" pitchFamily="34" charset="-122"/>
                <a:cs typeface="Georgia" panose="02040502050405020303" pitchFamily="34" charset="-120"/>
              </a:rPr>
              <a:t>01</a:t>
            </a:r>
            <a:endParaRPr lang="en-US" sz="4500" dirty="0"/>
          </a:p>
        </p:txBody>
      </p:sp>
      <p:sp>
        <p:nvSpPr>
          <p:cNvPr id="6" name="Text 4"/>
          <p:cNvSpPr/>
          <p:nvPr/>
        </p:nvSpPr>
        <p:spPr>
          <a:xfrm>
            <a:off x="1533525" y="3659386"/>
            <a:ext cx="4728790" cy="403771"/>
          </a:xfrm>
          <a:prstGeom prst="rect">
            <a:avLst/>
          </a:prstGeom>
          <a:noFill/>
        </p:spPr>
        <p:txBody>
          <a:bodyPr wrap="square" lIns="25400" tIns="25400" rIns="25400" bIns="25400" rtlCol="0" anchor="t">
            <a:normAutofit fontScale="92500" lnSpcReduction="10000"/>
          </a:bodyPr>
          <a:lstStyle/>
          <a:p>
            <a:pPr marL="0" indent="0" algn="l">
              <a:lnSpc>
                <a:spcPct val="120000"/>
              </a:lnSpc>
              <a:buNone/>
            </a:pPr>
            <a:r>
              <a:rPr lang="en-US" sz="2400" b="1" dirty="0">
                <a:solidFill>
                  <a:srgbClr val="17181A"/>
                </a:solidFill>
                <a:latin typeface="Arial" panose="020B0604020202020204" pitchFamily="34" charset="0"/>
                <a:ea typeface="Arial" panose="020B0604020202020204" pitchFamily="34" charset="-122"/>
                <a:cs typeface="Arial" panose="020B0604020202020204" pitchFamily="34" charset="-120"/>
              </a:rPr>
              <a:t>Apply core OOP principles</a:t>
            </a:r>
            <a:endParaRPr lang="en-US" sz="2400" dirty="0"/>
          </a:p>
        </p:txBody>
      </p:sp>
      <p:sp>
        <p:nvSpPr>
          <p:cNvPr id="7" name="Text 5"/>
          <p:cNvSpPr/>
          <p:nvPr/>
        </p:nvSpPr>
        <p:spPr>
          <a:xfrm>
            <a:off x="1533525" y="4234607"/>
            <a:ext cx="4427867" cy="1156543"/>
          </a:xfrm>
          <a:prstGeom prst="rect">
            <a:avLst/>
          </a:prstGeom>
          <a:noFill/>
        </p:spPr>
        <p:txBody>
          <a:bodyPr wrap="square" lIns="25400" tIns="25400" rIns="25400" bIns="25400" rtlCol="0" anchor="t">
            <a:normAutofit fontScale="92500" lnSpcReduction="20000"/>
          </a:bodyPr>
          <a:lstStyle/>
          <a:p>
            <a:pPr marL="0" indent="0" algn="l">
              <a:lnSpc>
                <a:spcPct val="145000"/>
              </a:lnSpc>
              <a:buNone/>
            </a:pPr>
            <a:r>
              <a:rPr lang="en-US" sz="2025" dirty="0">
                <a:solidFill>
                  <a:srgbClr val="3A3D44"/>
                </a:solidFill>
                <a:latin typeface="Arial" panose="020B0604020202020204" pitchFamily="34" charset="0"/>
                <a:ea typeface="Arial" panose="020B0604020202020204" pitchFamily="34" charset="-122"/>
                <a:cs typeface="Arial" panose="020B0604020202020204" pitchFamily="34" charset="-120"/>
              </a:rPr>
              <a:t>Put encapsulation, inheritance, and polymorphism to work in a real, useful program.</a:t>
            </a:r>
            <a:endParaRPr lang="en-US" sz="2025" dirty="0"/>
          </a:p>
        </p:txBody>
      </p:sp>
      <p:sp>
        <p:nvSpPr>
          <p:cNvPr id="8" name="Shape 6"/>
          <p:cNvSpPr/>
          <p:nvPr/>
        </p:nvSpPr>
        <p:spPr>
          <a:xfrm>
            <a:off x="6603950" y="2449711"/>
            <a:ext cx="5079950" cy="7075289"/>
          </a:xfrm>
          <a:prstGeom prst="roundRect">
            <a:avLst>
              <a:gd name="adj" fmla="val 1125"/>
            </a:avLst>
          </a:prstGeom>
          <a:ln w="9525">
            <a:solidFill>
              <a:srgbClr val="17181A"/>
            </a:solidFill>
            <a:prstDash val="solid"/>
          </a:ln>
        </p:spPr>
      </p:sp>
      <p:sp>
        <p:nvSpPr>
          <p:cNvPr id="9" name="Text 7"/>
          <p:cNvSpPr/>
          <p:nvPr/>
        </p:nvSpPr>
        <p:spPr>
          <a:xfrm>
            <a:off x="6994475" y="2878336"/>
            <a:ext cx="4728790" cy="609600"/>
          </a:xfrm>
          <a:prstGeom prst="rect">
            <a:avLst/>
          </a:prstGeom>
          <a:noFill/>
        </p:spPr>
        <p:txBody>
          <a:bodyPr wrap="square" lIns="25400" tIns="25400" rIns="25400" bIns="25400" rtlCol="0" anchor="t">
            <a:normAutofit fontScale="92500" lnSpcReduction="20000"/>
          </a:bodyPr>
          <a:lstStyle/>
          <a:p>
            <a:pPr marL="0" indent="0" algn="l">
              <a:lnSpc>
                <a:spcPct val="100000"/>
              </a:lnSpc>
              <a:buNone/>
            </a:pPr>
            <a:r>
              <a:rPr lang="en-US" sz="4500" dirty="0">
                <a:solidFill>
                  <a:srgbClr val="17181A"/>
                </a:solidFill>
                <a:latin typeface="Georgia" panose="02040502050405020303" pitchFamily="34" charset="0"/>
                <a:ea typeface="Georgia" panose="02040502050405020303" pitchFamily="34" charset="-122"/>
                <a:cs typeface="Georgia" panose="02040502050405020303" pitchFamily="34" charset="-120"/>
              </a:rPr>
              <a:t>02</a:t>
            </a:r>
            <a:endParaRPr lang="en-US" sz="4500" dirty="0"/>
          </a:p>
        </p:txBody>
      </p:sp>
      <p:sp>
        <p:nvSpPr>
          <p:cNvPr id="10" name="Text 8"/>
          <p:cNvSpPr/>
          <p:nvPr/>
        </p:nvSpPr>
        <p:spPr>
          <a:xfrm>
            <a:off x="6994475" y="3659386"/>
            <a:ext cx="4728790" cy="403771"/>
          </a:xfrm>
          <a:prstGeom prst="rect">
            <a:avLst/>
          </a:prstGeom>
          <a:noFill/>
        </p:spPr>
        <p:txBody>
          <a:bodyPr wrap="square" lIns="25400" tIns="25400" rIns="25400" bIns="25400" rtlCol="0" anchor="t">
            <a:normAutofit fontScale="92500" lnSpcReduction="10000"/>
          </a:bodyPr>
          <a:lstStyle/>
          <a:p>
            <a:pPr marL="0" indent="0" algn="l">
              <a:lnSpc>
                <a:spcPct val="120000"/>
              </a:lnSpc>
              <a:buNone/>
            </a:pPr>
            <a:r>
              <a:rPr lang="en-US" sz="2400" b="1" dirty="0">
                <a:solidFill>
                  <a:srgbClr val="17181A"/>
                </a:solidFill>
                <a:latin typeface="Arial" panose="020B0604020202020204" pitchFamily="34" charset="0"/>
                <a:ea typeface="Arial" panose="020B0604020202020204" pitchFamily="34" charset="-122"/>
                <a:cs typeface="Arial" panose="020B0604020202020204" pitchFamily="34" charset="-120"/>
              </a:rPr>
              <a:t>Automate the tracking</a:t>
            </a:r>
            <a:endParaRPr lang="en-US" sz="2400" dirty="0"/>
          </a:p>
        </p:txBody>
      </p:sp>
      <p:sp>
        <p:nvSpPr>
          <p:cNvPr id="11" name="Text 9"/>
          <p:cNvSpPr/>
          <p:nvPr/>
        </p:nvSpPr>
        <p:spPr>
          <a:xfrm>
            <a:off x="6994475" y="4234607"/>
            <a:ext cx="4427867" cy="1156543"/>
          </a:xfrm>
          <a:prstGeom prst="rect">
            <a:avLst/>
          </a:prstGeom>
          <a:noFill/>
        </p:spPr>
        <p:txBody>
          <a:bodyPr wrap="square" lIns="25400" tIns="25400" rIns="25400" bIns="25400" rtlCol="0" anchor="t">
            <a:normAutofit fontScale="92500"/>
          </a:bodyPr>
          <a:lstStyle/>
          <a:p>
            <a:pPr marL="0" indent="0" algn="l">
              <a:lnSpc>
                <a:spcPct val="145000"/>
              </a:lnSpc>
              <a:buNone/>
            </a:pPr>
            <a:r>
              <a:rPr lang="en-US" sz="2025" dirty="0">
                <a:solidFill>
                  <a:srgbClr val="3A3D44"/>
                </a:solidFill>
                <a:latin typeface="Arial" panose="020B0604020202020204" pitchFamily="34" charset="0"/>
                <a:ea typeface="Arial" panose="020B0604020202020204" pitchFamily="34" charset="-122"/>
                <a:cs typeface="Arial" panose="020B0604020202020204" pitchFamily="34" charset="-120"/>
              </a:rPr>
              <a:t>Calculate tax and follow payments for an entire group without manual arithmetic.</a:t>
            </a:r>
            <a:endParaRPr lang="en-US" sz="2025" dirty="0"/>
          </a:p>
        </p:txBody>
      </p:sp>
      <p:sp>
        <p:nvSpPr>
          <p:cNvPr id="12" name="Shape 10"/>
          <p:cNvSpPr/>
          <p:nvPr/>
        </p:nvSpPr>
        <p:spPr>
          <a:xfrm>
            <a:off x="12064901" y="2449711"/>
            <a:ext cx="5079950" cy="7075289"/>
          </a:xfrm>
          <a:prstGeom prst="roundRect">
            <a:avLst>
              <a:gd name="adj" fmla="val 1125"/>
            </a:avLst>
          </a:prstGeom>
          <a:ln w="9525">
            <a:solidFill>
              <a:srgbClr val="17181A"/>
            </a:solidFill>
            <a:prstDash val="solid"/>
          </a:ln>
        </p:spPr>
      </p:sp>
      <p:sp>
        <p:nvSpPr>
          <p:cNvPr id="13" name="Text 11"/>
          <p:cNvSpPr/>
          <p:nvPr/>
        </p:nvSpPr>
        <p:spPr>
          <a:xfrm>
            <a:off x="12455426" y="2878336"/>
            <a:ext cx="4728790" cy="609600"/>
          </a:xfrm>
          <a:prstGeom prst="rect">
            <a:avLst/>
          </a:prstGeom>
          <a:noFill/>
        </p:spPr>
        <p:txBody>
          <a:bodyPr wrap="square" lIns="25400" tIns="25400" rIns="25400" bIns="25400" rtlCol="0" anchor="t">
            <a:normAutofit fontScale="92500" lnSpcReduction="20000"/>
          </a:bodyPr>
          <a:lstStyle/>
          <a:p>
            <a:pPr marL="0" indent="0" algn="l">
              <a:lnSpc>
                <a:spcPct val="100000"/>
              </a:lnSpc>
              <a:buNone/>
            </a:pPr>
            <a:r>
              <a:rPr lang="en-US" sz="4500" dirty="0">
                <a:solidFill>
                  <a:srgbClr val="17181A"/>
                </a:solidFill>
                <a:latin typeface="Georgia" panose="02040502050405020303" pitchFamily="34" charset="0"/>
                <a:ea typeface="Georgia" panose="02040502050405020303" pitchFamily="34" charset="-122"/>
                <a:cs typeface="Georgia" panose="02040502050405020303" pitchFamily="34" charset="-120"/>
              </a:rPr>
              <a:t>03</a:t>
            </a:r>
            <a:endParaRPr lang="en-US" sz="4500" dirty="0"/>
          </a:p>
        </p:txBody>
      </p:sp>
      <p:sp>
        <p:nvSpPr>
          <p:cNvPr id="14" name="Text 12"/>
          <p:cNvSpPr/>
          <p:nvPr/>
        </p:nvSpPr>
        <p:spPr>
          <a:xfrm>
            <a:off x="12455426" y="3659386"/>
            <a:ext cx="4728790" cy="403771"/>
          </a:xfrm>
          <a:prstGeom prst="rect">
            <a:avLst/>
          </a:prstGeom>
          <a:noFill/>
        </p:spPr>
        <p:txBody>
          <a:bodyPr wrap="square" lIns="25400" tIns="25400" rIns="25400" bIns="25400" rtlCol="0" anchor="t">
            <a:normAutofit fontScale="92500" lnSpcReduction="10000"/>
          </a:bodyPr>
          <a:lstStyle/>
          <a:p>
            <a:pPr marL="0" indent="0" algn="l">
              <a:lnSpc>
                <a:spcPct val="120000"/>
              </a:lnSpc>
              <a:buNone/>
            </a:pPr>
            <a:r>
              <a:rPr lang="en-US" sz="2400" b="1" dirty="0">
                <a:solidFill>
                  <a:srgbClr val="17181A"/>
                </a:solidFill>
                <a:latin typeface="Arial" panose="020B0604020202020204" pitchFamily="34" charset="0"/>
                <a:ea typeface="Arial" panose="020B0604020202020204" pitchFamily="34" charset="-122"/>
                <a:cs typeface="Arial" panose="020B0604020202020204" pitchFamily="34" charset="-120"/>
              </a:rPr>
              <a:t>Practise clean design</a:t>
            </a:r>
            <a:endParaRPr lang="en-US" sz="2400" dirty="0"/>
          </a:p>
        </p:txBody>
      </p:sp>
      <p:sp>
        <p:nvSpPr>
          <p:cNvPr id="15" name="Text 13"/>
          <p:cNvSpPr/>
          <p:nvPr/>
        </p:nvSpPr>
        <p:spPr>
          <a:xfrm>
            <a:off x="12455426" y="4234607"/>
            <a:ext cx="4427867" cy="1156543"/>
          </a:xfrm>
          <a:prstGeom prst="rect">
            <a:avLst/>
          </a:prstGeom>
          <a:noFill/>
        </p:spPr>
        <p:txBody>
          <a:bodyPr wrap="square" lIns="25400" tIns="25400" rIns="25400" bIns="25400" rtlCol="0" anchor="t">
            <a:normAutofit fontScale="92500"/>
          </a:bodyPr>
          <a:lstStyle/>
          <a:p>
            <a:pPr marL="0" indent="0" algn="l">
              <a:lnSpc>
                <a:spcPct val="145000"/>
              </a:lnSpc>
              <a:buNone/>
            </a:pPr>
            <a:r>
              <a:rPr lang="en-US" sz="2025" dirty="0">
                <a:solidFill>
                  <a:srgbClr val="3A3D44"/>
                </a:solidFill>
                <a:latin typeface="Arial" panose="020B0604020202020204" pitchFamily="34" charset="0"/>
                <a:ea typeface="Arial" panose="020B0604020202020204" pitchFamily="34" charset="-122"/>
                <a:cs typeface="Arial" panose="020B0604020202020204" pitchFamily="34" charset="-120"/>
              </a:rPr>
              <a:t>Validate input, handle errors gracefully, and store data reliably in a file.</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03 · TOOLS &amp; TECHNOLOGIES</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How it was built</a:t>
            </a:r>
            <a:endParaRPr lang="en-US" sz="4800" dirty="0"/>
          </a:p>
        </p:txBody>
      </p:sp>
      <p:sp>
        <p:nvSpPr>
          <p:cNvPr id="4" name="Shape 2"/>
          <p:cNvSpPr/>
          <p:nvPr/>
        </p:nvSpPr>
        <p:spPr>
          <a:xfrm>
            <a:off x="1143000" y="3345061"/>
            <a:ext cx="7667625" cy="9525"/>
          </a:xfrm>
          <a:prstGeom prst="rect">
            <a:avLst/>
          </a:prstGeom>
          <a:solidFill>
            <a:srgbClr val="D8D8D4"/>
          </a:solidFill>
        </p:spPr>
      </p:sp>
      <p:sp>
        <p:nvSpPr>
          <p:cNvPr id="5" name="Text 3"/>
          <p:cNvSpPr/>
          <p:nvPr/>
        </p:nvSpPr>
        <p:spPr>
          <a:xfrm>
            <a:off x="1143000" y="2735461"/>
            <a:ext cx="1676400" cy="323850"/>
          </a:xfrm>
          <a:prstGeom prst="rect">
            <a:avLst/>
          </a:prstGeom>
          <a:noFill/>
        </p:spPr>
        <p:txBody>
          <a:bodyPr wrap="square" lIns="25400" tIns="25400" rIns="25400" bIns="25400" rtlCol="0" anchor="t">
            <a:normAutofit/>
          </a:bodyPr>
          <a:lstStyle/>
          <a:p>
            <a:pPr marL="0" indent="0" algn="l">
              <a:buNone/>
            </a:pPr>
            <a:r>
              <a:rPr lang="en-US" sz="1725"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LANGUAGE</a:t>
            </a:r>
            <a:endParaRPr lang="en-US" sz="1725" dirty="0"/>
          </a:p>
        </p:txBody>
      </p:sp>
      <p:sp>
        <p:nvSpPr>
          <p:cNvPr id="6" name="Text 4"/>
          <p:cNvSpPr/>
          <p:nvPr/>
        </p:nvSpPr>
        <p:spPr>
          <a:xfrm>
            <a:off x="2914650" y="2678311"/>
            <a:ext cx="4090481" cy="438150"/>
          </a:xfrm>
          <a:prstGeom prst="rect">
            <a:avLst/>
          </a:prstGeom>
          <a:noFill/>
        </p:spPr>
        <p:txBody>
          <a:bodyPr wrap="square" lIns="25400" tIns="25400" rIns="25400" bIns="25400" rtlCol="0" anchor="t">
            <a:normAutofit/>
          </a:bodyPr>
          <a:lstStyle/>
          <a:p>
            <a:pPr marL="0" indent="0" algn="l">
              <a:buNone/>
            </a:pPr>
            <a:r>
              <a:rPr lang="en-US" sz="2400" dirty="0">
                <a:solidFill>
                  <a:srgbClr val="17181A"/>
                </a:solidFill>
                <a:latin typeface="Arial" panose="020B0604020202020204" pitchFamily="34" charset="0"/>
                <a:ea typeface="Arial" panose="020B0604020202020204" pitchFamily="34" charset="-122"/>
                <a:cs typeface="Arial" panose="020B0604020202020204" pitchFamily="34" charset="-120"/>
              </a:rPr>
              <a:t>C++ </a:t>
            </a:r>
            <a:r>
              <a:rPr lang="en-US" sz="2400" dirty="0">
                <a:solidFill>
                  <a:srgbClr val="3A3D44"/>
                </a:solidFill>
                <a:latin typeface="Arial" panose="020B0604020202020204" pitchFamily="34" charset="0"/>
                <a:ea typeface="Arial" panose="020B0604020202020204" pitchFamily="34" charset="-122"/>
                <a:cs typeface="Arial" panose="020B0604020202020204" pitchFamily="34" charset="-120"/>
              </a:rPr>
              <a:t>(standard library only)</a:t>
            </a:r>
            <a:endParaRPr lang="en-US" sz="2400" dirty="0"/>
          </a:p>
        </p:txBody>
      </p:sp>
      <p:sp>
        <p:nvSpPr>
          <p:cNvPr id="7" name="Shape 5"/>
          <p:cNvSpPr/>
          <p:nvPr/>
        </p:nvSpPr>
        <p:spPr>
          <a:xfrm>
            <a:off x="9477375" y="3345061"/>
            <a:ext cx="7667625" cy="9525"/>
          </a:xfrm>
          <a:prstGeom prst="rect">
            <a:avLst/>
          </a:prstGeom>
          <a:solidFill>
            <a:srgbClr val="D8D8D4"/>
          </a:solidFill>
        </p:spPr>
      </p:sp>
      <p:sp>
        <p:nvSpPr>
          <p:cNvPr id="8" name="Text 6"/>
          <p:cNvSpPr/>
          <p:nvPr/>
        </p:nvSpPr>
        <p:spPr>
          <a:xfrm>
            <a:off x="9477375" y="2735461"/>
            <a:ext cx="1676400" cy="323850"/>
          </a:xfrm>
          <a:prstGeom prst="rect">
            <a:avLst/>
          </a:prstGeom>
          <a:noFill/>
        </p:spPr>
        <p:txBody>
          <a:bodyPr wrap="square" lIns="25400" tIns="25400" rIns="25400" bIns="25400" rtlCol="0" anchor="t">
            <a:normAutofit/>
          </a:bodyPr>
          <a:lstStyle/>
          <a:p>
            <a:pPr marL="0" indent="0" algn="l">
              <a:buNone/>
            </a:pPr>
            <a:r>
              <a:rPr lang="en-US" sz="1725"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COMPILER</a:t>
            </a:r>
            <a:endParaRPr lang="en-US" sz="1725" dirty="0"/>
          </a:p>
        </p:txBody>
      </p:sp>
      <p:sp>
        <p:nvSpPr>
          <p:cNvPr id="9" name="Text 7"/>
          <p:cNvSpPr/>
          <p:nvPr/>
        </p:nvSpPr>
        <p:spPr>
          <a:xfrm>
            <a:off x="11249025" y="2678311"/>
            <a:ext cx="2498393" cy="438150"/>
          </a:xfrm>
          <a:prstGeom prst="rect">
            <a:avLst/>
          </a:prstGeom>
          <a:noFill/>
        </p:spPr>
        <p:txBody>
          <a:bodyPr wrap="square" lIns="25400" tIns="25400" rIns="25400" bIns="25400" rtlCol="0" anchor="t">
            <a:normAutofit/>
          </a:bodyPr>
          <a:lstStyle/>
          <a:p>
            <a:pPr marL="0" indent="0" algn="l">
              <a:buNone/>
            </a:pPr>
            <a:r>
              <a:rPr lang="en-US" sz="2400" dirty="0">
                <a:solidFill>
                  <a:srgbClr val="17181A"/>
                </a:solidFill>
                <a:latin typeface="Arial" panose="020B0604020202020204" pitchFamily="34" charset="0"/>
                <a:ea typeface="Arial" panose="020B0604020202020204" pitchFamily="34" charset="-122"/>
                <a:cs typeface="Arial" panose="020B0604020202020204" pitchFamily="34" charset="-120"/>
              </a:rPr>
              <a:t>g++ 16 </a:t>
            </a:r>
            <a:r>
              <a:rPr lang="en-US" sz="2400" dirty="0">
                <a:solidFill>
                  <a:srgbClr val="3A3D44"/>
                </a:solidFill>
                <a:latin typeface="Arial" panose="020B0604020202020204" pitchFamily="34" charset="0"/>
                <a:ea typeface="Arial" panose="020B0604020202020204" pitchFamily="34" charset="-122"/>
                <a:cs typeface="Arial" panose="020B0604020202020204" pitchFamily="34" charset="-120"/>
              </a:rPr>
              <a:t>(MSYS2)</a:t>
            </a:r>
            <a:endParaRPr lang="en-US" sz="2400" dirty="0"/>
          </a:p>
        </p:txBody>
      </p:sp>
      <p:sp>
        <p:nvSpPr>
          <p:cNvPr id="10" name="Shape 8"/>
          <p:cNvSpPr/>
          <p:nvPr/>
        </p:nvSpPr>
        <p:spPr>
          <a:xfrm>
            <a:off x="1143000" y="4288036"/>
            <a:ext cx="7667625" cy="9525"/>
          </a:xfrm>
          <a:prstGeom prst="rect">
            <a:avLst/>
          </a:prstGeom>
          <a:solidFill>
            <a:srgbClr val="D8D8D4"/>
          </a:solidFill>
        </p:spPr>
      </p:sp>
      <p:sp>
        <p:nvSpPr>
          <p:cNvPr id="11" name="Text 9"/>
          <p:cNvSpPr/>
          <p:nvPr/>
        </p:nvSpPr>
        <p:spPr>
          <a:xfrm>
            <a:off x="1143000" y="3678436"/>
            <a:ext cx="1676400" cy="323850"/>
          </a:xfrm>
          <a:prstGeom prst="rect">
            <a:avLst/>
          </a:prstGeom>
          <a:noFill/>
        </p:spPr>
        <p:txBody>
          <a:bodyPr wrap="square" lIns="25400" tIns="25400" rIns="25400" bIns="25400" rtlCol="0" anchor="t">
            <a:normAutofit/>
          </a:bodyPr>
          <a:lstStyle/>
          <a:p>
            <a:pPr marL="0" indent="0" algn="l">
              <a:buNone/>
            </a:pPr>
            <a:r>
              <a:rPr lang="en-US" sz="1725"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EDITOR</a:t>
            </a:r>
            <a:endParaRPr lang="en-US" sz="1725" dirty="0"/>
          </a:p>
        </p:txBody>
      </p:sp>
      <p:sp>
        <p:nvSpPr>
          <p:cNvPr id="12" name="Text 10"/>
          <p:cNvSpPr/>
          <p:nvPr/>
        </p:nvSpPr>
        <p:spPr>
          <a:xfrm>
            <a:off x="2914650" y="3621286"/>
            <a:ext cx="2875419" cy="438150"/>
          </a:xfrm>
          <a:prstGeom prst="rect">
            <a:avLst/>
          </a:prstGeom>
          <a:noFill/>
        </p:spPr>
        <p:txBody>
          <a:bodyPr wrap="square" lIns="25400" tIns="25400" rIns="25400" bIns="25400" rtlCol="0" anchor="t">
            <a:normAutofit/>
          </a:bodyPr>
          <a:lstStyle/>
          <a:p>
            <a:pPr marL="0" indent="0" algn="l">
              <a:buNone/>
            </a:pPr>
            <a:r>
              <a:rPr lang="en-US" sz="2400" dirty="0">
                <a:solidFill>
                  <a:srgbClr val="17181A"/>
                </a:solidFill>
                <a:latin typeface="Arial" panose="020B0604020202020204" pitchFamily="34" charset="0"/>
                <a:ea typeface="Arial" panose="020B0604020202020204" pitchFamily="34" charset="-122"/>
                <a:cs typeface="Arial" panose="020B0604020202020204" pitchFamily="34" charset="-120"/>
              </a:rPr>
              <a:t>Visual Studio Code</a:t>
            </a:r>
            <a:endParaRPr lang="en-US" sz="2400" dirty="0"/>
          </a:p>
        </p:txBody>
      </p:sp>
      <p:sp>
        <p:nvSpPr>
          <p:cNvPr id="13" name="Shape 11"/>
          <p:cNvSpPr/>
          <p:nvPr/>
        </p:nvSpPr>
        <p:spPr>
          <a:xfrm>
            <a:off x="9477375" y="4288036"/>
            <a:ext cx="7667625" cy="9525"/>
          </a:xfrm>
          <a:prstGeom prst="rect">
            <a:avLst/>
          </a:prstGeom>
          <a:solidFill>
            <a:srgbClr val="D8D8D4"/>
          </a:solidFill>
        </p:spPr>
      </p:sp>
      <p:sp>
        <p:nvSpPr>
          <p:cNvPr id="14" name="Text 12"/>
          <p:cNvSpPr/>
          <p:nvPr/>
        </p:nvSpPr>
        <p:spPr>
          <a:xfrm>
            <a:off x="9477375" y="3678436"/>
            <a:ext cx="1676400" cy="323850"/>
          </a:xfrm>
          <a:prstGeom prst="rect">
            <a:avLst/>
          </a:prstGeom>
          <a:noFill/>
        </p:spPr>
        <p:txBody>
          <a:bodyPr wrap="square" lIns="25400" tIns="25400" rIns="25400" bIns="25400" rtlCol="0" anchor="t">
            <a:normAutofit/>
          </a:bodyPr>
          <a:lstStyle/>
          <a:p>
            <a:pPr marL="0" indent="0" algn="l">
              <a:buNone/>
            </a:pPr>
            <a:r>
              <a:rPr lang="en-US" sz="1725"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PLATFORM</a:t>
            </a:r>
            <a:endParaRPr lang="en-US" sz="1725" dirty="0"/>
          </a:p>
        </p:txBody>
      </p:sp>
      <p:sp>
        <p:nvSpPr>
          <p:cNvPr id="15" name="Text 13"/>
          <p:cNvSpPr/>
          <p:nvPr/>
        </p:nvSpPr>
        <p:spPr>
          <a:xfrm>
            <a:off x="11249025" y="3621286"/>
            <a:ext cx="1892335" cy="438150"/>
          </a:xfrm>
          <a:prstGeom prst="rect">
            <a:avLst/>
          </a:prstGeom>
          <a:noFill/>
        </p:spPr>
        <p:txBody>
          <a:bodyPr wrap="square" lIns="25400" tIns="25400" rIns="25400" bIns="25400" rtlCol="0" anchor="t">
            <a:normAutofit/>
          </a:bodyPr>
          <a:lstStyle/>
          <a:p>
            <a:pPr marL="0" indent="0" algn="l">
              <a:buNone/>
            </a:pPr>
            <a:r>
              <a:rPr lang="en-US" sz="2400" dirty="0">
                <a:solidFill>
                  <a:srgbClr val="17181A"/>
                </a:solidFill>
                <a:latin typeface="Arial" panose="020B0604020202020204" pitchFamily="34" charset="0"/>
                <a:ea typeface="Arial" panose="020B0604020202020204" pitchFamily="34" charset="-122"/>
                <a:cs typeface="Arial" panose="020B0604020202020204" pitchFamily="34" charset="-120"/>
              </a:rPr>
              <a:t>Windows 11</a:t>
            </a:r>
            <a:endParaRPr lang="en-US" sz="2400" dirty="0"/>
          </a:p>
        </p:txBody>
      </p:sp>
      <p:sp>
        <p:nvSpPr>
          <p:cNvPr id="16" name="Shape 14"/>
          <p:cNvSpPr/>
          <p:nvPr/>
        </p:nvSpPr>
        <p:spPr>
          <a:xfrm>
            <a:off x="1143000" y="8210550"/>
            <a:ext cx="16002000" cy="1314450"/>
          </a:xfrm>
          <a:prstGeom prst="roundRect">
            <a:avLst>
              <a:gd name="adj" fmla="val 4348"/>
            </a:avLst>
          </a:prstGeom>
          <a:ln w="9525">
            <a:solidFill>
              <a:srgbClr val="17181A"/>
            </a:solidFill>
            <a:prstDash val="solid"/>
          </a:ln>
        </p:spPr>
      </p:sp>
      <p:sp>
        <p:nvSpPr>
          <p:cNvPr id="17" name="Text 15"/>
          <p:cNvSpPr/>
          <p:nvPr/>
        </p:nvSpPr>
        <p:spPr>
          <a:xfrm>
            <a:off x="1476375" y="8486775"/>
            <a:ext cx="16868775" cy="314325"/>
          </a:xfrm>
          <a:prstGeom prst="rect">
            <a:avLst/>
          </a:prstGeom>
          <a:noFill/>
        </p:spPr>
        <p:txBody>
          <a:bodyPr wrap="square" lIns="25400" tIns="25400" rIns="25400" bIns="25400" rtlCol="0" anchor="t">
            <a:normAutofit/>
          </a:bodyPr>
          <a:lstStyle/>
          <a:p>
            <a:pPr marL="0" indent="0" algn="l">
              <a:buNone/>
            </a:pPr>
            <a:r>
              <a:rPr lang="en-US" sz="165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BUILD COMMAND</a:t>
            </a:r>
            <a:endParaRPr lang="en-US" sz="1650" dirty="0"/>
          </a:p>
        </p:txBody>
      </p:sp>
      <p:sp>
        <p:nvSpPr>
          <p:cNvPr id="18" name="Text 16"/>
          <p:cNvSpPr/>
          <p:nvPr/>
        </p:nvSpPr>
        <p:spPr>
          <a:xfrm>
            <a:off x="1476375" y="8896350"/>
            <a:ext cx="16868775" cy="390525"/>
          </a:xfrm>
          <a:prstGeom prst="rect">
            <a:avLst/>
          </a:prstGeom>
          <a:noFill/>
        </p:spPr>
        <p:txBody>
          <a:bodyPr wrap="square" lIns="25400" tIns="25400" rIns="25400" bIns="25400" rtlCol="0" anchor="t">
            <a:normAutofit/>
          </a:bodyPr>
          <a:lstStyle/>
          <a:p>
            <a:pPr marL="0" indent="0" algn="l">
              <a:buNone/>
            </a:pPr>
            <a:r>
              <a:rPr lang="en-US" sz="21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g++ </a:t>
            </a:r>
            <a:r>
              <a:rPr lang="en-US" sz="21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tax_scheduler.cpp </a:t>
            </a:r>
            <a:r>
              <a:rPr lang="en-US" sz="21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-o </a:t>
            </a:r>
            <a:r>
              <a:rPr lang="en-US" sz="21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tax_scheduler.exe </a:t>
            </a:r>
            <a:r>
              <a:rPr lang="en-US" sz="21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-static</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04 · KEY FEATURES</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One menu, nine options</a:t>
            </a:r>
            <a:endParaRPr lang="en-US" sz="4800" dirty="0"/>
          </a:p>
        </p:txBody>
      </p:sp>
      <p:sp>
        <p:nvSpPr>
          <p:cNvPr id="4" name="Shape 2"/>
          <p:cNvSpPr/>
          <p:nvPr/>
        </p:nvSpPr>
        <p:spPr>
          <a:xfrm>
            <a:off x="1143000" y="2392561"/>
            <a:ext cx="6557963" cy="5114330"/>
          </a:xfrm>
          <a:prstGeom prst="roundRect">
            <a:avLst>
              <a:gd name="adj" fmla="val 1490"/>
            </a:avLst>
          </a:prstGeom>
          <a:ln w="9525">
            <a:solidFill>
              <a:srgbClr val="17181A"/>
            </a:solidFill>
            <a:prstDash val="solid"/>
          </a:ln>
        </p:spPr>
      </p:sp>
      <p:sp>
        <p:nvSpPr>
          <p:cNvPr id="5" name="Shape 3"/>
          <p:cNvSpPr/>
          <p:nvPr/>
        </p:nvSpPr>
        <p:spPr>
          <a:xfrm>
            <a:off x="1152525" y="2935486"/>
            <a:ext cx="6538913" cy="9525"/>
          </a:xfrm>
          <a:prstGeom prst="rect">
            <a:avLst/>
          </a:prstGeom>
          <a:solidFill>
            <a:srgbClr val="D8D8D4"/>
          </a:solidFill>
        </p:spPr>
      </p:sp>
      <p:sp>
        <p:nvSpPr>
          <p:cNvPr id="6" name="Text 4"/>
          <p:cNvSpPr/>
          <p:nvPr/>
        </p:nvSpPr>
        <p:spPr>
          <a:xfrm>
            <a:off x="1381125" y="2535436"/>
            <a:ext cx="6277880" cy="304800"/>
          </a:xfrm>
          <a:prstGeom prst="rect">
            <a:avLst/>
          </a:prstGeom>
          <a:noFill/>
        </p:spPr>
        <p:txBody>
          <a:bodyPr wrap="square" lIns="25400" tIns="25400" rIns="25400" bIns="25400" rtlCol="0" anchor="t">
            <a:normAutofit/>
          </a:bodyPr>
          <a:lstStyle/>
          <a:p>
            <a:pPr marL="0" indent="0" algn="l">
              <a:buNone/>
            </a:pPr>
            <a:r>
              <a:rPr lang="en-US" sz="1575"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tax_scheduler.exe</a:t>
            </a:r>
            <a:endParaRPr lang="en-US" sz="1575" dirty="0"/>
          </a:p>
        </p:txBody>
      </p:sp>
      <p:sp>
        <p:nvSpPr>
          <p:cNvPr id="7" name="Text 5"/>
          <p:cNvSpPr/>
          <p:nvPr/>
        </p:nvSpPr>
        <p:spPr>
          <a:xfrm>
            <a:off x="1476375" y="3230761"/>
            <a:ext cx="6087380" cy="4018955"/>
          </a:xfrm>
          <a:prstGeom prst="rect">
            <a:avLst/>
          </a:prstGeom>
          <a:noFill/>
        </p:spPr>
        <p:txBody>
          <a:bodyPr wrap="square" lIns="25400" tIns="25400" rIns="25400" bIns="25400" rtlCol="0" anchor="t">
            <a:normAutofit/>
          </a:bodyPr>
          <a:lstStyle/>
          <a:p>
            <a:pPr marL="0" indent="0" algn="l">
              <a:lnSpc>
                <a:spcPct val="172000"/>
              </a:lnSpc>
              <a:buNone/>
            </a:pPr>
            <a:r>
              <a:rPr lang="en-US" sz="20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 Add taxpayer 2. View tax schedule 3. View totals 4. Mark as paid 5. Delete taxpayer 6. Change due date 7. Save to file 8. Load from file 9. Exit</a:t>
            </a:r>
            <a:endParaRPr lang="en-US" sz="2025" dirty="0"/>
          </a:p>
        </p:txBody>
      </p:sp>
      <p:sp>
        <p:nvSpPr>
          <p:cNvPr id="8" name="Text 6"/>
          <p:cNvSpPr/>
          <p:nvPr/>
        </p:nvSpPr>
        <p:spPr>
          <a:xfrm>
            <a:off x="8272463" y="2392561"/>
            <a:ext cx="165050" cy="420886"/>
          </a:xfrm>
          <a:prstGeom prst="rect">
            <a:avLst/>
          </a:prstGeom>
          <a:noFill/>
        </p:spPr>
        <p:txBody>
          <a:bodyPr wrap="square" lIns="25400" tIns="25400" rIns="25400" bIns="25400" rtlCol="0" anchor="t">
            <a:normAutofit/>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9" name="Text 7"/>
          <p:cNvSpPr/>
          <p:nvPr/>
        </p:nvSpPr>
        <p:spPr>
          <a:xfrm>
            <a:off x="8532763" y="2392561"/>
            <a:ext cx="7769066" cy="420886"/>
          </a:xfrm>
          <a:prstGeom prst="rect">
            <a:avLst/>
          </a:prstGeom>
          <a:noFill/>
        </p:spPr>
        <p:txBody>
          <a:bodyPr wrap="square" lIns="25400" tIns="25400" rIns="25400" bIns="25400" rtlCol="0" anchor="t">
            <a:normAutofit fontScale="92500"/>
          </a:bodyPr>
          <a:lstStyle/>
          <a:p>
            <a:pPr marL="0" indent="0" algn="l">
              <a:lnSpc>
                <a:spcPct val="140000"/>
              </a:lnSpc>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Auto-calculated tax </a:t>
            </a: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 pick a type, the rate is applied for you</a:t>
            </a:r>
            <a:endParaRPr lang="en-US" sz="2100" dirty="0"/>
          </a:p>
        </p:txBody>
      </p:sp>
      <p:sp>
        <p:nvSpPr>
          <p:cNvPr id="10" name="Text 8"/>
          <p:cNvSpPr/>
          <p:nvPr/>
        </p:nvSpPr>
        <p:spPr>
          <a:xfrm>
            <a:off x="8272463" y="2984897"/>
            <a:ext cx="165050" cy="420886"/>
          </a:xfrm>
          <a:prstGeom prst="rect">
            <a:avLst/>
          </a:prstGeom>
          <a:noFill/>
        </p:spPr>
        <p:txBody>
          <a:bodyPr wrap="square" lIns="25400" tIns="25400" rIns="25400" bIns="25400" rtlCol="0" anchor="t">
            <a:normAutofit/>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11" name="Text 9"/>
          <p:cNvSpPr/>
          <p:nvPr/>
        </p:nvSpPr>
        <p:spPr>
          <a:xfrm>
            <a:off x="8532763" y="2984897"/>
            <a:ext cx="8247266" cy="420886"/>
          </a:xfrm>
          <a:prstGeom prst="rect">
            <a:avLst/>
          </a:prstGeom>
          <a:noFill/>
        </p:spPr>
        <p:txBody>
          <a:bodyPr wrap="square" lIns="25400" tIns="25400" rIns="25400" bIns="25400" rtlCol="0" anchor="t">
            <a:normAutofit fontScale="92500"/>
          </a:bodyPr>
          <a:lstStyle/>
          <a:p>
            <a:pPr marL="0" indent="0" algn="l">
              <a:lnSpc>
                <a:spcPct val="140000"/>
              </a:lnSpc>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Schedule table </a:t>
            </a: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 name, category, income, tax, due date, status</a:t>
            </a:r>
            <a:endParaRPr lang="en-US" sz="2100" dirty="0"/>
          </a:p>
        </p:txBody>
      </p:sp>
      <p:sp>
        <p:nvSpPr>
          <p:cNvPr id="12" name="Text 10"/>
          <p:cNvSpPr/>
          <p:nvPr/>
        </p:nvSpPr>
        <p:spPr>
          <a:xfrm>
            <a:off x="8272463" y="3577233"/>
            <a:ext cx="165050" cy="420886"/>
          </a:xfrm>
          <a:prstGeom prst="rect">
            <a:avLst/>
          </a:prstGeom>
          <a:noFill/>
        </p:spPr>
        <p:txBody>
          <a:bodyPr wrap="square" lIns="25400" tIns="25400" rIns="25400" bIns="25400" rtlCol="0" anchor="t">
            <a:normAutofit/>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13" name="Text 11"/>
          <p:cNvSpPr/>
          <p:nvPr/>
        </p:nvSpPr>
        <p:spPr>
          <a:xfrm>
            <a:off x="8532763" y="3577233"/>
            <a:ext cx="8872642" cy="420886"/>
          </a:xfrm>
          <a:prstGeom prst="rect">
            <a:avLst/>
          </a:prstGeom>
          <a:noFill/>
        </p:spPr>
        <p:txBody>
          <a:bodyPr wrap="square" lIns="25400" tIns="25400" rIns="25400" bIns="25400" rtlCol="0" anchor="t">
            <a:normAutofit fontScale="92500"/>
          </a:bodyPr>
          <a:lstStyle/>
          <a:p>
            <a:pPr marL="0" indent="0" algn="l">
              <a:lnSpc>
                <a:spcPct val="140000"/>
              </a:lnSpc>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Overdue detection </a:t>
            </a: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 compares the due date to the real system date</a:t>
            </a:r>
            <a:endParaRPr lang="en-US" sz="2100" dirty="0"/>
          </a:p>
        </p:txBody>
      </p:sp>
      <p:sp>
        <p:nvSpPr>
          <p:cNvPr id="14" name="Text 12"/>
          <p:cNvSpPr/>
          <p:nvPr/>
        </p:nvSpPr>
        <p:spPr>
          <a:xfrm>
            <a:off x="8272463" y="4169569"/>
            <a:ext cx="165050" cy="420886"/>
          </a:xfrm>
          <a:prstGeom prst="rect">
            <a:avLst/>
          </a:prstGeom>
          <a:noFill/>
        </p:spPr>
        <p:txBody>
          <a:bodyPr wrap="square" lIns="25400" tIns="25400" rIns="25400" bIns="25400" rtlCol="0" anchor="t">
            <a:normAutofit/>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15" name="Text 13"/>
          <p:cNvSpPr/>
          <p:nvPr/>
        </p:nvSpPr>
        <p:spPr>
          <a:xfrm>
            <a:off x="8532763" y="4169569"/>
            <a:ext cx="8630022" cy="420886"/>
          </a:xfrm>
          <a:prstGeom prst="rect">
            <a:avLst/>
          </a:prstGeom>
          <a:noFill/>
        </p:spPr>
        <p:txBody>
          <a:bodyPr wrap="square" lIns="25400" tIns="25400" rIns="25400" bIns="25400" rtlCol="0" anchor="t">
            <a:normAutofit fontScale="92500"/>
          </a:bodyPr>
          <a:lstStyle/>
          <a:p>
            <a:pPr marL="0" indent="0" algn="l">
              <a:lnSpc>
                <a:spcPct val="140000"/>
              </a:lnSpc>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Totals by category </a:t>
            </a: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 total, paid, outstanding, and an overdue alert</a:t>
            </a:r>
            <a:endParaRPr lang="en-US" sz="2100" dirty="0"/>
          </a:p>
        </p:txBody>
      </p:sp>
      <p:sp>
        <p:nvSpPr>
          <p:cNvPr id="16" name="Text 14"/>
          <p:cNvSpPr/>
          <p:nvPr/>
        </p:nvSpPr>
        <p:spPr>
          <a:xfrm>
            <a:off x="8272463" y="4761905"/>
            <a:ext cx="165050" cy="420886"/>
          </a:xfrm>
          <a:prstGeom prst="rect">
            <a:avLst/>
          </a:prstGeom>
          <a:noFill/>
        </p:spPr>
        <p:txBody>
          <a:bodyPr wrap="square" lIns="25400" tIns="25400" rIns="25400" bIns="25400" rtlCol="0" anchor="t">
            <a:normAutofit/>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17" name="Text 15"/>
          <p:cNvSpPr/>
          <p:nvPr/>
        </p:nvSpPr>
        <p:spPr>
          <a:xfrm>
            <a:off x="8532763" y="4761905"/>
            <a:ext cx="8204374" cy="420886"/>
          </a:xfrm>
          <a:prstGeom prst="rect">
            <a:avLst/>
          </a:prstGeom>
          <a:noFill/>
        </p:spPr>
        <p:txBody>
          <a:bodyPr wrap="square" lIns="25400" tIns="25400" rIns="25400" bIns="25400" rtlCol="0" anchor="t">
            <a:normAutofit fontScale="92500"/>
          </a:bodyPr>
          <a:lstStyle/>
          <a:p>
            <a:pPr marL="0" indent="0" algn="l">
              <a:lnSpc>
                <a:spcPct val="140000"/>
              </a:lnSpc>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Save &amp; load </a:t>
            </a:r>
            <a:r>
              <a:rPr lang="en-US" sz="2100" dirty="0">
                <a:solidFill>
                  <a:srgbClr val="17181A"/>
                </a:solidFill>
                <a:latin typeface="Arial" panose="020B0604020202020204" pitchFamily="34" charset="0"/>
                <a:ea typeface="Arial" panose="020B0604020202020204" pitchFamily="34" charset="-122"/>
                <a:cs typeface="Arial" panose="020B0604020202020204" pitchFamily="34" charset="-120"/>
              </a:rPr>
              <a:t>— all records and the due date persist to a text file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05 · HOW IT WORKS</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A sample run</a:t>
            </a:r>
            <a:endParaRPr lang="en-US" sz="4800" dirty="0"/>
          </a:p>
        </p:txBody>
      </p:sp>
      <p:sp>
        <p:nvSpPr>
          <p:cNvPr id="4" name="Shape 2"/>
          <p:cNvSpPr/>
          <p:nvPr/>
        </p:nvSpPr>
        <p:spPr>
          <a:xfrm>
            <a:off x="1143000" y="2373511"/>
            <a:ext cx="9491960" cy="7151489"/>
          </a:xfrm>
          <a:prstGeom prst="roundRect">
            <a:avLst>
              <a:gd name="adj" fmla="val 1066"/>
            </a:avLst>
          </a:prstGeom>
          <a:ln w="9525">
            <a:solidFill>
              <a:srgbClr val="17181A"/>
            </a:solidFill>
            <a:prstDash val="solid"/>
          </a:ln>
        </p:spPr>
      </p:sp>
      <p:sp>
        <p:nvSpPr>
          <p:cNvPr id="5" name="Shape 3"/>
          <p:cNvSpPr/>
          <p:nvPr/>
        </p:nvSpPr>
        <p:spPr>
          <a:xfrm>
            <a:off x="1152525" y="2916436"/>
            <a:ext cx="9472910" cy="9525"/>
          </a:xfrm>
          <a:prstGeom prst="rect">
            <a:avLst/>
          </a:prstGeom>
          <a:solidFill>
            <a:srgbClr val="D8D8D4"/>
          </a:solidFill>
        </p:spPr>
      </p:sp>
      <p:sp>
        <p:nvSpPr>
          <p:cNvPr id="6" name="Text 4"/>
          <p:cNvSpPr/>
          <p:nvPr/>
        </p:nvSpPr>
        <p:spPr>
          <a:xfrm>
            <a:off x="1400175" y="2516386"/>
            <a:ext cx="9261797" cy="304800"/>
          </a:xfrm>
          <a:prstGeom prst="rect">
            <a:avLst/>
          </a:prstGeom>
          <a:noFill/>
        </p:spPr>
        <p:txBody>
          <a:bodyPr wrap="square" lIns="25400" tIns="25400" rIns="25400" bIns="25400" rtlCol="0" anchor="t">
            <a:normAutofit/>
          </a:bodyPr>
          <a:lstStyle/>
          <a:p>
            <a:pPr marL="0" indent="0" algn="l">
              <a:buNone/>
            </a:pPr>
            <a:r>
              <a:rPr lang="en-US" sz="1575"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Command Prompt — tax_scheduler.exe</a:t>
            </a:r>
            <a:endParaRPr lang="en-US" sz="1575" dirty="0"/>
          </a:p>
        </p:txBody>
      </p:sp>
      <p:sp>
        <p:nvSpPr>
          <p:cNvPr id="7" name="Text 5"/>
          <p:cNvSpPr/>
          <p:nvPr/>
        </p:nvSpPr>
        <p:spPr>
          <a:xfrm>
            <a:off x="1457325" y="3192661"/>
            <a:ext cx="9147497" cy="4979194"/>
          </a:xfrm>
          <a:prstGeom prst="rect">
            <a:avLst/>
          </a:prstGeom>
          <a:noFill/>
        </p:spPr>
        <p:txBody>
          <a:bodyPr wrap="square" lIns="25400" tIns="25400" rIns="25400" bIns="25400" rtlCol="0" anchor="t">
            <a:normAutofit fontScale="92500"/>
          </a:bodyPr>
          <a:lstStyle/>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Group Tax Scheduler (OOP) ===</a:t>
            </a:r>
            <a:endParaRPr lang="en-US" sz="1875" dirty="0"/>
          </a:p>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Saved data found (taxpayers.txt).</a:t>
            </a:r>
            <a:endParaRPr lang="en-US" sz="1875" dirty="0"/>
          </a:p>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1. Continue with saved data</a:t>
            </a:r>
            <a:endParaRPr lang="en-US" sz="1875" dirty="0"/>
          </a:p>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2. Start fresh</a:t>
            </a:r>
            <a:endParaRPr lang="en-US" sz="1875" dirty="0"/>
          </a:p>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Choose:  </a:t>
            </a:r>
            <a:endParaRPr lang="en-US" sz="1875" dirty="0"/>
          </a:p>
          <a:p>
            <a:pPr marL="0" indent="0" algn="l">
              <a:lnSpc>
                <a:spcPct val="155000"/>
              </a:lnSpc>
              <a:buNone/>
            </a:pPr>
            <a:r>
              <a:rPr lang="en-US" sz="1875" b="1" u="sng"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 </a:t>
            </a: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Loaded 3 taxpayer(s) from taxpayers.txt</a:t>
            </a:r>
            <a:endParaRPr lang="en-US" sz="1875" dirty="0"/>
          </a:p>
          <a:p>
            <a:pPr marL="0" indent="0" algn="l">
              <a:lnSpc>
                <a:spcPct val="155000"/>
              </a:lnSpc>
              <a:buNone/>
            </a:pPr>
            <a:endParaRPr lang="en-US" sz="1875" dirty="0"/>
          </a:p>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Choose an option:  </a:t>
            </a:r>
            <a:endParaRPr lang="en-US" sz="1875" dirty="0"/>
          </a:p>
          <a:p>
            <a:pPr marL="0" indent="0" algn="l">
              <a:lnSpc>
                <a:spcPct val="155000"/>
              </a:lnSpc>
              <a:buNone/>
            </a:pPr>
            <a:r>
              <a:rPr lang="en-US" sz="1875" b="1" u="sng"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 </a:t>
            </a: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Type - 1=Individual 2=Business 3=Premium</a:t>
            </a:r>
            <a:endParaRPr lang="en-US" sz="1875" dirty="0"/>
          </a:p>
          <a:p>
            <a:pPr marL="0" indent="0" algn="l">
              <a:lnSpc>
                <a:spcPct val="155000"/>
              </a:lnSpc>
              <a:buNone/>
            </a:pP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Choose:  </a:t>
            </a:r>
            <a:endParaRPr lang="en-US" sz="1875" dirty="0"/>
          </a:p>
          <a:p>
            <a:pPr marL="0" indent="0" algn="l">
              <a:lnSpc>
                <a:spcPct val="155000"/>
              </a:lnSpc>
              <a:buNone/>
            </a:pPr>
            <a:r>
              <a:rPr lang="en-US" sz="1875" b="1" u="sng"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2 </a:t>
            </a: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Name: </a:t>
            </a:r>
            <a:r>
              <a:rPr lang="en-US" sz="1875" b="1" u="sng"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Otsutsuki Ltd </a:t>
            </a: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Income: </a:t>
            </a:r>
            <a:r>
              <a:rPr lang="en-US" sz="1875" b="1" u="sng"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1000000 </a:t>
            </a:r>
            <a:r>
              <a:rPr lang="en-US" sz="187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Added Otsutsuki Ltd (Business).</a:t>
            </a:r>
            <a:endParaRPr lang="en-US" sz="1875" dirty="0"/>
          </a:p>
        </p:txBody>
      </p:sp>
      <p:sp>
        <p:nvSpPr>
          <p:cNvPr id="8" name="Shape 6"/>
          <p:cNvSpPr/>
          <p:nvPr/>
        </p:nvSpPr>
        <p:spPr>
          <a:xfrm>
            <a:off x="11168360" y="4114056"/>
            <a:ext cx="28575" cy="1083766"/>
          </a:xfrm>
          <a:prstGeom prst="rect">
            <a:avLst/>
          </a:prstGeom>
          <a:solidFill>
            <a:srgbClr val="17181A"/>
          </a:solidFill>
        </p:spPr>
      </p:sp>
      <p:sp>
        <p:nvSpPr>
          <p:cNvPr id="9" name="Text 7"/>
          <p:cNvSpPr/>
          <p:nvPr/>
        </p:nvSpPr>
        <p:spPr>
          <a:xfrm>
            <a:off x="11425535" y="4114056"/>
            <a:ext cx="6291411" cy="352425"/>
          </a:xfrm>
          <a:prstGeom prst="rect">
            <a:avLst/>
          </a:prstGeom>
          <a:noFill/>
        </p:spPr>
        <p:txBody>
          <a:bodyPr wrap="square" lIns="25400" tIns="25400" rIns="25400" bIns="25400" rtlCol="0" anchor="t">
            <a:normAutofit lnSpcReduction="10000"/>
          </a:bodyPr>
          <a:lstStyle/>
          <a:p>
            <a:pPr marL="0" indent="0" algn="l">
              <a:buNone/>
            </a:pPr>
            <a:r>
              <a:rPr lang="en-US" sz="2175" b="1" dirty="0">
                <a:solidFill>
                  <a:srgbClr val="17181A"/>
                </a:solidFill>
                <a:latin typeface="Arial" panose="020B0604020202020204" pitchFamily="34" charset="0"/>
                <a:ea typeface="Arial" panose="020B0604020202020204" pitchFamily="34" charset="-122"/>
                <a:cs typeface="Arial" panose="020B0604020202020204" pitchFamily="34" charset="-120"/>
              </a:rPr>
              <a:t>Smart startup</a:t>
            </a:r>
            <a:endParaRPr lang="en-US" sz="2175" dirty="0"/>
          </a:p>
        </p:txBody>
      </p:sp>
      <p:sp>
        <p:nvSpPr>
          <p:cNvPr id="10" name="Text 8"/>
          <p:cNvSpPr/>
          <p:nvPr/>
        </p:nvSpPr>
        <p:spPr>
          <a:xfrm>
            <a:off x="11425535" y="4504581"/>
            <a:ext cx="5891049" cy="731341"/>
          </a:xfrm>
          <a:prstGeom prst="rect">
            <a:avLst/>
          </a:prstGeom>
          <a:noFill/>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Existing records load by default — nothing is lost by accident.</a:t>
            </a:r>
            <a:endParaRPr lang="en-US" sz="1950" dirty="0"/>
          </a:p>
        </p:txBody>
      </p:sp>
      <p:sp>
        <p:nvSpPr>
          <p:cNvPr id="11" name="Shape 9"/>
          <p:cNvSpPr/>
          <p:nvPr/>
        </p:nvSpPr>
        <p:spPr>
          <a:xfrm>
            <a:off x="11168360" y="5407372"/>
            <a:ext cx="28575" cy="1083766"/>
          </a:xfrm>
          <a:prstGeom prst="rect">
            <a:avLst/>
          </a:prstGeom>
          <a:solidFill>
            <a:srgbClr val="17181A"/>
          </a:solidFill>
        </p:spPr>
      </p:sp>
      <p:sp>
        <p:nvSpPr>
          <p:cNvPr id="12" name="Text 10"/>
          <p:cNvSpPr/>
          <p:nvPr/>
        </p:nvSpPr>
        <p:spPr>
          <a:xfrm>
            <a:off x="11425535" y="5407372"/>
            <a:ext cx="6291411" cy="352425"/>
          </a:xfrm>
          <a:prstGeom prst="rect">
            <a:avLst/>
          </a:prstGeom>
          <a:noFill/>
        </p:spPr>
        <p:txBody>
          <a:bodyPr wrap="square" lIns="25400" tIns="25400" rIns="25400" bIns="25400" rtlCol="0" anchor="t">
            <a:normAutofit lnSpcReduction="10000"/>
          </a:bodyPr>
          <a:lstStyle/>
          <a:p>
            <a:pPr marL="0" indent="0" algn="l">
              <a:buNone/>
            </a:pPr>
            <a:r>
              <a:rPr lang="en-US" sz="2175" b="1" dirty="0">
                <a:solidFill>
                  <a:srgbClr val="17181A"/>
                </a:solidFill>
                <a:latin typeface="Arial" panose="020B0604020202020204" pitchFamily="34" charset="0"/>
                <a:ea typeface="Arial" panose="020B0604020202020204" pitchFamily="34" charset="-122"/>
                <a:cs typeface="Arial" panose="020B0604020202020204" pitchFamily="34" charset="-120"/>
              </a:rPr>
              <a:t>Guided entry</a:t>
            </a:r>
            <a:endParaRPr lang="en-US" sz="2175" dirty="0"/>
          </a:p>
        </p:txBody>
      </p:sp>
      <p:sp>
        <p:nvSpPr>
          <p:cNvPr id="13" name="Text 11"/>
          <p:cNvSpPr/>
          <p:nvPr/>
        </p:nvSpPr>
        <p:spPr>
          <a:xfrm>
            <a:off x="11425535" y="5797897"/>
            <a:ext cx="5891049" cy="731341"/>
          </a:xfrm>
          <a:prstGeom prst="rect">
            <a:avLst/>
          </a:prstGeom>
          <a:noFill/>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Choose a type, give a name and income — that's all the user provides.</a:t>
            </a:r>
            <a:endParaRPr lang="en-US" sz="1950" dirty="0"/>
          </a:p>
        </p:txBody>
      </p:sp>
      <p:sp>
        <p:nvSpPr>
          <p:cNvPr id="14" name="Shape 12"/>
          <p:cNvSpPr/>
          <p:nvPr/>
        </p:nvSpPr>
        <p:spPr>
          <a:xfrm>
            <a:off x="11168360" y="6700689"/>
            <a:ext cx="28575" cy="1083766"/>
          </a:xfrm>
          <a:prstGeom prst="rect">
            <a:avLst/>
          </a:prstGeom>
          <a:solidFill>
            <a:srgbClr val="17181A"/>
          </a:solidFill>
        </p:spPr>
      </p:sp>
      <p:sp>
        <p:nvSpPr>
          <p:cNvPr id="15" name="Text 13"/>
          <p:cNvSpPr/>
          <p:nvPr/>
        </p:nvSpPr>
        <p:spPr>
          <a:xfrm>
            <a:off x="11425535" y="6700689"/>
            <a:ext cx="6291411" cy="352425"/>
          </a:xfrm>
          <a:prstGeom prst="rect">
            <a:avLst/>
          </a:prstGeom>
          <a:noFill/>
        </p:spPr>
        <p:txBody>
          <a:bodyPr wrap="square" lIns="25400" tIns="25400" rIns="25400" bIns="25400" rtlCol="0" anchor="t">
            <a:normAutofit lnSpcReduction="10000"/>
          </a:bodyPr>
          <a:lstStyle/>
          <a:p>
            <a:pPr marL="0" indent="0" algn="l">
              <a:buNone/>
            </a:pPr>
            <a:r>
              <a:rPr lang="en-US" sz="2175" b="1" dirty="0">
                <a:solidFill>
                  <a:srgbClr val="17181A"/>
                </a:solidFill>
                <a:latin typeface="Arial" panose="020B0604020202020204" pitchFamily="34" charset="0"/>
                <a:ea typeface="Arial" panose="020B0604020202020204" pitchFamily="34" charset="-122"/>
                <a:cs typeface="Arial" panose="020B0604020202020204" pitchFamily="34" charset="-120"/>
              </a:rPr>
              <a:t>Tax is derived</a:t>
            </a:r>
            <a:endParaRPr lang="en-US" sz="2175" dirty="0"/>
          </a:p>
        </p:txBody>
      </p:sp>
      <p:sp>
        <p:nvSpPr>
          <p:cNvPr id="16" name="Text 14"/>
          <p:cNvSpPr/>
          <p:nvPr/>
        </p:nvSpPr>
        <p:spPr>
          <a:xfrm>
            <a:off x="11425535" y="7091214"/>
            <a:ext cx="5891049" cy="731341"/>
          </a:xfrm>
          <a:prstGeom prst="rect">
            <a:avLst/>
          </a:prstGeom>
          <a:noFill/>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The rate comes from the chosen type, never typed by hand.</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06 · OOP CONCEPTS</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The four pillars, applied</a:t>
            </a:r>
            <a:endParaRPr lang="en-US" sz="4800" dirty="0"/>
          </a:p>
        </p:txBody>
      </p:sp>
      <p:sp>
        <p:nvSpPr>
          <p:cNvPr id="4" name="Shape 2"/>
          <p:cNvSpPr/>
          <p:nvPr/>
        </p:nvSpPr>
        <p:spPr>
          <a:xfrm>
            <a:off x="1143000" y="2411611"/>
            <a:ext cx="7810500" cy="3413820"/>
          </a:xfrm>
          <a:prstGeom prst="roundRect">
            <a:avLst>
              <a:gd name="adj" fmla="val 1674"/>
            </a:avLst>
          </a:prstGeom>
          <a:ln w="9525">
            <a:solidFill>
              <a:srgbClr val="17181A"/>
            </a:solidFill>
            <a:prstDash val="solid"/>
          </a:ln>
        </p:spPr>
      </p:sp>
      <p:sp>
        <p:nvSpPr>
          <p:cNvPr id="5" name="Text 3"/>
          <p:cNvSpPr/>
          <p:nvPr/>
        </p:nvSpPr>
        <p:spPr>
          <a:xfrm>
            <a:off x="1514475" y="2744986"/>
            <a:ext cx="376833" cy="2785170"/>
          </a:xfrm>
          <a:prstGeom prst="rect">
            <a:avLst/>
          </a:prstGeom>
          <a:noFill/>
        </p:spPr>
        <p:txBody>
          <a:bodyPr wrap="square" lIns="25400" tIns="25400" rIns="25400" bIns="25400" rtlCol="0" anchor="t">
            <a:normAutofit/>
          </a:bodyPr>
          <a:lstStyle/>
          <a:p>
            <a:pPr marL="0" indent="0" algn="l">
              <a:lnSpc>
                <a:spcPct val="100000"/>
              </a:lnSpc>
              <a:buNone/>
            </a:pPr>
            <a:r>
              <a:rPr lang="en-US" sz="3450" dirty="0">
                <a:solidFill>
                  <a:srgbClr val="17181A"/>
                </a:solidFill>
                <a:latin typeface="Georgia" panose="02040502050405020303" pitchFamily="34" charset="0"/>
                <a:ea typeface="Georgia" panose="02040502050405020303" pitchFamily="34" charset="-122"/>
                <a:cs typeface="Georgia" panose="02040502050405020303" pitchFamily="34" charset="-120"/>
              </a:rPr>
              <a:t>A</a:t>
            </a:r>
            <a:endParaRPr lang="en-US" sz="3450" dirty="0"/>
          </a:p>
        </p:txBody>
      </p:sp>
      <p:sp>
        <p:nvSpPr>
          <p:cNvPr id="6" name="Text 4"/>
          <p:cNvSpPr/>
          <p:nvPr/>
        </p:nvSpPr>
        <p:spPr>
          <a:xfrm>
            <a:off x="2062758" y="2744986"/>
            <a:ext cx="7171194" cy="381000"/>
          </a:xfrm>
          <a:prstGeom prst="rect">
            <a:avLst/>
          </a:prstGeom>
          <a:noFill/>
        </p:spPr>
        <p:txBody>
          <a:bodyPr wrap="square" lIns="25400" tIns="25400" rIns="25400" bIns="25400" rtlCol="0" anchor="t">
            <a:normAutofit lnSpcReduction="10000"/>
          </a:bodyPr>
          <a:lstStyle/>
          <a:p>
            <a:pPr marL="0" indent="0" algn="l">
              <a:buNone/>
            </a:pPr>
            <a:r>
              <a:rPr lang="en-US" sz="2325" b="1" dirty="0">
                <a:solidFill>
                  <a:srgbClr val="17181A"/>
                </a:solidFill>
                <a:latin typeface="Arial" panose="020B0604020202020204" pitchFamily="34" charset="0"/>
                <a:ea typeface="Arial" panose="020B0604020202020204" pitchFamily="34" charset="-122"/>
                <a:cs typeface="Arial" panose="020B0604020202020204" pitchFamily="34" charset="-120"/>
              </a:rPr>
              <a:t>Encapsulation</a:t>
            </a:r>
            <a:endParaRPr lang="en-US" sz="2325" dirty="0"/>
          </a:p>
        </p:txBody>
      </p:sp>
      <p:sp>
        <p:nvSpPr>
          <p:cNvPr id="7" name="Text 5"/>
          <p:cNvSpPr/>
          <p:nvPr/>
        </p:nvSpPr>
        <p:spPr>
          <a:xfrm>
            <a:off x="2062758" y="3202186"/>
            <a:ext cx="6714845" cy="731341"/>
          </a:xfrm>
          <a:prstGeom prst="rect">
            <a:avLst/>
          </a:prstGeom>
          <a:noFill/>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Taxpayer data is </a:t>
            </a: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protected</a:t>
            </a: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 reached only through </a:t>
            </a: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getName()</a:t>
            </a: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 </a:t>
            </a: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markPaid()</a:t>
            </a: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8" name="Shape 6"/>
          <p:cNvSpPr/>
          <p:nvPr/>
        </p:nvSpPr>
        <p:spPr>
          <a:xfrm>
            <a:off x="9334500" y="2411611"/>
            <a:ext cx="7810500" cy="3413820"/>
          </a:xfrm>
          <a:prstGeom prst="roundRect">
            <a:avLst>
              <a:gd name="adj" fmla="val 1674"/>
            </a:avLst>
          </a:prstGeom>
          <a:ln w="9525">
            <a:solidFill>
              <a:srgbClr val="17181A"/>
            </a:solidFill>
            <a:prstDash val="solid"/>
          </a:ln>
        </p:spPr>
      </p:sp>
      <p:sp>
        <p:nvSpPr>
          <p:cNvPr id="9" name="Text 7"/>
          <p:cNvSpPr/>
          <p:nvPr/>
        </p:nvSpPr>
        <p:spPr>
          <a:xfrm>
            <a:off x="9705975" y="2744986"/>
            <a:ext cx="369838" cy="2785170"/>
          </a:xfrm>
          <a:prstGeom prst="rect">
            <a:avLst/>
          </a:prstGeom>
          <a:noFill/>
        </p:spPr>
        <p:txBody>
          <a:bodyPr wrap="square" lIns="25400" tIns="25400" rIns="25400" bIns="25400" rtlCol="0" anchor="t">
            <a:normAutofit/>
          </a:bodyPr>
          <a:lstStyle/>
          <a:p>
            <a:pPr marL="0" indent="0" algn="l">
              <a:lnSpc>
                <a:spcPct val="100000"/>
              </a:lnSpc>
              <a:buNone/>
            </a:pPr>
            <a:r>
              <a:rPr lang="en-US" sz="3450" dirty="0">
                <a:solidFill>
                  <a:srgbClr val="17181A"/>
                </a:solidFill>
                <a:latin typeface="Georgia" panose="02040502050405020303" pitchFamily="34" charset="0"/>
                <a:ea typeface="Georgia" panose="02040502050405020303" pitchFamily="34" charset="-122"/>
                <a:cs typeface="Georgia" panose="02040502050405020303" pitchFamily="34" charset="-120"/>
              </a:rPr>
              <a:t>B</a:t>
            </a:r>
            <a:endParaRPr lang="en-US" sz="3450" dirty="0"/>
          </a:p>
        </p:txBody>
      </p:sp>
      <p:sp>
        <p:nvSpPr>
          <p:cNvPr id="10" name="Text 8"/>
          <p:cNvSpPr/>
          <p:nvPr/>
        </p:nvSpPr>
        <p:spPr>
          <a:xfrm>
            <a:off x="10247263" y="2744986"/>
            <a:ext cx="7178888" cy="381000"/>
          </a:xfrm>
          <a:prstGeom prst="rect">
            <a:avLst/>
          </a:prstGeom>
          <a:noFill/>
        </p:spPr>
        <p:txBody>
          <a:bodyPr wrap="square" lIns="25400" tIns="25400" rIns="25400" bIns="25400" rtlCol="0" anchor="t">
            <a:normAutofit lnSpcReduction="10000"/>
          </a:bodyPr>
          <a:lstStyle/>
          <a:p>
            <a:pPr marL="0" indent="0" algn="l">
              <a:buNone/>
            </a:pPr>
            <a:r>
              <a:rPr lang="en-US" sz="2325" b="1" dirty="0">
                <a:solidFill>
                  <a:srgbClr val="17181A"/>
                </a:solidFill>
                <a:latin typeface="Arial" panose="020B0604020202020204" pitchFamily="34" charset="0"/>
                <a:ea typeface="Arial" panose="020B0604020202020204" pitchFamily="34" charset="-122"/>
                <a:cs typeface="Arial" panose="020B0604020202020204" pitchFamily="34" charset="-120"/>
              </a:rPr>
              <a:t>Abstraction</a:t>
            </a:r>
            <a:endParaRPr lang="en-US" sz="2325" dirty="0"/>
          </a:p>
        </p:txBody>
      </p:sp>
      <p:sp>
        <p:nvSpPr>
          <p:cNvPr id="11" name="Text 9"/>
          <p:cNvSpPr/>
          <p:nvPr/>
        </p:nvSpPr>
        <p:spPr>
          <a:xfrm>
            <a:off x="10247263" y="3202186"/>
            <a:ext cx="6722050" cy="731341"/>
          </a:xfrm>
          <a:prstGeom prst="rect">
            <a:avLst/>
          </a:prstGeom>
          <a:noFill/>
        </p:spPr>
        <p:txBody>
          <a:bodyPr wrap="square" lIns="25400" tIns="25400" rIns="25400" bIns="25400" rtlCol="0" anchor="t">
            <a:normAutofit fontScale="92500" lnSpcReduction="20000"/>
          </a:bodyPr>
          <a:lstStyle/>
          <a:p>
            <a:pPr marL="0" indent="0" algn="l">
              <a:lnSpc>
                <a:spcPct val="140000"/>
              </a:lnSpc>
              <a:buNone/>
            </a:pP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Taxpayer </a:t>
            </a: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is abstract — pure virtual functions define the interface, not the detail.</a:t>
            </a:r>
            <a:endParaRPr lang="en-US" sz="1950" dirty="0"/>
          </a:p>
        </p:txBody>
      </p:sp>
      <p:sp>
        <p:nvSpPr>
          <p:cNvPr id="12" name="Shape 10"/>
          <p:cNvSpPr/>
          <p:nvPr/>
        </p:nvSpPr>
        <p:spPr>
          <a:xfrm>
            <a:off x="1143000" y="6111180"/>
            <a:ext cx="7810500" cy="3413820"/>
          </a:xfrm>
          <a:prstGeom prst="roundRect">
            <a:avLst>
              <a:gd name="adj" fmla="val 1674"/>
            </a:avLst>
          </a:prstGeom>
          <a:ln w="9525">
            <a:solidFill>
              <a:srgbClr val="17181A"/>
            </a:solidFill>
            <a:prstDash val="solid"/>
          </a:ln>
        </p:spPr>
      </p:sp>
      <p:sp>
        <p:nvSpPr>
          <p:cNvPr id="13" name="Text 11"/>
          <p:cNvSpPr/>
          <p:nvPr/>
        </p:nvSpPr>
        <p:spPr>
          <a:xfrm>
            <a:off x="1514475" y="6444555"/>
            <a:ext cx="360611" cy="2785170"/>
          </a:xfrm>
          <a:prstGeom prst="rect">
            <a:avLst/>
          </a:prstGeom>
          <a:noFill/>
        </p:spPr>
        <p:txBody>
          <a:bodyPr wrap="square" lIns="25400" tIns="25400" rIns="25400" bIns="25400" rtlCol="0" anchor="t">
            <a:normAutofit/>
          </a:bodyPr>
          <a:lstStyle/>
          <a:p>
            <a:pPr marL="0" indent="0" algn="l">
              <a:lnSpc>
                <a:spcPct val="100000"/>
              </a:lnSpc>
              <a:buNone/>
            </a:pPr>
            <a:r>
              <a:rPr lang="en-US" sz="3450" dirty="0">
                <a:solidFill>
                  <a:srgbClr val="17181A"/>
                </a:solidFill>
                <a:latin typeface="Georgia" panose="02040502050405020303" pitchFamily="34" charset="0"/>
                <a:ea typeface="Georgia" panose="02040502050405020303" pitchFamily="34" charset="-122"/>
                <a:cs typeface="Georgia" panose="02040502050405020303" pitchFamily="34" charset="-120"/>
              </a:rPr>
              <a:t>C</a:t>
            </a:r>
            <a:endParaRPr lang="en-US" sz="3450" dirty="0"/>
          </a:p>
        </p:txBody>
      </p:sp>
      <p:sp>
        <p:nvSpPr>
          <p:cNvPr id="14" name="Text 12"/>
          <p:cNvSpPr/>
          <p:nvPr/>
        </p:nvSpPr>
        <p:spPr>
          <a:xfrm>
            <a:off x="2046536" y="6444555"/>
            <a:ext cx="7189038" cy="381000"/>
          </a:xfrm>
          <a:prstGeom prst="rect">
            <a:avLst/>
          </a:prstGeom>
          <a:noFill/>
        </p:spPr>
        <p:txBody>
          <a:bodyPr wrap="square" lIns="25400" tIns="25400" rIns="25400" bIns="25400" rtlCol="0" anchor="t">
            <a:normAutofit lnSpcReduction="10000"/>
          </a:bodyPr>
          <a:lstStyle/>
          <a:p>
            <a:pPr marL="0" indent="0" algn="l">
              <a:buNone/>
            </a:pPr>
            <a:r>
              <a:rPr lang="en-US" sz="2325" b="1" dirty="0">
                <a:solidFill>
                  <a:srgbClr val="17181A"/>
                </a:solidFill>
                <a:latin typeface="Arial" panose="020B0604020202020204" pitchFamily="34" charset="0"/>
                <a:ea typeface="Arial" panose="020B0604020202020204" pitchFamily="34" charset="-122"/>
                <a:cs typeface="Arial" panose="020B0604020202020204" pitchFamily="34" charset="-120"/>
              </a:rPr>
              <a:t>Inheritance</a:t>
            </a:r>
            <a:endParaRPr lang="en-US" sz="2325" dirty="0"/>
          </a:p>
        </p:txBody>
      </p:sp>
      <p:sp>
        <p:nvSpPr>
          <p:cNvPr id="15" name="Text 13"/>
          <p:cNvSpPr/>
          <p:nvPr/>
        </p:nvSpPr>
        <p:spPr>
          <a:xfrm>
            <a:off x="2046536" y="6901755"/>
            <a:ext cx="6731554" cy="731341"/>
          </a:xfrm>
          <a:prstGeom prst="rect">
            <a:avLst/>
          </a:prstGeom>
          <a:noFill/>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Three levels: </a:t>
            </a: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Taxpayer → Individual → PremiumIndividual </a:t>
            </a: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 plus Business.</a:t>
            </a:r>
            <a:endParaRPr lang="en-US" sz="1950" dirty="0"/>
          </a:p>
        </p:txBody>
      </p:sp>
      <p:sp>
        <p:nvSpPr>
          <p:cNvPr id="16" name="Shape 14"/>
          <p:cNvSpPr/>
          <p:nvPr/>
        </p:nvSpPr>
        <p:spPr>
          <a:xfrm>
            <a:off x="9334500" y="6111180"/>
            <a:ext cx="7810500" cy="3413820"/>
          </a:xfrm>
          <a:prstGeom prst="roundRect">
            <a:avLst>
              <a:gd name="adj" fmla="val 1674"/>
            </a:avLst>
          </a:prstGeom>
          <a:ln w="9525">
            <a:solidFill>
              <a:srgbClr val="17181A"/>
            </a:solidFill>
            <a:prstDash val="solid"/>
          </a:ln>
        </p:spPr>
      </p:sp>
      <p:sp>
        <p:nvSpPr>
          <p:cNvPr id="17" name="Text 15"/>
          <p:cNvSpPr/>
          <p:nvPr/>
        </p:nvSpPr>
        <p:spPr>
          <a:xfrm>
            <a:off x="9705975" y="6444555"/>
            <a:ext cx="385614" cy="2785170"/>
          </a:xfrm>
          <a:prstGeom prst="rect">
            <a:avLst/>
          </a:prstGeom>
          <a:noFill/>
        </p:spPr>
        <p:txBody>
          <a:bodyPr wrap="square" lIns="25400" tIns="25400" rIns="25400" bIns="25400" rtlCol="0" anchor="t">
            <a:normAutofit/>
          </a:bodyPr>
          <a:lstStyle/>
          <a:p>
            <a:pPr marL="0" indent="0" algn="l">
              <a:lnSpc>
                <a:spcPct val="100000"/>
              </a:lnSpc>
              <a:buNone/>
            </a:pPr>
            <a:r>
              <a:rPr lang="en-US" sz="3450" dirty="0">
                <a:solidFill>
                  <a:srgbClr val="17181A"/>
                </a:solidFill>
                <a:latin typeface="Georgia" panose="02040502050405020303" pitchFamily="34" charset="0"/>
                <a:ea typeface="Georgia" panose="02040502050405020303" pitchFamily="34" charset="-122"/>
                <a:cs typeface="Georgia" panose="02040502050405020303" pitchFamily="34" charset="-120"/>
              </a:rPr>
              <a:t>D</a:t>
            </a:r>
            <a:endParaRPr lang="en-US" sz="3450" dirty="0"/>
          </a:p>
        </p:txBody>
      </p:sp>
      <p:sp>
        <p:nvSpPr>
          <p:cNvPr id="18" name="Text 16"/>
          <p:cNvSpPr/>
          <p:nvPr/>
        </p:nvSpPr>
        <p:spPr>
          <a:xfrm>
            <a:off x="10263039" y="6444555"/>
            <a:ext cx="7161535" cy="381000"/>
          </a:xfrm>
          <a:prstGeom prst="rect">
            <a:avLst/>
          </a:prstGeom>
          <a:noFill/>
        </p:spPr>
        <p:txBody>
          <a:bodyPr wrap="square" lIns="25400" tIns="25400" rIns="25400" bIns="25400" rtlCol="0" anchor="t">
            <a:normAutofit lnSpcReduction="10000"/>
          </a:bodyPr>
          <a:lstStyle/>
          <a:p>
            <a:pPr marL="0" indent="0" algn="l">
              <a:buNone/>
            </a:pPr>
            <a:r>
              <a:rPr lang="en-US" sz="2325" b="1" dirty="0">
                <a:solidFill>
                  <a:srgbClr val="17181A"/>
                </a:solidFill>
                <a:latin typeface="Arial" panose="020B0604020202020204" pitchFamily="34" charset="0"/>
                <a:ea typeface="Arial" panose="020B0604020202020204" pitchFamily="34" charset="-122"/>
                <a:cs typeface="Arial" panose="020B0604020202020204" pitchFamily="34" charset="-120"/>
              </a:rPr>
              <a:t>Polymorphism</a:t>
            </a:r>
            <a:endParaRPr lang="en-US" sz="2325" dirty="0"/>
          </a:p>
        </p:txBody>
      </p:sp>
      <p:sp>
        <p:nvSpPr>
          <p:cNvPr id="19" name="Text 17"/>
          <p:cNvSpPr/>
          <p:nvPr/>
        </p:nvSpPr>
        <p:spPr>
          <a:xfrm>
            <a:off x="10263039" y="6901755"/>
            <a:ext cx="6705801" cy="731341"/>
          </a:xfrm>
          <a:prstGeom prst="rect">
            <a:avLst/>
          </a:prstGeom>
          <a:noFill/>
        </p:spPr>
        <p:txBody>
          <a:bodyPr wrap="square" lIns="25400" tIns="25400" rIns="25400" bIns="25400" rtlCol="0" anchor="t">
            <a:normAutofit fontScale="92500"/>
          </a:bodyPr>
          <a:lstStyle/>
          <a:p>
            <a:pPr marL="0" indent="0" algn="l">
              <a:lnSpc>
                <a:spcPct val="140000"/>
              </a:lnSpc>
              <a:buNone/>
            </a:pP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One </a:t>
            </a: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calculateTax() </a:t>
            </a:r>
            <a:r>
              <a:rPr lang="en-US" sz="1950" dirty="0">
                <a:solidFill>
                  <a:srgbClr val="3A3D44"/>
                </a:solidFill>
                <a:latin typeface="Arial" panose="020B0604020202020204" pitchFamily="34" charset="0"/>
                <a:ea typeface="Arial" panose="020B0604020202020204" pitchFamily="34" charset="-122"/>
                <a:cs typeface="Arial" panose="020B0604020202020204" pitchFamily="34" charset="-120"/>
              </a:rPr>
              <a:t>call gives 10%, 20%, or 15% by real type.</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07 · CLASS DESIGN</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The hierarchy &amp; one virtual call</a:t>
            </a:r>
            <a:endParaRPr lang="en-US" sz="4800" dirty="0"/>
          </a:p>
        </p:txBody>
      </p:sp>
      <p:sp>
        <p:nvSpPr>
          <p:cNvPr id="4" name="Shape 2"/>
          <p:cNvSpPr/>
          <p:nvPr/>
        </p:nvSpPr>
        <p:spPr>
          <a:xfrm>
            <a:off x="2418308" y="4296668"/>
            <a:ext cx="4796879" cy="952500"/>
          </a:xfrm>
          <a:prstGeom prst="roundRect">
            <a:avLst>
              <a:gd name="adj" fmla="val 6000"/>
            </a:avLst>
          </a:prstGeom>
          <a:solidFill>
            <a:srgbClr val="17181A"/>
          </a:solidFill>
        </p:spPr>
      </p:sp>
      <p:sp>
        <p:nvSpPr>
          <p:cNvPr id="5" name="Text 3"/>
          <p:cNvSpPr/>
          <p:nvPr/>
        </p:nvSpPr>
        <p:spPr>
          <a:xfrm>
            <a:off x="2534699" y="4487168"/>
            <a:ext cx="4564097" cy="333375"/>
          </a:xfrm>
          <a:prstGeom prst="rect">
            <a:avLst/>
          </a:prstGeom>
          <a:noFill/>
        </p:spPr>
        <p:txBody>
          <a:bodyPr wrap="square" lIns="25400" tIns="25400" rIns="25400" bIns="25400" rtlCol="0" anchor="t">
            <a:normAutofit fontScale="92500" lnSpcReduction="10000"/>
          </a:bodyPr>
          <a:lstStyle/>
          <a:p>
            <a:pPr marL="0" indent="0" algn="ctr">
              <a:buNone/>
            </a:pPr>
            <a:r>
              <a:rPr lang="en-US" sz="21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Taxpayer</a:t>
            </a:r>
            <a:endParaRPr lang="en-US" sz="2100" dirty="0"/>
          </a:p>
        </p:txBody>
      </p:sp>
      <p:sp>
        <p:nvSpPr>
          <p:cNvPr id="6" name="Text 4"/>
          <p:cNvSpPr/>
          <p:nvPr/>
        </p:nvSpPr>
        <p:spPr>
          <a:xfrm>
            <a:off x="2534699" y="4782443"/>
            <a:ext cx="4564097" cy="314325"/>
          </a:xfrm>
          <a:prstGeom prst="rect">
            <a:avLst/>
          </a:prstGeom>
          <a:noFill/>
        </p:spPr>
        <p:txBody>
          <a:bodyPr wrap="square" lIns="25400" tIns="25400" rIns="25400" bIns="25400" rtlCol="0" anchor="t">
            <a:normAutofit/>
          </a:bodyPr>
          <a:lstStyle/>
          <a:p>
            <a:pPr marL="0" indent="0" algn="ctr">
              <a:buNone/>
            </a:pPr>
            <a:r>
              <a:rPr lang="en-US" sz="1650" dirty="0">
                <a:solidFill>
                  <a:srgbClr val="B8BCC2"/>
                </a:solidFill>
                <a:latin typeface="Courier New" panose="02070309020205020404" pitchFamily="34" charset="0"/>
                <a:ea typeface="Courier New" panose="02070309020205020404" pitchFamily="34" charset="-122"/>
                <a:cs typeface="Courier New" panose="02070309020205020404" pitchFamily="34" charset="-120"/>
              </a:rPr>
              <a:t>abstract · virtual calculateTax()</a:t>
            </a:r>
            <a:endParaRPr lang="en-US" sz="1650" dirty="0"/>
          </a:p>
        </p:txBody>
      </p:sp>
      <p:sp>
        <p:nvSpPr>
          <p:cNvPr id="7" name="Shape 5"/>
          <p:cNvSpPr/>
          <p:nvPr/>
        </p:nvSpPr>
        <p:spPr>
          <a:xfrm>
            <a:off x="4807148" y="5249168"/>
            <a:ext cx="19050" cy="323850"/>
          </a:xfrm>
          <a:prstGeom prst="rect">
            <a:avLst/>
          </a:prstGeom>
          <a:solidFill>
            <a:srgbClr val="17181A"/>
          </a:solidFill>
        </p:spPr>
      </p:sp>
      <p:sp>
        <p:nvSpPr>
          <p:cNvPr id="8" name="Shape 6"/>
          <p:cNvSpPr/>
          <p:nvPr/>
        </p:nvSpPr>
        <p:spPr>
          <a:xfrm>
            <a:off x="2654498" y="5573018"/>
            <a:ext cx="2095500" cy="866775"/>
          </a:xfrm>
          <a:prstGeom prst="roundRect">
            <a:avLst>
              <a:gd name="adj" fmla="val 6593"/>
            </a:avLst>
          </a:prstGeom>
          <a:ln w="19050">
            <a:solidFill>
              <a:srgbClr val="17181A"/>
            </a:solidFill>
            <a:prstDash val="solid"/>
          </a:ln>
        </p:spPr>
      </p:sp>
      <p:sp>
        <p:nvSpPr>
          <p:cNvPr id="9" name="Text 7"/>
          <p:cNvSpPr/>
          <p:nvPr/>
        </p:nvSpPr>
        <p:spPr>
          <a:xfrm>
            <a:off x="2843093" y="5744468"/>
            <a:ext cx="1718310" cy="314325"/>
          </a:xfrm>
          <a:prstGeom prst="rect">
            <a:avLst/>
          </a:prstGeom>
          <a:noFill/>
        </p:spPr>
        <p:txBody>
          <a:bodyPr wrap="square" lIns="25400" tIns="25400" rIns="25400" bIns="25400" rtlCol="0" anchor="t">
            <a:normAutofit fontScale="92500"/>
          </a:bodyPr>
          <a:lstStyle/>
          <a:p>
            <a:pPr marL="0" indent="0" algn="ctr">
              <a:buNone/>
            </a:pPr>
            <a:r>
              <a:rPr lang="en-US" sz="187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Individual</a:t>
            </a:r>
            <a:endParaRPr lang="en-US" sz="1875" dirty="0"/>
          </a:p>
        </p:txBody>
      </p:sp>
      <p:sp>
        <p:nvSpPr>
          <p:cNvPr id="10" name="Text 8"/>
          <p:cNvSpPr/>
          <p:nvPr/>
        </p:nvSpPr>
        <p:spPr>
          <a:xfrm>
            <a:off x="2843093" y="6020693"/>
            <a:ext cx="1718310" cy="285750"/>
          </a:xfrm>
          <a:prstGeom prst="rect">
            <a:avLst/>
          </a:prstGeom>
          <a:noFill/>
        </p:spPr>
        <p:txBody>
          <a:bodyPr wrap="square" lIns="25400" tIns="25400" rIns="25400" bIns="25400" rtlCol="0" anchor="t">
            <a:normAutofit fontScale="92500" lnSpcReduction="10000"/>
          </a:bodyPr>
          <a:lstStyle/>
          <a:p>
            <a:pPr marL="0" indent="0" algn="ctr">
              <a:buNone/>
            </a:pPr>
            <a:r>
              <a:rPr lang="en-US" sz="172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25" dirty="0"/>
          </a:p>
        </p:txBody>
      </p:sp>
      <p:sp>
        <p:nvSpPr>
          <p:cNvPr id="11" name="Shape 9"/>
          <p:cNvSpPr/>
          <p:nvPr/>
        </p:nvSpPr>
        <p:spPr>
          <a:xfrm>
            <a:off x="3692723" y="6439793"/>
            <a:ext cx="19050" cy="285750"/>
          </a:xfrm>
          <a:prstGeom prst="rect">
            <a:avLst/>
          </a:prstGeom>
          <a:solidFill>
            <a:srgbClr val="17181A"/>
          </a:solidFill>
        </p:spPr>
      </p:sp>
      <p:sp>
        <p:nvSpPr>
          <p:cNvPr id="12" name="Shape 10"/>
          <p:cNvSpPr/>
          <p:nvPr/>
        </p:nvSpPr>
        <p:spPr>
          <a:xfrm>
            <a:off x="2356247" y="6725543"/>
            <a:ext cx="2692152" cy="838200"/>
          </a:xfrm>
          <a:prstGeom prst="roundRect">
            <a:avLst>
              <a:gd name="adj" fmla="val 6818"/>
            </a:avLst>
          </a:prstGeom>
          <a:ln w="19050">
            <a:solidFill>
              <a:srgbClr val="17181A"/>
            </a:solidFill>
            <a:prstDash val="dash"/>
          </a:ln>
        </p:spPr>
      </p:sp>
      <p:sp>
        <p:nvSpPr>
          <p:cNvPr id="13" name="Text 11"/>
          <p:cNvSpPr/>
          <p:nvPr/>
        </p:nvSpPr>
        <p:spPr>
          <a:xfrm>
            <a:off x="2473099" y="6896993"/>
            <a:ext cx="2458447" cy="285750"/>
          </a:xfrm>
          <a:prstGeom prst="rect">
            <a:avLst/>
          </a:prstGeom>
          <a:noFill/>
        </p:spPr>
        <p:txBody>
          <a:bodyPr wrap="square" lIns="25400" tIns="25400" rIns="25400" bIns="25400" rtlCol="0" anchor="t">
            <a:normAutofit fontScale="92500" lnSpcReduction="10000"/>
          </a:bodyPr>
          <a:lstStyle/>
          <a:p>
            <a:pPr marL="0" indent="0" algn="ctr">
              <a:buNone/>
            </a:pPr>
            <a:r>
              <a:rPr lang="en-US" sz="172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PremiumIndividual</a:t>
            </a:r>
            <a:endParaRPr lang="en-US" sz="1725" dirty="0"/>
          </a:p>
        </p:txBody>
      </p:sp>
      <p:sp>
        <p:nvSpPr>
          <p:cNvPr id="14" name="Text 12"/>
          <p:cNvSpPr/>
          <p:nvPr/>
        </p:nvSpPr>
        <p:spPr>
          <a:xfrm>
            <a:off x="2473099" y="7144643"/>
            <a:ext cx="2458447" cy="285750"/>
          </a:xfrm>
          <a:prstGeom prst="rect">
            <a:avLst/>
          </a:prstGeom>
          <a:noFill/>
        </p:spPr>
        <p:txBody>
          <a:bodyPr wrap="square" lIns="25400" tIns="25400" rIns="25400" bIns="25400" rtlCol="0" anchor="t">
            <a:normAutofit fontScale="92500" lnSpcReduction="10000"/>
          </a:bodyPr>
          <a:lstStyle/>
          <a:p>
            <a:pPr marL="0" indent="0" algn="ctr">
              <a:buNone/>
            </a:pPr>
            <a:r>
              <a:rPr lang="en-US" sz="172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10% + 5% = 15%</a:t>
            </a:r>
            <a:endParaRPr lang="en-US" sz="1725" dirty="0"/>
          </a:p>
        </p:txBody>
      </p:sp>
      <p:sp>
        <p:nvSpPr>
          <p:cNvPr id="15" name="Shape 13"/>
          <p:cNvSpPr/>
          <p:nvPr/>
        </p:nvSpPr>
        <p:spPr>
          <a:xfrm>
            <a:off x="5467499" y="5573018"/>
            <a:ext cx="1809750" cy="866775"/>
          </a:xfrm>
          <a:prstGeom prst="roundRect">
            <a:avLst>
              <a:gd name="adj" fmla="val 6593"/>
            </a:avLst>
          </a:prstGeom>
          <a:ln w="19050">
            <a:solidFill>
              <a:srgbClr val="17181A"/>
            </a:solidFill>
            <a:prstDash val="solid"/>
          </a:ln>
        </p:spPr>
      </p:sp>
      <p:sp>
        <p:nvSpPr>
          <p:cNvPr id="16" name="Text 14"/>
          <p:cNvSpPr/>
          <p:nvPr/>
        </p:nvSpPr>
        <p:spPr>
          <a:xfrm>
            <a:off x="5670381" y="5744468"/>
            <a:ext cx="1403985" cy="314325"/>
          </a:xfrm>
          <a:prstGeom prst="rect">
            <a:avLst/>
          </a:prstGeom>
          <a:noFill/>
        </p:spPr>
        <p:txBody>
          <a:bodyPr wrap="square" lIns="25400" tIns="25400" rIns="25400" bIns="25400" rtlCol="0" anchor="t">
            <a:normAutofit fontScale="92500"/>
          </a:bodyPr>
          <a:lstStyle/>
          <a:p>
            <a:pPr marL="0" indent="0" algn="ctr">
              <a:buNone/>
            </a:pPr>
            <a:r>
              <a:rPr lang="en-US" sz="187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Business</a:t>
            </a:r>
            <a:endParaRPr lang="en-US" sz="1875" dirty="0"/>
          </a:p>
        </p:txBody>
      </p:sp>
      <p:sp>
        <p:nvSpPr>
          <p:cNvPr id="17" name="Text 15"/>
          <p:cNvSpPr/>
          <p:nvPr/>
        </p:nvSpPr>
        <p:spPr>
          <a:xfrm>
            <a:off x="5670381" y="6020693"/>
            <a:ext cx="1403985" cy="285750"/>
          </a:xfrm>
          <a:prstGeom prst="rect">
            <a:avLst/>
          </a:prstGeom>
          <a:noFill/>
        </p:spPr>
        <p:txBody>
          <a:bodyPr wrap="square" lIns="25400" tIns="25400" rIns="25400" bIns="25400" rtlCol="0" anchor="t">
            <a:normAutofit fontScale="92500" lnSpcReduction="10000"/>
          </a:bodyPr>
          <a:lstStyle/>
          <a:p>
            <a:pPr marL="0" indent="0" algn="ctr">
              <a:buNone/>
            </a:pPr>
            <a:r>
              <a:rPr lang="en-US" sz="172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725" dirty="0"/>
          </a:p>
        </p:txBody>
      </p:sp>
      <p:sp>
        <p:nvSpPr>
          <p:cNvPr id="18" name="Shape 16"/>
          <p:cNvSpPr/>
          <p:nvPr/>
        </p:nvSpPr>
        <p:spPr>
          <a:xfrm>
            <a:off x="9023896" y="2915543"/>
            <a:ext cx="8120955" cy="6029325"/>
          </a:xfrm>
          <a:prstGeom prst="roundRect">
            <a:avLst>
              <a:gd name="adj" fmla="val 1264"/>
            </a:avLst>
          </a:prstGeom>
          <a:ln w="9525">
            <a:solidFill>
              <a:srgbClr val="17181A"/>
            </a:solidFill>
            <a:prstDash val="solid"/>
          </a:ln>
        </p:spPr>
      </p:sp>
      <p:sp>
        <p:nvSpPr>
          <p:cNvPr id="19" name="Shape 17"/>
          <p:cNvSpPr/>
          <p:nvPr/>
        </p:nvSpPr>
        <p:spPr>
          <a:xfrm>
            <a:off x="9033421" y="3410843"/>
            <a:ext cx="8101905" cy="9525"/>
          </a:xfrm>
          <a:prstGeom prst="rect">
            <a:avLst/>
          </a:prstGeom>
          <a:solidFill>
            <a:srgbClr val="D8D8D4"/>
          </a:solidFill>
        </p:spPr>
      </p:sp>
      <p:sp>
        <p:nvSpPr>
          <p:cNvPr id="20" name="Text 18"/>
          <p:cNvSpPr/>
          <p:nvPr/>
        </p:nvSpPr>
        <p:spPr>
          <a:xfrm>
            <a:off x="9281071" y="3039368"/>
            <a:ext cx="7849663" cy="295275"/>
          </a:xfrm>
          <a:prstGeom prst="rect">
            <a:avLst/>
          </a:prstGeom>
          <a:noFill/>
        </p:spPr>
        <p:txBody>
          <a:bodyPr wrap="square" lIns="25400" tIns="25400" rIns="25400" bIns="25400" rtlCol="0" anchor="t">
            <a:normAutofit/>
          </a:bodyPr>
          <a:lstStyle/>
          <a:p>
            <a:pPr marL="0" indent="0" algn="l">
              <a:buNone/>
            </a:pPr>
            <a:r>
              <a:rPr lang="en-US" sz="150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tax_scheduler.cpp</a:t>
            </a:r>
            <a:endParaRPr lang="en-US" sz="1500" dirty="0"/>
          </a:p>
        </p:txBody>
      </p:sp>
      <p:sp>
        <p:nvSpPr>
          <p:cNvPr id="21" name="Text 19"/>
          <p:cNvSpPr/>
          <p:nvPr/>
        </p:nvSpPr>
        <p:spPr>
          <a:xfrm>
            <a:off x="9338221" y="3687068"/>
            <a:ext cx="7735363" cy="4381500"/>
          </a:xfrm>
          <a:prstGeom prst="rect">
            <a:avLst/>
          </a:prstGeom>
          <a:noFill/>
        </p:spPr>
        <p:txBody>
          <a:bodyPr wrap="square" lIns="25400" tIns="25400" rIns="25400" bIns="25400" rtlCol="0" anchor="t">
            <a:normAutofit fontScale="85000" lnSpcReduction="10000"/>
          </a:bodyPr>
          <a:lstStyle/>
          <a:p>
            <a:pPr marL="0" indent="0" algn="l">
              <a:lnSpc>
                <a:spcPct val="150000"/>
              </a:lnSpc>
              <a:buNone/>
            </a:pP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class</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Taxpayer {              </a:t>
            </a:r>
            <a:r>
              <a:rPr lang="en-US" sz="1800"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 abstract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virtual double</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calculateTax()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const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 0;</a:t>
            </a:r>
            <a:endParaRPr lang="en-US" sz="1800" dirty="0"/>
          </a:p>
          <a:p>
            <a:pPr marL="0" indent="0" algn="l">
              <a:lnSpc>
                <a:spcPct val="150000"/>
              </a:lnSpc>
              <a:buNone/>
            </a:pP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00" dirty="0"/>
          </a:p>
          <a:p>
            <a:pPr marL="0" indent="0" algn="l">
              <a:lnSpc>
                <a:spcPct val="150000"/>
              </a:lnSpc>
              <a:buNone/>
            </a:pP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class</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Individual :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public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Taxpayer {</a:t>
            </a:r>
            <a:endParaRPr lang="en-US" sz="1800" dirty="0"/>
          </a:p>
          <a:p>
            <a:pPr marL="0" indent="0" algn="l">
              <a:lnSpc>
                <a:spcPct val="150000"/>
              </a:lnSpc>
              <a:buNone/>
            </a:pP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00" dirty="0"/>
          </a:p>
          <a:p>
            <a:pPr marL="0" indent="0" algn="l">
              <a:lnSpc>
                <a:spcPct val="150000"/>
              </a:lnSpc>
              <a:buNone/>
            </a:pP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calculateTax()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const override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return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income * 0.10; }</a:t>
            </a:r>
            <a:endParaRPr lang="en-US" sz="1800" dirty="0"/>
          </a:p>
          <a:p>
            <a:pPr marL="0" indent="0" algn="l">
              <a:lnSpc>
                <a:spcPct val="150000"/>
              </a:lnSpc>
              <a:buNone/>
            </a:pP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00" dirty="0"/>
          </a:p>
          <a:p>
            <a:pPr marL="0" indent="0" algn="l">
              <a:lnSpc>
                <a:spcPct val="150000"/>
              </a:lnSpc>
              <a:buNone/>
            </a:pP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class</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PremiumIndividual :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public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Individual {</a:t>
            </a:r>
            <a:endParaRPr lang="en-US" sz="1800" dirty="0"/>
          </a:p>
          <a:p>
            <a:pPr marL="0" indent="0" algn="l">
              <a:lnSpc>
                <a:spcPct val="150000"/>
              </a:lnSpc>
              <a:buNone/>
            </a:pP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00" dirty="0"/>
          </a:p>
          <a:p>
            <a:pPr marL="0" indent="0" algn="l">
              <a:lnSpc>
                <a:spcPct val="150000"/>
              </a:lnSpc>
              <a:buNone/>
            </a:pP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calculateTax()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const override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 </a:t>
            </a:r>
            <a:r>
              <a:rPr lang="en-US" sz="180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return </a:t>
            </a: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Individual::calculateTax()</a:t>
            </a:r>
            <a:endParaRPr lang="en-US" sz="1800" dirty="0"/>
          </a:p>
          <a:p>
            <a:pPr marL="0" indent="0" algn="l">
              <a:lnSpc>
                <a:spcPct val="150000"/>
              </a:lnSpc>
              <a:buNone/>
            </a:pP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             + income * 0.05; }</a:t>
            </a:r>
            <a:endParaRPr lang="en-US" sz="1800" dirty="0"/>
          </a:p>
          <a:p>
            <a:pPr marL="0" indent="0" algn="l">
              <a:lnSpc>
                <a:spcPct val="150000"/>
              </a:lnSpc>
              <a:buNone/>
            </a:pPr>
            <a:r>
              <a:rPr lang="en-US" sz="180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a:t>
            </a:r>
            <a:endParaRPr lang="en-US" sz="1800" dirty="0"/>
          </a:p>
        </p:txBody>
      </p:sp>
      <p:sp>
        <p:nvSpPr>
          <p:cNvPr id="22" name="Shape 20"/>
          <p:cNvSpPr/>
          <p:nvPr/>
        </p:nvSpPr>
        <p:spPr>
          <a:xfrm>
            <a:off x="9033421" y="8297168"/>
            <a:ext cx="8101905" cy="9525"/>
          </a:xfrm>
          <a:prstGeom prst="rect">
            <a:avLst/>
          </a:prstGeom>
          <a:solidFill>
            <a:srgbClr val="D8D8D4"/>
          </a:solidFill>
        </p:spPr>
      </p:sp>
      <p:sp>
        <p:nvSpPr>
          <p:cNvPr id="23" name="Text 21"/>
          <p:cNvSpPr/>
          <p:nvPr/>
        </p:nvSpPr>
        <p:spPr>
          <a:xfrm>
            <a:off x="9338221" y="8478143"/>
            <a:ext cx="7735363" cy="323850"/>
          </a:xfrm>
          <a:prstGeom prst="rect">
            <a:avLst/>
          </a:prstGeom>
          <a:noFill/>
        </p:spPr>
        <p:txBody>
          <a:bodyPr wrap="square" lIns="25400" tIns="25400" rIns="25400" bIns="25400" rtlCol="0" anchor="t">
            <a:normAutofit/>
          </a:bodyPr>
          <a:lstStyle/>
          <a:p>
            <a:pPr marL="0" indent="0" algn="l">
              <a:buNone/>
            </a:pPr>
            <a:r>
              <a:rPr lang="en-US" sz="1725"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t-&gt;calculateTax(); </a:t>
            </a:r>
            <a:r>
              <a:rPr lang="en-US" sz="172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 10 / 20 / 15% at runtime</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08 · UNDER THE HOOD</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Exceptions, STL &amp; memory</a:t>
            </a:r>
            <a:endParaRPr lang="en-US" sz="4800" dirty="0"/>
          </a:p>
        </p:txBody>
      </p:sp>
      <p:sp>
        <p:nvSpPr>
          <p:cNvPr id="4" name="Shape 2"/>
          <p:cNvSpPr/>
          <p:nvPr/>
        </p:nvSpPr>
        <p:spPr>
          <a:xfrm>
            <a:off x="1143000" y="2373511"/>
            <a:ext cx="5130701" cy="7151489"/>
          </a:xfrm>
          <a:prstGeom prst="roundRect">
            <a:avLst>
              <a:gd name="adj" fmla="val 1114"/>
            </a:avLst>
          </a:prstGeom>
          <a:ln w="9525">
            <a:solidFill>
              <a:srgbClr val="17181A"/>
            </a:solidFill>
            <a:prstDash val="solid"/>
          </a:ln>
        </p:spPr>
      </p:sp>
      <p:sp>
        <p:nvSpPr>
          <p:cNvPr id="5" name="Text 3"/>
          <p:cNvSpPr/>
          <p:nvPr/>
        </p:nvSpPr>
        <p:spPr>
          <a:xfrm>
            <a:off x="1438275" y="2687836"/>
            <a:ext cx="4994166" cy="361950"/>
          </a:xfrm>
          <a:prstGeom prst="rect">
            <a:avLst/>
          </a:prstGeom>
          <a:noFill/>
        </p:spPr>
        <p:txBody>
          <a:bodyPr wrap="square" lIns="25400" tIns="25400" rIns="25400" bIns="25400" rtlCol="0" anchor="t">
            <a:normAutofit lnSpcReduction="10000"/>
          </a:bodyPr>
          <a:lstStyle/>
          <a:p>
            <a:pPr marL="0" indent="0" algn="l">
              <a:buNone/>
            </a:pPr>
            <a:r>
              <a:rPr lang="en-US" sz="2250" b="1" dirty="0">
                <a:solidFill>
                  <a:srgbClr val="17181A"/>
                </a:solidFill>
                <a:latin typeface="Arial" panose="020B0604020202020204" pitchFamily="34" charset="0"/>
                <a:ea typeface="Arial" panose="020B0604020202020204" pitchFamily="34" charset="-122"/>
                <a:cs typeface="Arial" panose="020B0604020202020204" pitchFamily="34" charset="-120"/>
              </a:rPr>
              <a:t>Exception handling</a:t>
            </a:r>
            <a:endParaRPr lang="en-US" sz="2250" dirty="0"/>
          </a:p>
        </p:txBody>
      </p:sp>
      <p:sp>
        <p:nvSpPr>
          <p:cNvPr id="6" name="Text 4"/>
          <p:cNvSpPr/>
          <p:nvPr/>
        </p:nvSpPr>
        <p:spPr>
          <a:xfrm>
            <a:off x="1438275" y="3202186"/>
            <a:ext cx="4676355" cy="704850"/>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A custom </a:t>
            </a: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InvalidInputException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is thrown on bad input and caught in </a:t>
            </a: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main</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a:t>
            </a:r>
            <a:endParaRPr lang="en-US" sz="1875" dirty="0"/>
          </a:p>
        </p:txBody>
      </p:sp>
      <p:sp>
        <p:nvSpPr>
          <p:cNvPr id="7" name="Shape 5"/>
          <p:cNvSpPr/>
          <p:nvPr/>
        </p:nvSpPr>
        <p:spPr>
          <a:xfrm>
            <a:off x="1438275" y="4059436"/>
            <a:ext cx="4540151" cy="1319213"/>
          </a:xfrm>
          <a:prstGeom prst="roundRect">
            <a:avLst>
              <a:gd name="adj" fmla="val 3610"/>
            </a:avLst>
          </a:prstGeom>
          <a:solidFill>
            <a:srgbClr val="F2F1EC"/>
          </a:solidFill>
          <a:ln w="9525">
            <a:solidFill>
              <a:srgbClr val="D8D8D4"/>
            </a:solidFill>
            <a:prstDash val="solid"/>
          </a:ln>
        </p:spPr>
      </p:sp>
      <p:sp>
        <p:nvSpPr>
          <p:cNvPr id="8" name="Text 6"/>
          <p:cNvSpPr/>
          <p:nvPr/>
        </p:nvSpPr>
        <p:spPr>
          <a:xfrm>
            <a:off x="1657350" y="4259461"/>
            <a:ext cx="4238205" cy="957263"/>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157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throw </a:t>
            </a: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 InvalidInput</a:t>
            </a:r>
            <a:endParaRPr lang="en-US" sz="1575" dirty="0"/>
          </a:p>
          <a:p>
            <a:pPr marL="0" indent="0" algn="l">
              <a:lnSpc>
                <a:spcPct val="150000"/>
              </a:lnSpc>
              <a:buNone/>
            </a:pP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  Exception(</a:t>
            </a:r>
            <a:endParaRPr lang="en-US" sz="1575" dirty="0"/>
          </a:p>
          <a:p>
            <a:pPr marL="0" indent="0" algn="l">
              <a:lnSpc>
                <a:spcPct val="150000"/>
              </a:lnSpc>
              <a:buNone/>
            </a:pP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    "Income &lt; 0");</a:t>
            </a:r>
            <a:endParaRPr lang="en-US" sz="1575" dirty="0"/>
          </a:p>
        </p:txBody>
      </p:sp>
      <p:sp>
        <p:nvSpPr>
          <p:cNvPr id="9" name="Shape 7"/>
          <p:cNvSpPr/>
          <p:nvPr/>
        </p:nvSpPr>
        <p:spPr>
          <a:xfrm>
            <a:off x="6578501" y="2373511"/>
            <a:ext cx="5130850" cy="7151489"/>
          </a:xfrm>
          <a:prstGeom prst="roundRect">
            <a:avLst>
              <a:gd name="adj" fmla="val 1114"/>
            </a:avLst>
          </a:prstGeom>
          <a:ln w="9525">
            <a:solidFill>
              <a:srgbClr val="17181A"/>
            </a:solidFill>
            <a:prstDash val="solid"/>
          </a:ln>
        </p:spPr>
      </p:sp>
      <p:sp>
        <p:nvSpPr>
          <p:cNvPr id="10" name="Text 8"/>
          <p:cNvSpPr/>
          <p:nvPr/>
        </p:nvSpPr>
        <p:spPr>
          <a:xfrm>
            <a:off x="6873776" y="2687836"/>
            <a:ext cx="4994330" cy="361950"/>
          </a:xfrm>
          <a:prstGeom prst="rect">
            <a:avLst/>
          </a:prstGeom>
          <a:noFill/>
        </p:spPr>
        <p:txBody>
          <a:bodyPr wrap="square" lIns="25400" tIns="25400" rIns="25400" bIns="25400" rtlCol="0" anchor="t">
            <a:normAutofit lnSpcReduction="10000"/>
          </a:bodyPr>
          <a:lstStyle/>
          <a:p>
            <a:pPr marL="0" indent="0" algn="l">
              <a:buNone/>
            </a:pPr>
            <a:r>
              <a:rPr lang="en-US" sz="2250" b="1" dirty="0">
                <a:solidFill>
                  <a:srgbClr val="17181A"/>
                </a:solidFill>
                <a:latin typeface="Arial" panose="020B0604020202020204" pitchFamily="34" charset="0"/>
                <a:ea typeface="Arial" panose="020B0604020202020204" pitchFamily="34" charset="-122"/>
                <a:cs typeface="Arial" panose="020B0604020202020204" pitchFamily="34" charset="-120"/>
              </a:rPr>
              <a:t>STL containers</a:t>
            </a:r>
            <a:endParaRPr lang="en-US" sz="2250" dirty="0"/>
          </a:p>
        </p:txBody>
      </p:sp>
      <p:sp>
        <p:nvSpPr>
          <p:cNvPr id="11" name="Text 9"/>
          <p:cNvSpPr/>
          <p:nvPr/>
        </p:nvSpPr>
        <p:spPr>
          <a:xfrm>
            <a:off x="6873776" y="3202186"/>
            <a:ext cx="4676509" cy="704850"/>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A </a:t>
            </a: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vector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holds the group; a </a:t>
            </a: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map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sums tax per category.</a:t>
            </a:r>
            <a:endParaRPr lang="en-US" sz="1875" dirty="0"/>
          </a:p>
        </p:txBody>
      </p:sp>
      <p:sp>
        <p:nvSpPr>
          <p:cNvPr id="12" name="Shape 10"/>
          <p:cNvSpPr/>
          <p:nvPr/>
        </p:nvSpPr>
        <p:spPr>
          <a:xfrm>
            <a:off x="6873776" y="4059436"/>
            <a:ext cx="4540300" cy="1338263"/>
          </a:xfrm>
          <a:prstGeom prst="roundRect">
            <a:avLst>
              <a:gd name="adj" fmla="val 3559"/>
            </a:avLst>
          </a:prstGeom>
          <a:solidFill>
            <a:srgbClr val="F2F1EC"/>
          </a:solidFill>
          <a:ln w="9525">
            <a:solidFill>
              <a:srgbClr val="D8D8D4"/>
            </a:solidFill>
            <a:prstDash val="solid"/>
          </a:ln>
        </p:spPr>
      </p:sp>
      <p:sp>
        <p:nvSpPr>
          <p:cNvPr id="13" name="Text 11"/>
          <p:cNvSpPr/>
          <p:nvPr/>
        </p:nvSpPr>
        <p:spPr>
          <a:xfrm>
            <a:off x="7092851" y="4259461"/>
            <a:ext cx="4238359" cy="976313"/>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157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vector</a:t>
            </a: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&lt;Taxpayer*&gt; group; </a:t>
            </a:r>
            <a:r>
              <a:rPr lang="en-US" sz="157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map </a:t>
            </a: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&lt;string,double&gt;</a:t>
            </a:r>
            <a:endParaRPr lang="en-US" sz="1575" dirty="0"/>
          </a:p>
          <a:p>
            <a:pPr marL="0" indent="0" algn="l">
              <a:lnSpc>
                <a:spcPct val="150000"/>
              </a:lnSpc>
              <a:buNone/>
            </a:pP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  taxByCategory;</a:t>
            </a:r>
            <a:endParaRPr lang="en-US" sz="1575" dirty="0"/>
          </a:p>
        </p:txBody>
      </p:sp>
      <p:sp>
        <p:nvSpPr>
          <p:cNvPr id="14" name="Shape 12"/>
          <p:cNvSpPr/>
          <p:nvPr/>
        </p:nvSpPr>
        <p:spPr>
          <a:xfrm>
            <a:off x="12014150" y="2373511"/>
            <a:ext cx="5130850" cy="7151489"/>
          </a:xfrm>
          <a:prstGeom prst="roundRect">
            <a:avLst>
              <a:gd name="adj" fmla="val 1114"/>
            </a:avLst>
          </a:prstGeom>
          <a:ln w="9525">
            <a:solidFill>
              <a:srgbClr val="17181A"/>
            </a:solidFill>
            <a:prstDash val="solid"/>
          </a:ln>
        </p:spPr>
      </p:sp>
      <p:sp>
        <p:nvSpPr>
          <p:cNvPr id="15" name="Text 13"/>
          <p:cNvSpPr/>
          <p:nvPr/>
        </p:nvSpPr>
        <p:spPr>
          <a:xfrm>
            <a:off x="12309425" y="2687836"/>
            <a:ext cx="4994330" cy="361950"/>
          </a:xfrm>
          <a:prstGeom prst="rect">
            <a:avLst/>
          </a:prstGeom>
          <a:noFill/>
        </p:spPr>
        <p:txBody>
          <a:bodyPr wrap="square" lIns="25400" tIns="25400" rIns="25400" bIns="25400" rtlCol="0" anchor="t">
            <a:normAutofit lnSpcReduction="10000"/>
          </a:bodyPr>
          <a:lstStyle/>
          <a:p>
            <a:pPr marL="0" indent="0" algn="l">
              <a:buNone/>
            </a:pPr>
            <a:r>
              <a:rPr lang="en-US" sz="2250" b="1" dirty="0">
                <a:solidFill>
                  <a:srgbClr val="17181A"/>
                </a:solidFill>
                <a:latin typeface="Arial" panose="020B0604020202020204" pitchFamily="34" charset="0"/>
                <a:ea typeface="Arial" panose="020B0604020202020204" pitchFamily="34" charset="-122"/>
                <a:cs typeface="Arial" panose="020B0604020202020204" pitchFamily="34" charset="-120"/>
              </a:rPr>
              <a:t>Memory management</a:t>
            </a:r>
            <a:endParaRPr lang="en-US" sz="2250" dirty="0"/>
          </a:p>
        </p:txBody>
      </p:sp>
      <p:sp>
        <p:nvSpPr>
          <p:cNvPr id="16" name="Text 14"/>
          <p:cNvSpPr/>
          <p:nvPr/>
        </p:nvSpPr>
        <p:spPr>
          <a:xfrm>
            <a:off x="12309425" y="3202186"/>
            <a:ext cx="4676509" cy="704850"/>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Every </a:t>
            </a: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new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has a matching </a:t>
            </a: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delete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 the base class has a virtual destructor.</a:t>
            </a:r>
            <a:endParaRPr lang="en-US" sz="1875" dirty="0"/>
          </a:p>
        </p:txBody>
      </p:sp>
      <p:sp>
        <p:nvSpPr>
          <p:cNvPr id="17" name="Shape 15"/>
          <p:cNvSpPr/>
          <p:nvPr/>
        </p:nvSpPr>
        <p:spPr>
          <a:xfrm>
            <a:off x="12309425" y="4059436"/>
            <a:ext cx="4540300" cy="1319213"/>
          </a:xfrm>
          <a:prstGeom prst="roundRect">
            <a:avLst>
              <a:gd name="adj" fmla="val 3610"/>
            </a:avLst>
          </a:prstGeom>
          <a:solidFill>
            <a:srgbClr val="F2F1EC"/>
          </a:solidFill>
          <a:ln w="9525">
            <a:solidFill>
              <a:srgbClr val="D8D8D4"/>
            </a:solidFill>
            <a:prstDash val="solid"/>
          </a:ln>
        </p:spPr>
      </p:sp>
      <p:sp>
        <p:nvSpPr>
          <p:cNvPr id="18" name="Text 16"/>
          <p:cNvSpPr/>
          <p:nvPr/>
        </p:nvSpPr>
        <p:spPr>
          <a:xfrm>
            <a:off x="12528500" y="4259461"/>
            <a:ext cx="4238359" cy="957263"/>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1575"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delete </a:t>
            </a: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 group[i];</a:t>
            </a:r>
            <a:endParaRPr lang="en-US" sz="1575" dirty="0"/>
          </a:p>
          <a:p>
            <a:pPr marL="0" indent="0" algn="l">
              <a:lnSpc>
                <a:spcPct val="150000"/>
              </a:lnSpc>
              <a:buNone/>
            </a:pP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group.erase(</a:t>
            </a:r>
            <a:endParaRPr lang="en-US" sz="1575" dirty="0"/>
          </a:p>
          <a:p>
            <a:pPr marL="0" indent="0" algn="l">
              <a:lnSpc>
                <a:spcPct val="150000"/>
              </a:lnSpc>
              <a:buNone/>
            </a:pPr>
            <a:r>
              <a:rPr lang="en-US" sz="1575" dirty="0">
                <a:solidFill>
                  <a:srgbClr val="17181A"/>
                </a:solidFill>
                <a:highlight>
                  <a:srgbClr val="F2F1EC"/>
                </a:highlight>
                <a:latin typeface="Courier New" panose="02070309020205020404" pitchFamily="34" charset="0"/>
                <a:ea typeface="Courier New" panose="02070309020205020404" pitchFamily="34" charset="-122"/>
                <a:cs typeface="Courier New" panose="02070309020205020404" pitchFamily="34" charset="-120"/>
              </a:rPr>
              <a:t>  group.begin()+i);</a:t>
            </a:r>
            <a:endParaRPr lang="en-US" sz="15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09 · DESIGN DECISIONS</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Choices &amp; challenges</a:t>
            </a:r>
            <a:endParaRPr lang="en-US" sz="4800" dirty="0"/>
          </a:p>
        </p:txBody>
      </p:sp>
      <p:sp>
        <p:nvSpPr>
          <p:cNvPr id="4" name="Shape 2"/>
          <p:cNvSpPr/>
          <p:nvPr/>
        </p:nvSpPr>
        <p:spPr>
          <a:xfrm>
            <a:off x="1143000" y="2783086"/>
            <a:ext cx="7734300" cy="9525"/>
          </a:xfrm>
          <a:prstGeom prst="rect">
            <a:avLst/>
          </a:prstGeom>
          <a:solidFill>
            <a:srgbClr val="17181A"/>
          </a:solidFill>
        </p:spPr>
      </p:sp>
      <p:sp>
        <p:nvSpPr>
          <p:cNvPr id="5" name="Text 3"/>
          <p:cNvSpPr/>
          <p:nvPr/>
        </p:nvSpPr>
        <p:spPr>
          <a:xfrm>
            <a:off x="1143000" y="2392561"/>
            <a:ext cx="7966329" cy="314325"/>
          </a:xfrm>
          <a:prstGeom prst="rect">
            <a:avLst/>
          </a:prstGeom>
          <a:noFill/>
        </p:spPr>
        <p:txBody>
          <a:bodyPr wrap="square" lIns="25400" tIns="25400" rIns="25400" bIns="25400" rtlCol="0" anchor="t">
            <a:normAutofit/>
          </a:bodyPr>
          <a:lstStyle/>
          <a:p>
            <a:pPr marL="0" indent="0" algn="l">
              <a:buNone/>
            </a:pPr>
            <a:r>
              <a:rPr lang="en-US" sz="165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DECISIONS WE MADE</a:t>
            </a:r>
            <a:endParaRPr lang="en-US" sz="1650" dirty="0"/>
          </a:p>
        </p:txBody>
      </p:sp>
      <p:sp>
        <p:nvSpPr>
          <p:cNvPr id="6" name="Text 4"/>
          <p:cNvSpPr/>
          <p:nvPr/>
        </p:nvSpPr>
        <p:spPr>
          <a:xfrm>
            <a:off x="1143000" y="3040261"/>
            <a:ext cx="8507730" cy="342900"/>
          </a:xfrm>
          <a:prstGeom prst="rect">
            <a:avLst/>
          </a:prstGeom>
          <a:noFill/>
        </p:spPr>
        <p:txBody>
          <a:bodyPr wrap="square" lIns="25400" tIns="25400" rIns="25400" bIns="25400" rtlCol="0" anchor="t">
            <a:normAutofit lnSpcReduction="10000"/>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No "edit taxpayer" feature — on purpose</a:t>
            </a:r>
            <a:endParaRPr lang="en-US" sz="2100" dirty="0"/>
          </a:p>
        </p:txBody>
      </p:sp>
      <p:sp>
        <p:nvSpPr>
          <p:cNvPr id="7" name="Text 5"/>
          <p:cNvSpPr/>
          <p:nvPr/>
        </p:nvSpPr>
        <p:spPr>
          <a:xfrm>
            <a:off x="1143000" y="3421261"/>
            <a:ext cx="7966329" cy="704850"/>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Input is validated at entry, so bad data never gets in; a wrong record is deleted and re-added.</a:t>
            </a:r>
            <a:endParaRPr lang="en-US" sz="1875" dirty="0"/>
          </a:p>
        </p:txBody>
      </p:sp>
      <p:sp>
        <p:nvSpPr>
          <p:cNvPr id="8" name="Text 6"/>
          <p:cNvSpPr/>
          <p:nvPr/>
        </p:nvSpPr>
        <p:spPr>
          <a:xfrm>
            <a:off x="1143000" y="4335661"/>
            <a:ext cx="8507730" cy="342900"/>
          </a:xfrm>
          <a:prstGeom prst="rect">
            <a:avLst/>
          </a:prstGeom>
          <a:noFill/>
        </p:spPr>
        <p:txBody>
          <a:bodyPr wrap="square" lIns="25400" tIns="25400" rIns="25400" bIns="25400" rtlCol="0" anchor="t">
            <a:normAutofit lnSpcReduction="10000"/>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Continue-by-default startup</a:t>
            </a:r>
            <a:endParaRPr lang="en-US" sz="2100" dirty="0"/>
          </a:p>
        </p:txBody>
      </p:sp>
      <p:sp>
        <p:nvSpPr>
          <p:cNvPr id="9" name="Text 7"/>
          <p:cNvSpPr/>
          <p:nvPr/>
        </p:nvSpPr>
        <p:spPr>
          <a:xfrm>
            <a:off x="1143000" y="4716661"/>
            <a:ext cx="8507730" cy="37147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Saving can never silently overwrite previous records.</a:t>
            </a:r>
            <a:endParaRPr lang="en-US" sz="1875" dirty="0"/>
          </a:p>
        </p:txBody>
      </p:sp>
      <p:sp>
        <p:nvSpPr>
          <p:cNvPr id="10" name="Text 8"/>
          <p:cNvSpPr/>
          <p:nvPr/>
        </p:nvSpPr>
        <p:spPr>
          <a:xfrm>
            <a:off x="1143000" y="5297686"/>
            <a:ext cx="8507730" cy="342900"/>
          </a:xfrm>
          <a:prstGeom prst="rect">
            <a:avLst/>
          </a:prstGeom>
          <a:noFill/>
        </p:spPr>
        <p:txBody>
          <a:bodyPr wrap="square" lIns="25400" tIns="25400" rIns="25400" bIns="25400" rtlCol="0" anchor="t">
            <a:normAutofit lnSpcReduction="10000"/>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One rule per type</a:t>
            </a:r>
            <a:endParaRPr lang="en-US" sz="2100" dirty="0"/>
          </a:p>
        </p:txBody>
      </p:sp>
      <p:sp>
        <p:nvSpPr>
          <p:cNvPr id="11" name="Text 9"/>
          <p:cNvSpPr/>
          <p:nvPr/>
        </p:nvSpPr>
        <p:spPr>
          <a:xfrm>
            <a:off x="1143000" y="5678686"/>
            <a:ext cx="8507730" cy="37147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Changing a rate means changing one line in one class.</a:t>
            </a:r>
            <a:endParaRPr lang="en-US" sz="1875" dirty="0"/>
          </a:p>
        </p:txBody>
      </p:sp>
      <p:sp>
        <p:nvSpPr>
          <p:cNvPr id="12" name="Shape 10"/>
          <p:cNvSpPr/>
          <p:nvPr/>
        </p:nvSpPr>
        <p:spPr>
          <a:xfrm>
            <a:off x="9410700" y="2783086"/>
            <a:ext cx="7734300" cy="9525"/>
          </a:xfrm>
          <a:prstGeom prst="rect">
            <a:avLst/>
          </a:prstGeom>
          <a:solidFill>
            <a:srgbClr val="17181A"/>
          </a:solidFill>
        </p:spPr>
      </p:sp>
      <p:sp>
        <p:nvSpPr>
          <p:cNvPr id="13" name="Text 11"/>
          <p:cNvSpPr/>
          <p:nvPr/>
        </p:nvSpPr>
        <p:spPr>
          <a:xfrm>
            <a:off x="9410700" y="2392561"/>
            <a:ext cx="7966329" cy="314325"/>
          </a:xfrm>
          <a:prstGeom prst="rect">
            <a:avLst/>
          </a:prstGeom>
          <a:noFill/>
        </p:spPr>
        <p:txBody>
          <a:bodyPr wrap="square" lIns="25400" tIns="25400" rIns="25400" bIns="25400" rtlCol="0" anchor="t">
            <a:normAutofit/>
          </a:bodyPr>
          <a:lstStyle/>
          <a:p>
            <a:pPr marL="0" indent="0" algn="l">
              <a:buNone/>
            </a:pPr>
            <a:r>
              <a:rPr lang="en-US" sz="165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CHALLENGES WE FACED</a:t>
            </a:r>
            <a:endParaRPr lang="en-US" sz="1650" dirty="0"/>
          </a:p>
        </p:txBody>
      </p:sp>
      <p:sp>
        <p:nvSpPr>
          <p:cNvPr id="14" name="Text 12"/>
          <p:cNvSpPr/>
          <p:nvPr/>
        </p:nvSpPr>
        <p:spPr>
          <a:xfrm>
            <a:off x="9410700" y="3040261"/>
            <a:ext cx="8507730" cy="342900"/>
          </a:xfrm>
          <a:prstGeom prst="rect">
            <a:avLst/>
          </a:prstGeom>
          <a:noFill/>
        </p:spPr>
        <p:txBody>
          <a:bodyPr wrap="square" lIns="25400" tIns="25400" rIns="25400" bIns="25400" rtlCol="0" anchor="t">
            <a:normAutofit lnSpcReduction="10000"/>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Robust input validation</a:t>
            </a:r>
            <a:endParaRPr lang="en-US" sz="2100" dirty="0"/>
          </a:p>
        </p:txBody>
      </p:sp>
      <p:sp>
        <p:nvSpPr>
          <p:cNvPr id="15" name="Text 13"/>
          <p:cNvSpPr/>
          <p:nvPr/>
        </p:nvSpPr>
        <p:spPr>
          <a:xfrm>
            <a:off x="9410700" y="3421261"/>
            <a:ext cx="7966329" cy="704850"/>
          </a:xfrm>
          <a:prstGeom prst="rect">
            <a:avLst/>
          </a:prstGeom>
          <a:noFill/>
        </p:spPr>
        <p:txBody>
          <a:bodyPr wrap="square" lIns="25400" tIns="25400" rIns="25400" bIns="25400" rtlCol="0" anchor="t">
            <a:normAutofit fontScale="925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Rejecting letters, negative numbers, and malformed dates without crashing.</a:t>
            </a:r>
            <a:endParaRPr lang="en-US" sz="1875" dirty="0"/>
          </a:p>
        </p:txBody>
      </p:sp>
      <p:sp>
        <p:nvSpPr>
          <p:cNvPr id="16" name="Text 14"/>
          <p:cNvSpPr/>
          <p:nvPr/>
        </p:nvSpPr>
        <p:spPr>
          <a:xfrm>
            <a:off x="9410700" y="4335661"/>
            <a:ext cx="8507730" cy="342900"/>
          </a:xfrm>
          <a:prstGeom prst="rect">
            <a:avLst/>
          </a:prstGeom>
          <a:noFill/>
        </p:spPr>
        <p:txBody>
          <a:bodyPr wrap="square" lIns="25400" tIns="25400" rIns="25400" bIns="25400" rtlCol="0" anchor="t">
            <a:normAutofit lnSpcReduction="10000"/>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Safe memory handling</a:t>
            </a:r>
            <a:endParaRPr lang="en-US" sz="2100" dirty="0"/>
          </a:p>
        </p:txBody>
      </p:sp>
      <p:sp>
        <p:nvSpPr>
          <p:cNvPr id="17" name="Text 15"/>
          <p:cNvSpPr/>
          <p:nvPr/>
        </p:nvSpPr>
        <p:spPr>
          <a:xfrm>
            <a:off x="9410700" y="4716661"/>
            <a:ext cx="8507730" cy="37147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Matching every </a:t>
            </a:r>
            <a:r>
              <a:rPr lang="en-US" sz="16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new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with a </a:t>
            </a:r>
            <a:r>
              <a:rPr lang="en-US" sz="1650" dirty="0">
                <a:solidFill>
                  <a:srgbClr val="3A3D44"/>
                </a:solidFill>
                <a:latin typeface="Courier New" panose="02070309020205020404" pitchFamily="34" charset="0"/>
                <a:ea typeface="Courier New" panose="02070309020205020404" pitchFamily="34" charset="-122"/>
                <a:cs typeface="Courier New" panose="02070309020205020404" pitchFamily="34" charset="-120"/>
              </a:rPr>
              <a:t>delete </a:t>
            </a: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 no leaks or dangling pointers.</a:t>
            </a:r>
            <a:endParaRPr lang="en-US" sz="1875" dirty="0"/>
          </a:p>
        </p:txBody>
      </p:sp>
      <p:sp>
        <p:nvSpPr>
          <p:cNvPr id="18" name="Text 16"/>
          <p:cNvSpPr/>
          <p:nvPr/>
        </p:nvSpPr>
        <p:spPr>
          <a:xfrm>
            <a:off x="9410700" y="5297686"/>
            <a:ext cx="8507730" cy="342900"/>
          </a:xfrm>
          <a:prstGeom prst="rect">
            <a:avLst/>
          </a:prstGeom>
          <a:noFill/>
        </p:spPr>
        <p:txBody>
          <a:bodyPr wrap="square" lIns="25400" tIns="25400" rIns="25400" bIns="25400" rtlCol="0" anchor="t">
            <a:normAutofit lnSpcReduction="10000"/>
          </a:bodyPr>
          <a:lstStyle/>
          <a:p>
            <a:pPr marL="0" indent="0" algn="l">
              <a:buNone/>
            </a:pPr>
            <a:r>
              <a:rPr lang="en-US" sz="2100" b="1" dirty="0">
                <a:solidFill>
                  <a:srgbClr val="17181A"/>
                </a:solidFill>
                <a:latin typeface="Arial" panose="020B0604020202020204" pitchFamily="34" charset="0"/>
                <a:ea typeface="Arial" panose="020B0604020202020204" pitchFamily="34" charset="-122"/>
                <a:cs typeface="Arial" panose="020B0604020202020204" pitchFamily="34" charset="-120"/>
              </a:rPr>
              <a:t>Reliable file format</a:t>
            </a:r>
            <a:endParaRPr lang="en-US" sz="2100" dirty="0"/>
          </a:p>
        </p:txBody>
      </p:sp>
      <p:sp>
        <p:nvSpPr>
          <p:cNvPr id="19" name="Text 17"/>
          <p:cNvSpPr/>
          <p:nvPr/>
        </p:nvSpPr>
        <p:spPr>
          <a:xfrm>
            <a:off x="9410700" y="5678686"/>
            <a:ext cx="8507730" cy="37147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3A3D44"/>
                </a:solidFill>
                <a:latin typeface="Arial" panose="020B0604020202020204" pitchFamily="34" charset="0"/>
                <a:ea typeface="Arial" panose="020B0604020202020204" pitchFamily="34" charset="-122"/>
                <a:cs typeface="Arial" panose="020B0604020202020204" pitchFamily="34" charset="-120"/>
              </a:rPr>
              <a:t>Reading records back in exactly the order they were written.</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781050"/>
            <a:ext cx="5545544"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10 · DEMO</a:t>
            </a:r>
            <a:endParaRPr lang="en-US" sz="1800" dirty="0"/>
          </a:p>
        </p:txBody>
      </p:sp>
      <p:sp>
        <p:nvSpPr>
          <p:cNvPr id="3" name="Text 1"/>
          <p:cNvSpPr/>
          <p:nvPr/>
        </p:nvSpPr>
        <p:spPr>
          <a:xfrm>
            <a:off x="1143000" y="1238250"/>
            <a:ext cx="5545544"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Schedule &amp; totals</a:t>
            </a:r>
            <a:endParaRPr lang="en-US" sz="4800" dirty="0"/>
          </a:p>
        </p:txBody>
      </p:sp>
      <p:sp>
        <p:nvSpPr>
          <p:cNvPr id="5" name="Text 3"/>
          <p:cNvSpPr/>
          <p:nvPr/>
        </p:nvSpPr>
        <p:spPr>
          <a:xfrm>
            <a:off x="11969055" y="1487686"/>
            <a:ext cx="5155677" cy="323850"/>
          </a:xfrm>
          <a:prstGeom prst="rect">
            <a:avLst/>
          </a:prstGeom>
          <a:noFill/>
        </p:spPr>
        <p:txBody>
          <a:bodyPr wrap="square" lIns="25400" tIns="25400" rIns="25400" bIns="25400" rtlCol="0" anchor="t">
            <a:normAutofit/>
          </a:bodyPr>
          <a:lstStyle/>
          <a:p>
            <a:pPr marL="0" indent="0" algn="l">
              <a:buNone/>
            </a:pPr>
            <a:endParaRPr lang="en-US" sz="1725" dirty="0"/>
          </a:p>
        </p:txBody>
      </p:sp>
      <p:sp>
        <p:nvSpPr>
          <p:cNvPr id="6" name="Shape 4"/>
          <p:cNvSpPr/>
          <p:nvPr/>
        </p:nvSpPr>
        <p:spPr>
          <a:xfrm>
            <a:off x="1143000" y="2221111"/>
            <a:ext cx="9972973" cy="7380089"/>
          </a:xfrm>
          <a:prstGeom prst="roundRect">
            <a:avLst>
              <a:gd name="adj" fmla="val 1033"/>
            </a:avLst>
          </a:prstGeom>
          <a:ln w="9525">
            <a:solidFill>
              <a:srgbClr val="17181A"/>
            </a:solidFill>
            <a:prstDash val="solid"/>
          </a:ln>
        </p:spPr>
      </p:sp>
      <p:sp>
        <p:nvSpPr>
          <p:cNvPr id="7" name="Shape 5"/>
          <p:cNvSpPr/>
          <p:nvPr/>
        </p:nvSpPr>
        <p:spPr>
          <a:xfrm>
            <a:off x="1152525" y="2716411"/>
            <a:ext cx="9953923" cy="9525"/>
          </a:xfrm>
          <a:prstGeom prst="rect">
            <a:avLst/>
          </a:prstGeom>
          <a:solidFill>
            <a:srgbClr val="D8D8D4"/>
          </a:solidFill>
        </p:spPr>
      </p:sp>
      <p:sp>
        <p:nvSpPr>
          <p:cNvPr id="8" name="Text 6"/>
          <p:cNvSpPr/>
          <p:nvPr/>
        </p:nvSpPr>
        <p:spPr>
          <a:xfrm>
            <a:off x="1381125" y="2344936"/>
            <a:ext cx="9795340" cy="295275"/>
          </a:xfrm>
          <a:prstGeom prst="rect">
            <a:avLst/>
          </a:prstGeom>
          <a:noFill/>
        </p:spPr>
        <p:txBody>
          <a:bodyPr wrap="square" lIns="25400" tIns="25400" rIns="25400" bIns="25400" rtlCol="0" anchor="t">
            <a:normAutofit/>
          </a:bodyPr>
          <a:lstStyle/>
          <a:p>
            <a:pPr marL="0" indent="0" algn="l">
              <a:buNone/>
            </a:pPr>
            <a:r>
              <a:rPr lang="en-US" sz="150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2 · View tax schedule · (Today is 2026-07-02)</a:t>
            </a:r>
            <a:endParaRPr lang="en-US" sz="1500" dirty="0"/>
          </a:p>
        </p:txBody>
      </p:sp>
      <p:sp>
        <p:nvSpPr>
          <p:cNvPr id="9" name="Shape 7"/>
          <p:cNvSpPr/>
          <p:nvPr/>
        </p:nvSpPr>
        <p:spPr>
          <a:xfrm>
            <a:off x="1400175" y="3278386"/>
            <a:ext cx="9458623" cy="9525"/>
          </a:xfrm>
          <a:prstGeom prst="rect">
            <a:avLst/>
          </a:prstGeom>
          <a:solidFill>
            <a:srgbClr val="17181A"/>
          </a:solidFill>
        </p:spPr>
      </p:sp>
      <p:sp>
        <p:nvSpPr>
          <p:cNvPr id="10" name="Text 8"/>
          <p:cNvSpPr/>
          <p:nvPr/>
        </p:nvSpPr>
        <p:spPr>
          <a:xfrm>
            <a:off x="1400175" y="2935486"/>
            <a:ext cx="495300" cy="266700"/>
          </a:xfrm>
          <a:prstGeom prst="rect">
            <a:avLst/>
          </a:prstGeom>
          <a:noFill/>
        </p:spPr>
        <p:txBody>
          <a:bodyPr wrap="square" lIns="25400" tIns="25400" rIns="25400" bIns="25400" rtlCol="0" anchor="t">
            <a:normAutofit lnSpcReduction="10000"/>
          </a:bodyPr>
          <a:lstStyle/>
          <a:p>
            <a:pPr marL="0" indent="0" algn="l">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25" dirty="0"/>
          </a:p>
        </p:txBody>
      </p:sp>
      <p:sp>
        <p:nvSpPr>
          <p:cNvPr id="11" name="Text 9"/>
          <p:cNvSpPr/>
          <p:nvPr/>
        </p:nvSpPr>
        <p:spPr>
          <a:xfrm>
            <a:off x="1914525" y="2935486"/>
            <a:ext cx="2511817" cy="266700"/>
          </a:xfrm>
          <a:prstGeom prst="rect">
            <a:avLst/>
          </a:prstGeom>
          <a:noFill/>
        </p:spPr>
        <p:txBody>
          <a:bodyPr wrap="square" lIns="25400" tIns="25400" rIns="25400" bIns="25400" rtlCol="0" anchor="t">
            <a:normAutofit lnSpcReduction="10000"/>
          </a:bodyPr>
          <a:lstStyle/>
          <a:p>
            <a:pPr marL="0" indent="0" algn="l">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NAME</a:t>
            </a:r>
            <a:endParaRPr lang="en-US" sz="1425" dirty="0"/>
          </a:p>
        </p:txBody>
      </p:sp>
      <p:sp>
        <p:nvSpPr>
          <p:cNvPr id="12" name="Text 10"/>
          <p:cNvSpPr/>
          <p:nvPr/>
        </p:nvSpPr>
        <p:spPr>
          <a:xfrm>
            <a:off x="4293245" y="2935486"/>
            <a:ext cx="2197983" cy="266700"/>
          </a:xfrm>
          <a:prstGeom prst="rect">
            <a:avLst/>
          </a:prstGeom>
          <a:noFill/>
        </p:spPr>
        <p:txBody>
          <a:bodyPr wrap="square" lIns="25400" tIns="25400" rIns="25400" bIns="25400" rtlCol="0" anchor="t">
            <a:normAutofit lnSpcReduction="10000"/>
          </a:bodyPr>
          <a:lstStyle/>
          <a:p>
            <a:pPr marL="0" indent="0" algn="l">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CATEGORY</a:t>
            </a:r>
            <a:endParaRPr lang="en-US" sz="1425" dirty="0"/>
          </a:p>
        </p:txBody>
      </p:sp>
      <p:sp>
        <p:nvSpPr>
          <p:cNvPr id="13" name="Text 11"/>
          <p:cNvSpPr/>
          <p:nvPr/>
        </p:nvSpPr>
        <p:spPr>
          <a:xfrm>
            <a:off x="6386661" y="2935486"/>
            <a:ext cx="1569824" cy="266700"/>
          </a:xfrm>
          <a:prstGeom prst="rect">
            <a:avLst/>
          </a:prstGeom>
          <a:noFill/>
        </p:spPr>
        <p:txBody>
          <a:bodyPr wrap="square" lIns="25400" tIns="25400" rIns="25400" bIns="25400" rtlCol="0" anchor="t">
            <a:normAutofit lnSpcReduction="10000"/>
          </a:bodyPr>
          <a:lstStyle/>
          <a:p>
            <a:pPr marL="0" indent="0" algn="l">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INCOME</a:t>
            </a:r>
            <a:endParaRPr lang="en-US" sz="1425" dirty="0"/>
          </a:p>
        </p:txBody>
      </p:sp>
      <p:sp>
        <p:nvSpPr>
          <p:cNvPr id="14" name="Text 12"/>
          <p:cNvSpPr/>
          <p:nvPr/>
        </p:nvSpPr>
        <p:spPr>
          <a:xfrm>
            <a:off x="7909024" y="2935486"/>
            <a:ext cx="1569988" cy="266700"/>
          </a:xfrm>
          <a:prstGeom prst="rect">
            <a:avLst/>
          </a:prstGeom>
          <a:noFill/>
        </p:spPr>
        <p:txBody>
          <a:bodyPr wrap="square" lIns="25400" tIns="25400" rIns="25400" bIns="25400" rtlCol="0" anchor="t">
            <a:normAutofit lnSpcReduction="10000"/>
          </a:bodyPr>
          <a:lstStyle/>
          <a:p>
            <a:pPr marL="0" indent="0" algn="l">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TAX</a:t>
            </a:r>
            <a:endParaRPr lang="en-US" sz="1425" dirty="0"/>
          </a:p>
        </p:txBody>
      </p:sp>
      <p:sp>
        <p:nvSpPr>
          <p:cNvPr id="15" name="Text 13"/>
          <p:cNvSpPr/>
          <p:nvPr/>
        </p:nvSpPr>
        <p:spPr>
          <a:xfrm>
            <a:off x="9431536" y="2935486"/>
            <a:ext cx="1569988" cy="266700"/>
          </a:xfrm>
          <a:prstGeom prst="rect">
            <a:avLst/>
          </a:prstGeom>
          <a:noFill/>
        </p:spPr>
        <p:txBody>
          <a:bodyPr wrap="square" lIns="25400" tIns="25400" rIns="25400" bIns="25400" rtlCol="0" anchor="t">
            <a:normAutofit lnSpcReduction="10000"/>
          </a:bodyPr>
          <a:lstStyle/>
          <a:p>
            <a:pPr marL="0" indent="0" algn="l">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STATUS</a:t>
            </a:r>
            <a:endParaRPr lang="en-US" sz="1425" dirty="0"/>
          </a:p>
        </p:txBody>
      </p:sp>
      <p:sp>
        <p:nvSpPr>
          <p:cNvPr id="16" name="Shape 14"/>
          <p:cNvSpPr/>
          <p:nvPr/>
        </p:nvSpPr>
        <p:spPr>
          <a:xfrm>
            <a:off x="1400175" y="3849886"/>
            <a:ext cx="9458623" cy="9525"/>
          </a:xfrm>
          <a:prstGeom prst="rect">
            <a:avLst/>
          </a:prstGeom>
          <a:solidFill>
            <a:srgbClr val="E6E4DE"/>
          </a:solidFill>
        </p:spPr>
      </p:sp>
      <p:sp>
        <p:nvSpPr>
          <p:cNvPr id="17" name="Text 15"/>
          <p:cNvSpPr/>
          <p:nvPr/>
        </p:nvSpPr>
        <p:spPr>
          <a:xfrm>
            <a:off x="1400175" y="3430786"/>
            <a:ext cx="495300"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50" dirty="0"/>
          </a:p>
        </p:txBody>
      </p:sp>
      <p:sp>
        <p:nvSpPr>
          <p:cNvPr id="18" name="Text 16"/>
          <p:cNvSpPr/>
          <p:nvPr/>
        </p:nvSpPr>
        <p:spPr>
          <a:xfrm>
            <a:off x="1914525" y="3430786"/>
            <a:ext cx="2511817"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Kemi</a:t>
            </a:r>
            <a:endParaRPr lang="en-US" sz="1650" dirty="0"/>
          </a:p>
        </p:txBody>
      </p:sp>
      <p:sp>
        <p:nvSpPr>
          <p:cNvPr id="19" name="Text 17"/>
          <p:cNvSpPr/>
          <p:nvPr/>
        </p:nvSpPr>
        <p:spPr>
          <a:xfrm>
            <a:off x="4293245" y="3430786"/>
            <a:ext cx="2197983"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Individual</a:t>
            </a:r>
            <a:endParaRPr lang="en-US" sz="1650" dirty="0"/>
          </a:p>
        </p:txBody>
      </p:sp>
      <p:sp>
        <p:nvSpPr>
          <p:cNvPr id="20" name="Text 18"/>
          <p:cNvSpPr/>
          <p:nvPr/>
        </p:nvSpPr>
        <p:spPr>
          <a:xfrm>
            <a:off x="6386661" y="3430786"/>
            <a:ext cx="1569824"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100000.00</a:t>
            </a:r>
            <a:endParaRPr lang="en-US" sz="1650" dirty="0"/>
          </a:p>
        </p:txBody>
      </p:sp>
      <p:sp>
        <p:nvSpPr>
          <p:cNvPr id="21" name="Text 19"/>
          <p:cNvSpPr/>
          <p:nvPr/>
        </p:nvSpPr>
        <p:spPr>
          <a:xfrm>
            <a:off x="7909024" y="3430786"/>
            <a:ext cx="1569988"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10000.00</a:t>
            </a:r>
            <a:endParaRPr lang="en-US" sz="1650" dirty="0"/>
          </a:p>
        </p:txBody>
      </p:sp>
      <p:sp>
        <p:nvSpPr>
          <p:cNvPr id="22" name="Shape 20"/>
          <p:cNvSpPr/>
          <p:nvPr/>
        </p:nvSpPr>
        <p:spPr>
          <a:xfrm>
            <a:off x="9431536" y="3421261"/>
            <a:ext cx="1427262" cy="295275"/>
          </a:xfrm>
          <a:prstGeom prst="roundRect">
            <a:avLst>
              <a:gd name="adj" fmla="val 9677"/>
            </a:avLst>
          </a:prstGeom>
          <a:solidFill>
            <a:srgbClr val="17181A"/>
          </a:solidFill>
        </p:spPr>
      </p:sp>
      <p:sp>
        <p:nvSpPr>
          <p:cNvPr id="23" name="Text 21"/>
          <p:cNvSpPr/>
          <p:nvPr/>
        </p:nvSpPr>
        <p:spPr>
          <a:xfrm>
            <a:off x="9436373" y="3449836"/>
            <a:ext cx="1417588" cy="276225"/>
          </a:xfrm>
          <a:prstGeom prst="rect">
            <a:avLst/>
          </a:prstGeom>
          <a:noFill/>
        </p:spPr>
        <p:txBody>
          <a:bodyPr wrap="square" lIns="25400" tIns="25400" rIns="25400" bIns="25400" rtlCol="0" anchor="t">
            <a:normAutofit fontScale="92500" lnSpcReduction="10000"/>
          </a:bodyPr>
          <a:lstStyle/>
          <a:p>
            <a:pPr marL="0" indent="0" algn="ctr">
              <a:buNone/>
            </a:pPr>
            <a:r>
              <a:rPr lang="en-US" sz="165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OVERDUE</a:t>
            </a:r>
            <a:endParaRPr lang="en-US" sz="1650" dirty="0"/>
          </a:p>
        </p:txBody>
      </p:sp>
      <p:sp>
        <p:nvSpPr>
          <p:cNvPr id="24" name="Shape 22"/>
          <p:cNvSpPr/>
          <p:nvPr/>
        </p:nvSpPr>
        <p:spPr>
          <a:xfrm>
            <a:off x="1400175" y="4421386"/>
            <a:ext cx="9458623" cy="9525"/>
          </a:xfrm>
          <a:prstGeom prst="rect">
            <a:avLst/>
          </a:prstGeom>
          <a:solidFill>
            <a:srgbClr val="E6E4DE"/>
          </a:solidFill>
        </p:spPr>
      </p:sp>
      <p:sp>
        <p:nvSpPr>
          <p:cNvPr id="25" name="Text 23"/>
          <p:cNvSpPr/>
          <p:nvPr/>
        </p:nvSpPr>
        <p:spPr>
          <a:xfrm>
            <a:off x="1400175" y="4002286"/>
            <a:ext cx="495300"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50" dirty="0"/>
          </a:p>
        </p:txBody>
      </p:sp>
      <p:sp>
        <p:nvSpPr>
          <p:cNvPr id="26" name="Text 24"/>
          <p:cNvSpPr/>
          <p:nvPr/>
        </p:nvSpPr>
        <p:spPr>
          <a:xfrm>
            <a:off x="1914525" y="4002286"/>
            <a:ext cx="2511817"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Otsutsuki Ltd</a:t>
            </a:r>
            <a:endParaRPr lang="en-US" sz="1650" dirty="0"/>
          </a:p>
        </p:txBody>
      </p:sp>
      <p:sp>
        <p:nvSpPr>
          <p:cNvPr id="27" name="Text 25"/>
          <p:cNvSpPr/>
          <p:nvPr/>
        </p:nvSpPr>
        <p:spPr>
          <a:xfrm>
            <a:off x="4293245" y="4002286"/>
            <a:ext cx="2197983"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Business</a:t>
            </a:r>
            <a:endParaRPr lang="en-US" sz="1650" dirty="0"/>
          </a:p>
        </p:txBody>
      </p:sp>
      <p:sp>
        <p:nvSpPr>
          <p:cNvPr id="28" name="Text 26"/>
          <p:cNvSpPr/>
          <p:nvPr/>
        </p:nvSpPr>
        <p:spPr>
          <a:xfrm>
            <a:off x="6386661" y="4002286"/>
            <a:ext cx="1569824"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1000000.00</a:t>
            </a:r>
            <a:endParaRPr lang="en-US" sz="1650" dirty="0"/>
          </a:p>
        </p:txBody>
      </p:sp>
      <p:sp>
        <p:nvSpPr>
          <p:cNvPr id="29" name="Text 27"/>
          <p:cNvSpPr/>
          <p:nvPr/>
        </p:nvSpPr>
        <p:spPr>
          <a:xfrm>
            <a:off x="7909024" y="4002286"/>
            <a:ext cx="1569988"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200000.00</a:t>
            </a:r>
            <a:endParaRPr lang="en-US" sz="1650" dirty="0"/>
          </a:p>
        </p:txBody>
      </p:sp>
      <p:sp>
        <p:nvSpPr>
          <p:cNvPr id="30" name="Shape 28"/>
          <p:cNvSpPr/>
          <p:nvPr/>
        </p:nvSpPr>
        <p:spPr>
          <a:xfrm>
            <a:off x="9431536" y="3992761"/>
            <a:ext cx="1427262" cy="295275"/>
          </a:xfrm>
          <a:prstGeom prst="roundRect">
            <a:avLst>
              <a:gd name="adj" fmla="val 9677"/>
            </a:avLst>
          </a:prstGeom>
          <a:solidFill>
            <a:srgbClr val="17181A"/>
          </a:solidFill>
        </p:spPr>
      </p:sp>
      <p:sp>
        <p:nvSpPr>
          <p:cNvPr id="31" name="Text 29"/>
          <p:cNvSpPr/>
          <p:nvPr/>
        </p:nvSpPr>
        <p:spPr>
          <a:xfrm>
            <a:off x="9436373" y="4021336"/>
            <a:ext cx="1417588" cy="276225"/>
          </a:xfrm>
          <a:prstGeom prst="rect">
            <a:avLst/>
          </a:prstGeom>
          <a:noFill/>
        </p:spPr>
        <p:txBody>
          <a:bodyPr wrap="square" lIns="25400" tIns="25400" rIns="25400" bIns="25400" rtlCol="0" anchor="t">
            <a:normAutofit fontScale="92500" lnSpcReduction="10000"/>
          </a:bodyPr>
          <a:lstStyle/>
          <a:p>
            <a:pPr marL="0" indent="0" algn="ctr">
              <a:buNone/>
            </a:pPr>
            <a:r>
              <a:rPr lang="en-US" sz="165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OVERDUE</a:t>
            </a:r>
            <a:endParaRPr lang="en-US" sz="1650" dirty="0"/>
          </a:p>
        </p:txBody>
      </p:sp>
      <p:sp>
        <p:nvSpPr>
          <p:cNvPr id="32" name="Text 30"/>
          <p:cNvSpPr/>
          <p:nvPr/>
        </p:nvSpPr>
        <p:spPr>
          <a:xfrm>
            <a:off x="1400175" y="4702373"/>
            <a:ext cx="495300"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50" dirty="0"/>
          </a:p>
        </p:txBody>
      </p:sp>
      <p:sp>
        <p:nvSpPr>
          <p:cNvPr id="33" name="Text 31"/>
          <p:cNvSpPr/>
          <p:nvPr/>
        </p:nvSpPr>
        <p:spPr>
          <a:xfrm>
            <a:off x="1914525" y="4702373"/>
            <a:ext cx="2511817"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Temmy Otsutsuki</a:t>
            </a:r>
            <a:endParaRPr lang="en-US" sz="1650" dirty="0"/>
          </a:p>
        </p:txBody>
      </p:sp>
      <p:sp>
        <p:nvSpPr>
          <p:cNvPr id="34" name="Text 32"/>
          <p:cNvSpPr/>
          <p:nvPr/>
        </p:nvSpPr>
        <p:spPr>
          <a:xfrm>
            <a:off x="4293245" y="4564261"/>
            <a:ext cx="2074366" cy="590550"/>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Premium Individual</a:t>
            </a:r>
            <a:endParaRPr lang="en-US" sz="1650" dirty="0"/>
          </a:p>
        </p:txBody>
      </p:sp>
      <p:sp>
        <p:nvSpPr>
          <p:cNvPr id="35" name="Text 33"/>
          <p:cNvSpPr/>
          <p:nvPr/>
        </p:nvSpPr>
        <p:spPr>
          <a:xfrm>
            <a:off x="6386661" y="4702373"/>
            <a:ext cx="1569824"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800000.00</a:t>
            </a:r>
            <a:endParaRPr lang="en-US" sz="1650" dirty="0"/>
          </a:p>
        </p:txBody>
      </p:sp>
      <p:sp>
        <p:nvSpPr>
          <p:cNvPr id="36" name="Text 34"/>
          <p:cNvSpPr/>
          <p:nvPr/>
        </p:nvSpPr>
        <p:spPr>
          <a:xfrm>
            <a:off x="7909024" y="4702373"/>
            <a:ext cx="1569988" cy="314325"/>
          </a:xfrm>
          <a:prstGeom prst="rect">
            <a:avLst/>
          </a:prstGeom>
          <a:noFill/>
        </p:spPr>
        <p:txBody>
          <a:bodyPr wrap="square" lIns="25400" tIns="25400" rIns="25400" bIns="25400" rtlCol="0" anchor="t">
            <a:normAutofit/>
          </a:bodyPr>
          <a:lstStyle/>
          <a:p>
            <a:pPr marL="0" indent="0" algn="l">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120000.00</a:t>
            </a:r>
            <a:endParaRPr lang="en-US" sz="1650" dirty="0"/>
          </a:p>
        </p:txBody>
      </p:sp>
      <p:sp>
        <p:nvSpPr>
          <p:cNvPr id="37" name="Shape 35"/>
          <p:cNvSpPr/>
          <p:nvPr/>
        </p:nvSpPr>
        <p:spPr>
          <a:xfrm>
            <a:off x="9431536" y="4692848"/>
            <a:ext cx="1427262" cy="295275"/>
          </a:xfrm>
          <a:prstGeom prst="roundRect">
            <a:avLst>
              <a:gd name="adj" fmla="val 9677"/>
            </a:avLst>
          </a:prstGeom>
          <a:ln w="9525">
            <a:solidFill>
              <a:srgbClr val="17181A"/>
            </a:solidFill>
            <a:prstDash val="solid"/>
          </a:ln>
        </p:spPr>
      </p:sp>
      <p:sp>
        <p:nvSpPr>
          <p:cNvPr id="38" name="Text 36"/>
          <p:cNvSpPr/>
          <p:nvPr/>
        </p:nvSpPr>
        <p:spPr>
          <a:xfrm>
            <a:off x="9445898" y="4721423"/>
            <a:ext cx="1398538" cy="276225"/>
          </a:xfrm>
          <a:prstGeom prst="rect">
            <a:avLst/>
          </a:prstGeom>
          <a:noFill/>
        </p:spPr>
        <p:txBody>
          <a:bodyPr wrap="square" lIns="25400" tIns="25400" rIns="25400" bIns="25400" rtlCol="0" anchor="t">
            <a:normAutofit fontScale="92500" lnSpcReduction="10000"/>
          </a:bodyPr>
          <a:lstStyle/>
          <a:p>
            <a:pPr marL="0" indent="0" algn="ctr">
              <a:buNone/>
            </a:pPr>
            <a:r>
              <a:rPr lang="en-US" sz="1650" b="1"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PAID</a:t>
            </a:r>
            <a:endParaRPr lang="en-US" sz="1650" dirty="0"/>
          </a:p>
        </p:txBody>
      </p:sp>
      <p:sp>
        <p:nvSpPr>
          <p:cNvPr id="39" name="Shape 37"/>
          <p:cNvSpPr/>
          <p:nvPr/>
        </p:nvSpPr>
        <p:spPr>
          <a:xfrm>
            <a:off x="11535073" y="2221111"/>
            <a:ext cx="5609779" cy="7380089"/>
          </a:xfrm>
          <a:prstGeom prst="roundRect">
            <a:avLst>
              <a:gd name="adj" fmla="val 1358"/>
            </a:avLst>
          </a:prstGeom>
          <a:ln w="9525">
            <a:solidFill>
              <a:srgbClr val="17181A"/>
            </a:solidFill>
            <a:prstDash val="solid"/>
          </a:ln>
        </p:spPr>
      </p:sp>
      <p:sp>
        <p:nvSpPr>
          <p:cNvPr id="40" name="Shape 38"/>
          <p:cNvSpPr/>
          <p:nvPr/>
        </p:nvSpPr>
        <p:spPr>
          <a:xfrm>
            <a:off x="11544598" y="2716411"/>
            <a:ext cx="5590729" cy="9525"/>
          </a:xfrm>
          <a:prstGeom prst="rect">
            <a:avLst/>
          </a:prstGeom>
          <a:solidFill>
            <a:srgbClr val="D8D8D4"/>
          </a:solidFill>
        </p:spPr>
      </p:sp>
      <p:sp>
        <p:nvSpPr>
          <p:cNvPr id="41" name="Text 39"/>
          <p:cNvSpPr/>
          <p:nvPr/>
        </p:nvSpPr>
        <p:spPr>
          <a:xfrm>
            <a:off x="11773198" y="2344936"/>
            <a:ext cx="5301250" cy="295275"/>
          </a:xfrm>
          <a:prstGeom prst="rect">
            <a:avLst/>
          </a:prstGeom>
          <a:noFill/>
        </p:spPr>
        <p:txBody>
          <a:bodyPr wrap="square" lIns="25400" tIns="25400" rIns="25400" bIns="25400" rtlCol="0" anchor="t">
            <a:normAutofit/>
          </a:bodyPr>
          <a:lstStyle/>
          <a:p>
            <a:pPr marL="0" indent="0" algn="l">
              <a:buNone/>
            </a:pPr>
            <a:r>
              <a:rPr lang="en-US" sz="150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3 · View totals</a:t>
            </a:r>
            <a:endParaRPr lang="en-US" sz="1500" dirty="0"/>
          </a:p>
        </p:txBody>
      </p:sp>
      <p:sp>
        <p:nvSpPr>
          <p:cNvPr id="42" name="Text 40"/>
          <p:cNvSpPr/>
          <p:nvPr/>
        </p:nvSpPr>
        <p:spPr>
          <a:xfrm>
            <a:off x="11792248" y="2935486"/>
            <a:ext cx="5248291" cy="354806"/>
          </a:xfrm>
          <a:prstGeom prst="rect">
            <a:avLst/>
          </a:prstGeom>
          <a:noFill/>
        </p:spPr>
        <p:txBody>
          <a:bodyPr wrap="square" lIns="25400" tIns="25400" rIns="25400" bIns="25400" rtlCol="0" anchor="t">
            <a:normAutofit fontScale="92500" lnSpcReduction="10000"/>
          </a:bodyPr>
          <a:lstStyle/>
          <a:p>
            <a:pPr marL="0" indent="0" algn="l">
              <a:lnSpc>
                <a:spcPct val="175000"/>
              </a:lnSpc>
              <a:buNone/>
            </a:pPr>
            <a:r>
              <a:rPr lang="en-US" sz="1425" kern="0" spc="38"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TAX BY CATEGORY</a:t>
            </a:r>
            <a:endParaRPr lang="en-US" sz="1425" dirty="0"/>
          </a:p>
        </p:txBody>
      </p:sp>
      <p:sp>
        <p:nvSpPr>
          <p:cNvPr id="43" name="Text 41"/>
          <p:cNvSpPr/>
          <p:nvPr/>
        </p:nvSpPr>
        <p:spPr>
          <a:xfrm>
            <a:off x="11792248" y="3347442"/>
            <a:ext cx="2465189" cy="314325"/>
          </a:xfrm>
          <a:prstGeom prst="rect">
            <a:avLst/>
          </a:prstGeom>
          <a:noFill/>
        </p:spPr>
        <p:txBody>
          <a:bodyPr wrap="square" lIns="0" tIns="0" rIns="0" bIns="0" rtlCol="0" anchor="t">
            <a:normAutofit fontScale="85000" lnSpcReduction="20000"/>
          </a:bodyPr>
          <a:lstStyle/>
          <a:p>
            <a:pPr marL="0" indent="0" algn="l">
              <a:lnSpc>
                <a:spcPct val="175000"/>
              </a:lnSpc>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Business: 200000.00</a:t>
            </a:r>
            <a:endParaRPr lang="en-US" sz="1650" dirty="0"/>
          </a:p>
        </p:txBody>
      </p:sp>
      <p:sp>
        <p:nvSpPr>
          <p:cNvPr id="44" name="Text 42"/>
          <p:cNvSpPr/>
          <p:nvPr/>
        </p:nvSpPr>
        <p:spPr>
          <a:xfrm>
            <a:off x="11792248" y="3714155"/>
            <a:ext cx="2590800" cy="314325"/>
          </a:xfrm>
          <a:prstGeom prst="rect">
            <a:avLst/>
          </a:prstGeom>
          <a:noFill/>
        </p:spPr>
        <p:txBody>
          <a:bodyPr wrap="square" lIns="0" tIns="0" rIns="0" bIns="0" rtlCol="0" anchor="t">
            <a:normAutofit fontScale="85000" lnSpcReduction="20000"/>
          </a:bodyPr>
          <a:lstStyle/>
          <a:p>
            <a:pPr marL="0" indent="0" algn="l">
              <a:lnSpc>
                <a:spcPct val="175000"/>
              </a:lnSpc>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Individual: 10000.00</a:t>
            </a:r>
            <a:endParaRPr lang="en-US" sz="1650" dirty="0"/>
          </a:p>
        </p:txBody>
      </p:sp>
      <p:sp>
        <p:nvSpPr>
          <p:cNvPr id="45" name="Text 43"/>
          <p:cNvSpPr/>
          <p:nvPr/>
        </p:nvSpPr>
        <p:spPr>
          <a:xfrm>
            <a:off x="11792248" y="4080867"/>
            <a:ext cx="3755678" cy="314325"/>
          </a:xfrm>
          <a:prstGeom prst="rect">
            <a:avLst/>
          </a:prstGeom>
          <a:noFill/>
        </p:spPr>
        <p:txBody>
          <a:bodyPr wrap="square" lIns="0" tIns="0" rIns="0" bIns="0" rtlCol="0" anchor="t">
            <a:normAutofit fontScale="85000" lnSpcReduction="20000"/>
          </a:bodyPr>
          <a:lstStyle/>
          <a:p>
            <a:pPr marL="0" indent="0" algn="l">
              <a:lnSpc>
                <a:spcPct val="175000"/>
              </a:lnSpc>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Premium Individual: 120000.00</a:t>
            </a:r>
            <a:endParaRPr lang="en-US" sz="1650" dirty="0"/>
          </a:p>
        </p:txBody>
      </p:sp>
      <p:sp>
        <p:nvSpPr>
          <p:cNvPr id="46" name="Shape 44"/>
          <p:cNvSpPr/>
          <p:nvPr/>
        </p:nvSpPr>
        <p:spPr>
          <a:xfrm>
            <a:off x="11792248" y="4542830"/>
            <a:ext cx="5095429" cy="9525"/>
          </a:xfrm>
          <a:prstGeom prst="rect">
            <a:avLst/>
          </a:prstGeom>
          <a:solidFill>
            <a:srgbClr val="E6E4DE"/>
          </a:solidFill>
        </p:spPr>
      </p:sp>
      <p:sp>
        <p:nvSpPr>
          <p:cNvPr id="47" name="Text 45"/>
          <p:cNvSpPr/>
          <p:nvPr/>
        </p:nvSpPr>
        <p:spPr>
          <a:xfrm>
            <a:off x="11792248" y="4723805"/>
            <a:ext cx="2849103" cy="314325"/>
          </a:xfrm>
          <a:prstGeom prst="rect">
            <a:avLst/>
          </a:prstGeom>
          <a:noFill/>
        </p:spPr>
        <p:txBody>
          <a:bodyPr wrap="square" lIns="0" tIns="0" rIns="0" bIns="0" rtlCol="0" anchor="t">
            <a:normAutofit fontScale="85000" lnSpcReduction="20000"/>
          </a:bodyPr>
          <a:lstStyle/>
          <a:p>
            <a:pPr marL="0" indent="0" algn="l">
              <a:lnSpc>
                <a:spcPct val="175000"/>
              </a:lnSpc>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Total tax: 330000.00</a:t>
            </a:r>
            <a:endParaRPr lang="en-US" sz="1650" dirty="0"/>
          </a:p>
        </p:txBody>
      </p:sp>
      <p:sp>
        <p:nvSpPr>
          <p:cNvPr id="48" name="Text 46"/>
          <p:cNvSpPr/>
          <p:nvPr/>
        </p:nvSpPr>
        <p:spPr>
          <a:xfrm>
            <a:off x="11792248" y="5090517"/>
            <a:ext cx="2849103" cy="314325"/>
          </a:xfrm>
          <a:prstGeom prst="rect">
            <a:avLst/>
          </a:prstGeom>
          <a:noFill/>
        </p:spPr>
        <p:txBody>
          <a:bodyPr wrap="square" lIns="0" tIns="0" rIns="0" bIns="0" rtlCol="0" anchor="t">
            <a:normAutofit fontScale="85000" lnSpcReduction="20000"/>
          </a:bodyPr>
          <a:lstStyle/>
          <a:p>
            <a:pPr marL="0" indent="0" algn="l">
              <a:lnSpc>
                <a:spcPct val="175000"/>
              </a:lnSpc>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Paid: 120000.00</a:t>
            </a:r>
            <a:endParaRPr lang="en-US" sz="1650" dirty="0"/>
          </a:p>
        </p:txBody>
      </p:sp>
      <p:sp>
        <p:nvSpPr>
          <p:cNvPr id="49" name="Text 47"/>
          <p:cNvSpPr/>
          <p:nvPr/>
        </p:nvSpPr>
        <p:spPr>
          <a:xfrm>
            <a:off x="11792248" y="5457230"/>
            <a:ext cx="2849103" cy="314325"/>
          </a:xfrm>
          <a:prstGeom prst="rect">
            <a:avLst/>
          </a:prstGeom>
          <a:noFill/>
        </p:spPr>
        <p:txBody>
          <a:bodyPr wrap="square" lIns="0" tIns="0" rIns="0" bIns="0" rtlCol="0" anchor="t">
            <a:normAutofit fontScale="85000" lnSpcReduction="20000"/>
          </a:bodyPr>
          <a:lstStyle/>
          <a:p>
            <a:pPr marL="0" indent="0" algn="l">
              <a:lnSpc>
                <a:spcPct val="175000"/>
              </a:lnSpc>
              <a:buNone/>
            </a:pPr>
            <a:r>
              <a:rPr lang="en-US" sz="1650" dirty="0">
                <a:solidFill>
                  <a:srgbClr val="17181A"/>
                </a:solidFill>
                <a:latin typeface="Courier New" panose="02070309020205020404" pitchFamily="34" charset="0"/>
                <a:ea typeface="Courier New" panose="02070309020205020404" pitchFamily="34" charset="-122"/>
                <a:cs typeface="Courier New" panose="02070309020205020404" pitchFamily="34" charset="-120"/>
              </a:rPr>
              <a:t>Outstanding: 210000.00</a:t>
            </a:r>
            <a:endParaRPr lang="en-US" sz="1650" dirty="0"/>
          </a:p>
        </p:txBody>
      </p:sp>
      <p:sp>
        <p:nvSpPr>
          <p:cNvPr id="50" name="Shape 48"/>
          <p:cNvSpPr/>
          <p:nvPr/>
        </p:nvSpPr>
        <p:spPr>
          <a:xfrm>
            <a:off x="11792248" y="5938242"/>
            <a:ext cx="5095429" cy="742950"/>
          </a:xfrm>
          <a:prstGeom prst="roundRect">
            <a:avLst>
              <a:gd name="adj" fmla="val 5128"/>
            </a:avLst>
          </a:prstGeom>
          <a:solidFill>
            <a:srgbClr val="17181A"/>
          </a:solidFill>
        </p:spPr>
      </p:sp>
      <p:sp>
        <p:nvSpPr>
          <p:cNvPr id="51" name="Text 49"/>
          <p:cNvSpPr/>
          <p:nvPr/>
        </p:nvSpPr>
        <p:spPr>
          <a:xfrm>
            <a:off x="11925598" y="6052542"/>
            <a:ext cx="4981591" cy="552450"/>
          </a:xfrm>
          <a:prstGeom prst="rect">
            <a:avLst/>
          </a:prstGeom>
          <a:noFill/>
        </p:spPr>
        <p:txBody>
          <a:bodyPr wrap="square" lIns="25400" tIns="25400" rIns="25400" bIns="25400" rtlCol="0" anchor="t">
            <a:normAutofit fontScale="92500" lnSpcReduction="20000"/>
          </a:bodyPr>
          <a:lstStyle/>
          <a:p>
            <a:pPr marL="0" indent="0" algn="l">
              <a:lnSpc>
                <a:spcPct val="135000"/>
              </a:lnSpc>
              <a:buNone/>
            </a:pPr>
            <a:r>
              <a:rPr lang="en-US" sz="15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OVERDUE: 2 taxpayer(s) owing 210000.00 past the due date!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7602200" cy="342900"/>
          </a:xfrm>
          <a:prstGeom prst="rect">
            <a:avLst/>
          </a:prstGeom>
          <a:noFill/>
        </p:spPr>
        <p:txBody>
          <a:bodyPr wrap="square" lIns="25400" tIns="25400" rIns="25400" bIns="25400" rtlCol="0" anchor="t">
            <a:normAutofit/>
          </a:bodyPr>
          <a:lstStyle/>
          <a:p>
            <a:pPr marL="0" indent="0" algn="l">
              <a:buNone/>
            </a:pPr>
            <a:r>
              <a:rPr lang="en-US" sz="1800" kern="0" spc="150" dirty="0">
                <a:solidFill>
                  <a:srgbClr val="565962"/>
                </a:solidFill>
                <a:latin typeface="Courier New" panose="02070309020205020404" pitchFamily="34" charset="0"/>
                <a:ea typeface="Courier New" panose="02070309020205020404" pitchFamily="34" charset="-122"/>
                <a:cs typeface="Courier New" panose="02070309020205020404" pitchFamily="34" charset="-120"/>
              </a:rPr>
              <a:t>11 · CONCLUSION</a:t>
            </a:r>
            <a:endParaRPr lang="en-US" sz="1800" dirty="0"/>
          </a:p>
        </p:txBody>
      </p:sp>
      <p:sp>
        <p:nvSpPr>
          <p:cNvPr id="3" name="Text 1"/>
          <p:cNvSpPr/>
          <p:nvPr/>
        </p:nvSpPr>
        <p:spPr>
          <a:xfrm>
            <a:off x="1143000" y="1314450"/>
            <a:ext cx="17602200" cy="678061"/>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4800" dirty="0">
                <a:solidFill>
                  <a:srgbClr val="17181A"/>
                </a:solidFill>
                <a:latin typeface="Georgia" panose="02040502050405020303" pitchFamily="34" charset="0"/>
                <a:ea typeface="Georgia" panose="02040502050405020303" pitchFamily="34" charset="-122"/>
                <a:cs typeface="Georgia" panose="02040502050405020303" pitchFamily="34" charset="-120"/>
              </a:rPr>
              <a:t>What we built &amp; what's next</a:t>
            </a:r>
            <a:endParaRPr lang="en-US" sz="4800" dirty="0"/>
          </a:p>
        </p:txBody>
      </p:sp>
      <p:sp>
        <p:nvSpPr>
          <p:cNvPr id="4" name="Text 2"/>
          <p:cNvSpPr/>
          <p:nvPr/>
        </p:nvSpPr>
        <p:spPr>
          <a:xfrm>
            <a:off x="1143000" y="4471988"/>
            <a:ext cx="7927086" cy="1935361"/>
          </a:xfrm>
          <a:prstGeom prst="rect">
            <a:avLst/>
          </a:prstGeom>
          <a:noFill/>
        </p:spPr>
        <p:txBody>
          <a:bodyPr wrap="square" lIns="25400" tIns="25400" rIns="25400" bIns="25400" rtlCol="0" anchor="t">
            <a:normAutofit fontScale="92500" lnSpcReduction="20000"/>
          </a:bodyPr>
          <a:lstStyle/>
          <a:p>
            <a:pPr marL="0" indent="0" algn="l">
              <a:lnSpc>
                <a:spcPct val="145000"/>
              </a:lnSpc>
              <a:buNone/>
            </a:pPr>
            <a:r>
              <a:rPr lang="en-US" sz="2550" dirty="0">
                <a:solidFill>
                  <a:srgbClr val="17181A"/>
                </a:solidFill>
                <a:latin typeface="Arial" panose="020B0604020202020204" pitchFamily="34" charset="0"/>
                <a:ea typeface="Arial" panose="020B0604020202020204" pitchFamily="34" charset="-122"/>
                <a:cs typeface="Arial" panose="020B0604020202020204" pitchFamily="34" charset="-120"/>
              </a:rPr>
              <a:t>The Group Tax Scheduler applies </a:t>
            </a:r>
            <a:r>
              <a:rPr lang="en-US" sz="2550" b="1" dirty="0">
                <a:solidFill>
                  <a:srgbClr val="17181A"/>
                </a:solidFill>
                <a:latin typeface="Arial" panose="020B0604020202020204" pitchFamily="34" charset="0"/>
                <a:ea typeface="Arial" panose="020B0604020202020204" pitchFamily="34" charset="-122"/>
                <a:cs typeface="Arial" panose="020B0604020202020204" pitchFamily="34" charset="-120"/>
              </a:rPr>
              <a:t>every core OOP concept </a:t>
            </a:r>
            <a:r>
              <a:rPr lang="en-US" sz="2550" dirty="0">
                <a:solidFill>
                  <a:srgbClr val="17181A"/>
                </a:solidFill>
                <a:latin typeface="Arial" panose="020B0604020202020204" pitchFamily="34" charset="0"/>
                <a:ea typeface="Arial" panose="020B0604020202020204" pitchFamily="34" charset="-122"/>
                <a:cs typeface="Arial" panose="020B0604020202020204" pitchFamily="34" charset="-120"/>
              </a:rPr>
              <a:t>from the course — encapsulation, abstraction, inheritance, and polymorphism — in a working, useful program.</a:t>
            </a:r>
            <a:endParaRPr lang="en-US" sz="2550" dirty="0"/>
          </a:p>
        </p:txBody>
      </p:sp>
      <p:sp>
        <p:nvSpPr>
          <p:cNvPr id="5" name="Text 3"/>
          <p:cNvSpPr/>
          <p:nvPr/>
        </p:nvSpPr>
        <p:spPr>
          <a:xfrm>
            <a:off x="1143000" y="6616898"/>
            <a:ext cx="7927086" cy="866775"/>
          </a:xfrm>
          <a:prstGeom prst="rect">
            <a:avLst/>
          </a:prstGeom>
          <a:noFill/>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A3D44"/>
                </a:solidFill>
                <a:latin typeface="Arial" panose="020B0604020202020204" pitchFamily="34" charset="0"/>
                <a:ea typeface="Arial" panose="020B0604020202020204" pitchFamily="34" charset="-122"/>
                <a:cs typeface="Arial" panose="020B0604020202020204" pitchFamily="34" charset="-120"/>
              </a:rPr>
              <a:t>It calculates tax automatically, tracks payment and overdue status, and keeps records safely in a file between runs.</a:t>
            </a:r>
            <a:endParaRPr lang="en-US" sz="2250" dirty="0"/>
          </a:p>
        </p:txBody>
      </p:sp>
      <p:sp>
        <p:nvSpPr>
          <p:cNvPr id="6" name="Shape 4"/>
          <p:cNvSpPr/>
          <p:nvPr/>
        </p:nvSpPr>
        <p:spPr>
          <a:xfrm>
            <a:off x="9448800" y="2783086"/>
            <a:ext cx="7696200" cy="9525"/>
          </a:xfrm>
          <a:prstGeom prst="rect">
            <a:avLst/>
          </a:prstGeom>
          <a:solidFill>
            <a:srgbClr val="17181A"/>
          </a:solidFill>
        </p:spPr>
      </p:sp>
      <p:sp>
        <p:nvSpPr>
          <p:cNvPr id="7" name="Text 5"/>
          <p:cNvSpPr/>
          <p:nvPr/>
        </p:nvSpPr>
        <p:spPr>
          <a:xfrm>
            <a:off x="9448800" y="2392561"/>
            <a:ext cx="7927086" cy="314325"/>
          </a:xfrm>
          <a:prstGeom prst="rect">
            <a:avLst/>
          </a:prstGeom>
          <a:noFill/>
        </p:spPr>
        <p:txBody>
          <a:bodyPr wrap="square" lIns="25400" tIns="25400" rIns="25400" bIns="25400" rtlCol="0" anchor="t">
            <a:normAutofit/>
          </a:bodyPr>
          <a:lstStyle/>
          <a:p>
            <a:pPr marL="0" indent="0" algn="l">
              <a:buNone/>
            </a:pPr>
            <a:r>
              <a:rPr lang="en-US" sz="1650" kern="0" spc="75" dirty="0">
                <a:solidFill>
                  <a:srgbClr val="8A8D94"/>
                </a:solidFill>
                <a:latin typeface="Courier New" panose="02070309020205020404" pitchFamily="34" charset="0"/>
                <a:ea typeface="Courier New" panose="02070309020205020404" pitchFamily="34" charset="-122"/>
                <a:cs typeface="Courier New" panose="02070309020205020404" pitchFamily="34" charset="-120"/>
              </a:rPr>
              <a:t>FUTURE IMPROVEMENTS</a:t>
            </a:r>
            <a:endParaRPr lang="en-US" sz="1650" dirty="0"/>
          </a:p>
        </p:txBody>
      </p:sp>
      <p:sp>
        <p:nvSpPr>
          <p:cNvPr id="8" name="Text 6"/>
          <p:cNvSpPr/>
          <p:nvPr/>
        </p:nvSpPr>
        <p:spPr>
          <a:xfrm>
            <a:off x="9448800" y="3002161"/>
            <a:ext cx="158800" cy="333375"/>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9" name="Text 7"/>
          <p:cNvSpPr/>
          <p:nvPr/>
        </p:nvSpPr>
        <p:spPr>
          <a:xfrm>
            <a:off x="9683800" y="3002161"/>
            <a:ext cx="6905982" cy="39811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17181A"/>
                </a:solidFill>
                <a:latin typeface="Arial" panose="020B0604020202020204" pitchFamily="34" charset="0"/>
                <a:ea typeface="Arial" panose="020B0604020202020204" pitchFamily="34" charset="-122"/>
                <a:cs typeface="Arial" panose="020B0604020202020204" pitchFamily="34" charset="-120"/>
              </a:rPr>
              <a:t>Full calendar-aware date validation (e.g. reject Feb 30)</a:t>
            </a:r>
            <a:endParaRPr lang="en-US" sz="2025" dirty="0"/>
          </a:p>
        </p:txBody>
      </p:sp>
      <p:sp>
        <p:nvSpPr>
          <p:cNvPr id="10" name="Text 8"/>
          <p:cNvSpPr/>
          <p:nvPr/>
        </p:nvSpPr>
        <p:spPr>
          <a:xfrm>
            <a:off x="9448800" y="3571726"/>
            <a:ext cx="158800" cy="333375"/>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11" name="Text 9"/>
          <p:cNvSpPr/>
          <p:nvPr/>
        </p:nvSpPr>
        <p:spPr>
          <a:xfrm>
            <a:off x="9683800" y="3571726"/>
            <a:ext cx="6390948" cy="39811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17181A"/>
                </a:solidFill>
                <a:latin typeface="Arial" panose="020B0604020202020204" pitchFamily="34" charset="0"/>
                <a:ea typeface="Arial" panose="020B0604020202020204" pitchFamily="34" charset="-122"/>
                <a:cs typeface="Arial" panose="020B0604020202020204" pitchFamily="34" charset="-120"/>
              </a:rPr>
              <a:t>Per-taxpayer due dates instead of one shared date</a:t>
            </a:r>
            <a:endParaRPr lang="en-US" sz="2025" dirty="0"/>
          </a:p>
        </p:txBody>
      </p:sp>
      <p:sp>
        <p:nvSpPr>
          <p:cNvPr id="12" name="Text 10"/>
          <p:cNvSpPr/>
          <p:nvPr/>
        </p:nvSpPr>
        <p:spPr>
          <a:xfrm>
            <a:off x="9448800" y="4141291"/>
            <a:ext cx="158800" cy="333375"/>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13" name="Text 11"/>
          <p:cNvSpPr/>
          <p:nvPr/>
        </p:nvSpPr>
        <p:spPr>
          <a:xfrm>
            <a:off x="9683800" y="4141291"/>
            <a:ext cx="3338557" cy="39811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17181A"/>
                </a:solidFill>
                <a:latin typeface="Arial" panose="020B0604020202020204" pitchFamily="34" charset="0"/>
                <a:ea typeface="Arial" panose="020B0604020202020204" pitchFamily="34" charset="-122"/>
                <a:cs typeface="Arial" panose="020B0604020202020204" pitchFamily="34" charset="-120"/>
              </a:rPr>
              <a:t>Search taxpayers by name</a:t>
            </a:r>
            <a:endParaRPr lang="en-US" sz="2025" dirty="0"/>
          </a:p>
        </p:txBody>
      </p:sp>
      <p:sp>
        <p:nvSpPr>
          <p:cNvPr id="14" name="Text 12"/>
          <p:cNvSpPr/>
          <p:nvPr/>
        </p:nvSpPr>
        <p:spPr>
          <a:xfrm>
            <a:off x="9448800" y="4710857"/>
            <a:ext cx="158800" cy="333375"/>
          </a:xfrm>
          <a:prstGeom prst="rect">
            <a:avLst/>
          </a:prstGeom>
          <a:noFill/>
        </p:spPr>
        <p:txBody>
          <a:bodyPr wrap="square" lIns="25400" tIns="25400" rIns="25400" bIns="25400" rtlCol="0" anchor="t">
            <a:normAutofit lnSpcReduction="10000"/>
          </a:bodyPr>
          <a:lstStyle/>
          <a:p>
            <a:pPr marL="0" indent="0" algn="l">
              <a:buNone/>
            </a:pPr>
            <a:r>
              <a:rPr lang="en-US" sz="1950" b="1" dirty="0">
                <a:solidFill>
                  <a:srgbClr val="17181A"/>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15" name="Text 13"/>
          <p:cNvSpPr/>
          <p:nvPr/>
        </p:nvSpPr>
        <p:spPr>
          <a:xfrm>
            <a:off x="9683800" y="4710857"/>
            <a:ext cx="5356294" cy="398115"/>
          </a:xfrm>
          <a:prstGeom prst="rect">
            <a:avLst/>
          </a:prstGeom>
          <a:noFill/>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17181A"/>
                </a:solidFill>
                <a:latin typeface="Arial" panose="020B0604020202020204" pitchFamily="34" charset="0"/>
                <a:ea typeface="Arial" panose="020B0604020202020204" pitchFamily="34" charset="-122"/>
                <a:cs typeface="Arial" panose="020B0604020202020204" pitchFamily="34" charset="-120"/>
              </a:rPr>
              <a:t>Payment history and receipts per taxpayer</a:t>
            </a:r>
            <a:endParaRPr lang="en-US" sz="2025" dirty="0"/>
          </a:p>
        </p:txBody>
      </p:sp>
      <p:sp>
        <p:nvSpPr>
          <p:cNvPr id="16" name="Text 14"/>
          <p:cNvSpPr/>
          <p:nvPr/>
        </p:nvSpPr>
        <p:spPr>
          <a:xfrm>
            <a:off x="9448800" y="5413772"/>
            <a:ext cx="8465820" cy="400050"/>
          </a:xfrm>
          <a:prstGeom prst="rect">
            <a:avLst/>
          </a:prstGeom>
          <a:noFill/>
        </p:spPr>
        <p:txBody>
          <a:bodyPr wrap="square" lIns="25400" tIns="25400" rIns="25400" bIns="25400" rtlCol="0" anchor="t">
            <a:normAutofit fontScale="92500" lnSpcReduction="10000"/>
          </a:bodyPr>
          <a:lstStyle/>
          <a:p>
            <a:pPr marL="0" indent="0" algn="l">
              <a:buNone/>
            </a:pPr>
            <a:r>
              <a:rPr lang="en-US" sz="2550" i="1" dirty="0">
                <a:solidFill>
                  <a:srgbClr val="17181A"/>
                </a:solidFill>
                <a:latin typeface="Georgia" panose="02040502050405020303" pitchFamily="34" charset="0"/>
                <a:ea typeface="Georgia" panose="02040502050405020303" pitchFamily="34" charset="-122"/>
                <a:cs typeface="Georgia" panose="02040502050405020303" pitchFamily="34" charset="-120"/>
              </a:rPr>
              <a:t>Thank you — questions welcome.</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6259</Words>
  <Application>WPS Presentation</Application>
  <PresentationFormat>Custom</PresentationFormat>
  <Paragraphs>455</Paragraphs>
  <Slides>13</Slides>
  <Notes>13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Courier New</vt:lpstr>
      <vt:lpstr>Courier New</vt:lpstr>
      <vt:lpstr>Courier New</vt:lpstr>
      <vt:lpstr>Georgia</vt:lpstr>
      <vt:lpstr>Georgia</vt:lpstr>
      <vt:lpstr>Georgia</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Oluwaseyi Temitope</cp:lastModifiedBy>
  <cp:revision>4</cp:revision>
  <dcterms:created xsi:type="dcterms:W3CDTF">2026-07-02T20:42:00Z</dcterms:created>
  <dcterms:modified xsi:type="dcterms:W3CDTF">2026-07-03T06:45:06Z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1E50B89DD2DB459C8DCF06E1543B1654_12</vt:lpwstr>
  </property>
  <property fmtid="{D5CDD505-2E9C-101B-9397-08002B2CF9AE}" pid="3" name="KSOProductBuildVer">
    <vt:lpwstr>1033-12.1.0.26880</vt:lpwstr>
  </property>
</Properties>
</file>