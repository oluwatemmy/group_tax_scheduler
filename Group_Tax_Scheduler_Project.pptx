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48" d="100"/>
          <a:sy n="48" d="100"/>
        </p:scale>
        <p:origin x="42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option A: a mock console window. Good morning — our group project is the Group Tax Scheduler, an object-oriented C++ console application built for CSC 301. Read the members off the prompt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group is nineteen students, listed here in alphabetical order with matric numbers. [Optionally read a few names or just note the group size.] All nineteen of us contributed to the design, coding, and testing of the Group Tax Scheduler.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for a group of taxpayers, tax has to be worked out by hand for each person, and someone has to remember who has paid and who is late. Doing this on paper or a spreadsheet is slow and easy to get wrong. Our program turns that whole job into a single, reliable console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objectives. First, apply the core OOP principles to a program that is actually useful, not just a toy example. Second, automate tax calculation and payment tracking for a group of people. Third, practise clean software design — input validation, error handling, and saving data to a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wrote the program in C++, compiled with g++ 16 from MSYS2. We used VS Code as our editor. The whole project builds with one static command, shown at the bottom — static linking means the .exe runs on any Windows machine without extra libraries.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runs from a nine-option menu, shown on the right. You add and now delete taxpayers, view the schedule and the totals, mark someone as paid, change the shared due date at any time, and save or load the data. Two new highlights: deleting a taxpayer safely frees its memory so there are no leaks, and changing the due date instantly re-evaluates everyone's status. On startup the app offers to continue with saved data or start fresh, and continuing is the safe default so records are never lost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walkthrough. First we set the group's due date and add a Premium Individual, Ada — the app applies 10% plus a 5% surcharge and shows the tax at once. Then the demo trick: we use option 6 to change the shared due date to a date in the past. Every unpaid taxpayer is instantly re-evaluated, so Ada now shows OVERDUE in the schedule. Finally the totals screen ends with the new alert line, warning how many taxpayers are overdue and how much they owe. Set a future date and they return to unpaid.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the project — the four pillars of OOP, each mapped to our code. Encapsulation: taxpayer data is private, reached only through methods. Inheritance: three levels, from Taxpayer down to Individual and then Premium Individual, with Business as a sibling. Polymorphism: one virtual calculateTax call gives a different result per type. Abstraction: Taxpayer is an abstract base class with pure virtual functions, so it defines what every taxpayer must do without saying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the four pillars, we used three more techniques. A custom InvalidInputException, thrown and caught with try/catch, keeps bad input from crashing the program. File persistence saves and reloads the taxpayers from a text file. And the STL containers — a vector holds the group, and a map keeps the running totals by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class hierarchy. Taxpayer is the abstract base — no object is ever a plain Taxpayer. Individual and Business inherit from it directly, taxed at 10% and 20%. Premium Individual goes one level deeper, inheriting from Individual and adding a 5% surcharge on top of the 10%. The code on the right shows how each type overrides the same calculateTax function — that is polymorphism in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challenges. Bad input used to crash the program, so we added a custom exception and a validation loop that keeps asking until the input is valid. Deciding overdue status was tricky — we read the computer's real date and compare it to the due date. And storing different taxpayer types in one list needed base-class pointers in a vector so polymorphism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placeholder for our live demo screenshot — drop in a screenshot of the running program, or we switch to the terminal here and run it live: set a due date, add one of each taxpayer type, and view the schedule and totals.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Group Tax Scheduler brings the four OOP pillars together in a genuinely useful tool that calculates tax, tracks payment against a live due date, and saves the record. Two deliberate design choices: there is no edit-taxpayer feature, because all input is validated at entry so bad data never gets in — a mistaken entry is simply deleted and re-added; and auto-load defaults to continuing with saved data, so saving can never silently overwrite previous records. Honest next steps: full calendar-aware date validation, since right now day 01 to 31 is accepted for any month so Feb 30 slips through; per-taxpayer due dates; search by name; and a payment history with receipts.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2476500" y="1835944"/>
            <a:ext cx="13335000" cy="6614964"/>
          </a:xfrm>
          <a:prstGeom prst="roundRect">
            <a:avLst>
              <a:gd name="adj" fmla="val 2304"/>
            </a:avLst>
          </a:prstGeom>
          <a:ln w="9525">
            <a:solidFill>
              <a:srgbClr val="2B333D"/>
            </a:solidFill>
            <a:prstDash val="solid"/>
          </a:ln>
          <a:effectLst>
            <a:outerShdw blurRad="857250" dist="381000" dir="5400000" algn="bl" rotWithShape="0">
              <a:srgbClr val="000000">
                <a:alpha val="55000"/>
              </a:srgbClr>
            </a:outerShdw>
          </a:effectLst>
        </p:spPr>
      </p:sp>
      <p:sp>
        <p:nvSpPr>
          <p:cNvPr id="3" name="Shape 1"/>
          <p:cNvSpPr/>
          <p:nvPr/>
        </p:nvSpPr>
        <p:spPr>
          <a:xfrm>
            <a:off x="2486025" y="1845469"/>
            <a:ext cx="13315950" cy="685800"/>
          </a:xfrm>
          <a:prstGeom prst="rect">
            <a:avLst/>
          </a:prstGeom>
          <a:solidFill>
            <a:srgbClr val="161B22"/>
          </a:solidFill>
        </p:spPr>
      </p:sp>
      <p:sp>
        <p:nvSpPr>
          <p:cNvPr id="4" name="Shape 2"/>
          <p:cNvSpPr/>
          <p:nvPr/>
        </p:nvSpPr>
        <p:spPr>
          <a:xfrm>
            <a:off x="2486025" y="2521744"/>
            <a:ext cx="13315950" cy="9525"/>
          </a:xfrm>
          <a:prstGeom prst="rect">
            <a:avLst/>
          </a:prstGeom>
          <a:solidFill>
            <a:srgbClr val="2B333D"/>
          </a:solidFill>
        </p:spPr>
      </p:sp>
      <p:sp>
        <p:nvSpPr>
          <p:cNvPr id="5" name="Shape 3"/>
          <p:cNvSpPr/>
          <p:nvPr/>
        </p:nvSpPr>
        <p:spPr>
          <a:xfrm>
            <a:off x="2733675" y="2112169"/>
            <a:ext cx="142875" cy="142875"/>
          </a:xfrm>
          <a:prstGeom prst="ellipse">
            <a:avLst/>
          </a:prstGeom>
          <a:solidFill>
            <a:srgbClr val="FF5F56"/>
          </a:solidFill>
        </p:spPr>
      </p:sp>
      <p:sp>
        <p:nvSpPr>
          <p:cNvPr id="6" name="Shape 4"/>
          <p:cNvSpPr/>
          <p:nvPr/>
        </p:nvSpPr>
        <p:spPr>
          <a:xfrm>
            <a:off x="2971800" y="2112169"/>
            <a:ext cx="142875" cy="142875"/>
          </a:xfrm>
          <a:prstGeom prst="ellipse">
            <a:avLst/>
          </a:prstGeom>
          <a:solidFill>
            <a:srgbClr val="FFBD2E"/>
          </a:solidFill>
        </p:spPr>
      </p:sp>
      <p:sp>
        <p:nvSpPr>
          <p:cNvPr id="7" name="Shape 5"/>
          <p:cNvSpPr/>
          <p:nvPr/>
        </p:nvSpPr>
        <p:spPr>
          <a:xfrm>
            <a:off x="3209925" y="2112169"/>
            <a:ext cx="142875" cy="142875"/>
          </a:xfrm>
          <a:prstGeom prst="ellipse">
            <a:avLst/>
          </a:prstGeom>
          <a:solidFill>
            <a:srgbClr val="27C93F"/>
          </a:solidFill>
        </p:spPr>
      </p:sp>
      <p:sp>
        <p:nvSpPr>
          <p:cNvPr id="8" name="Text 6"/>
          <p:cNvSpPr/>
          <p:nvPr/>
        </p:nvSpPr>
        <p:spPr>
          <a:xfrm>
            <a:off x="3600450" y="2035969"/>
            <a:ext cx="5733321" cy="333375"/>
          </a:xfrm>
          <a:prstGeom prst="rect">
            <a:avLst/>
          </a:prstGeom>
          <a:noFill/>
        </p:spPr>
        <p:txBody>
          <a:bodyPr wrap="square" lIns="25400" tIns="25400" rIns="25400" bIns="25400" rtlCol="0" anchor="t">
            <a:normAutofit/>
          </a:bodyPr>
          <a:lstStyle/>
          <a:p>
            <a:pPr marL="0" indent="0" algn="l">
              <a:buNone/>
            </a:pPr>
            <a:r>
              <a:rPr lang="en-US" sz="180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tax_scheduler.exe — Windows PowerShell</a:t>
            </a:r>
            <a:endParaRPr lang="en-US" sz="1800" dirty="0"/>
          </a:p>
        </p:txBody>
      </p:sp>
      <p:sp>
        <p:nvSpPr>
          <p:cNvPr id="9" name="Shape 7"/>
          <p:cNvSpPr/>
          <p:nvPr/>
        </p:nvSpPr>
        <p:spPr>
          <a:xfrm>
            <a:off x="2486025" y="2531269"/>
            <a:ext cx="13315950" cy="5910114"/>
          </a:xfrm>
          <a:prstGeom prst="rect">
            <a:avLst/>
          </a:prstGeom>
          <a:solidFill>
            <a:srgbClr val="0B0E14"/>
          </a:solidFill>
        </p:spPr>
      </p:sp>
      <p:sp>
        <p:nvSpPr>
          <p:cNvPr id="10" name="Text 8"/>
          <p:cNvSpPr/>
          <p:nvPr/>
        </p:nvSpPr>
        <p:spPr>
          <a:xfrm>
            <a:off x="3152775" y="3140869"/>
            <a:ext cx="13180695" cy="371475"/>
          </a:xfrm>
          <a:prstGeom prst="rect">
            <a:avLst/>
          </a:prstGeom>
          <a:noFill/>
        </p:spPr>
        <p:txBody>
          <a:bodyPr wrap="square" lIns="25400" tIns="25400" rIns="25400" bIns="25400" rtlCol="0" anchor="t">
            <a:normAutofit/>
          </a:bodyPr>
          <a:lstStyle/>
          <a:p>
            <a:pPr marL="0" indent="0" algn="l">
              <a:buNone/>
            </a:pPr>
            <a:r>
              <a:rPr lang="en-US" sz="1950"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CSC 226 — Object-Oriented Programming in C++</a:t>
            </a:r>
            <a:endParaRPr lang="en-US" sz="1950" dirty="0"/>
          </a:p>
        </p:txBody>
      </p:sp>
      <p:sp>
        <p:nvSpPr>
          <p:cNvPr id="11" name="Text 9"/>
          <p:cNvSpPr/>
          <p:nvPr/>
        </p:nvSpPr>
        <p:spPr>
          <a:xfrm>
            <a:off x="3152775" y="3702844"/>
            <a:ext cx="13180695" cy="419100"/>
          </a:xfrm>
          <a:prstGeom prst="rect">
            <a:avLst/>
          </a:prstGeom>
          <a:noFill/>
        </p:spPr>
        <p:txBody>
          <a:bodyPr wrap="square" lIns="25400" tIns="25400" rIns="25400" bIns="25400" rtlCol="0" anchor="t">
            <a:normAutofit/>
          </a:bodyPr>
          <a:lstStyle/>
          <a:p>
            <a:pPr marL="0" indent="0" algn="l">
              <a:buNone/>
            </a:pPr>
            <a:r>
              <a:rPr lang="en-US" sz="22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PS </a:t>
            </a:r>
            <a:r>
              <a:rPr lang="en-US" sz="22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C:\csc226\project&gt; </a:t>
            </a:r>
            <a:r>
              <a:rPr lang="en-US" sz="2250"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./tax_scheduler.exe</a:t>
            </a:r>
            <a:endParaRPr lang="en-US" sz="2250" dirty="0"/>
          </a:p>
        </p:txBody>
      </p:sp>
      <p:sp>
        <p:nvSpPr>
          <p:cNvPr id="12" name="Text 10"/>
          <p:cNvSpPr/>
          <p:nvPr/>
        </p:nvSpPr>
        <p:spPr>
          <a:xfrm>
            <a:off x="3152775" y="4407694"/>
            <a:ext cx="13180695" cy="818108"/>
          </a:xfrm>
          <a:prstGeom prst="rect">
            <a:avLst/>
          </a:prstGeom>
          <a:noFill/>
        </p:spPr>
        <p:txBody>
          <a:bodyPr wrap="square" lIns="25400" tIns="25400" rIns="25400" bIns="25400" rtlCol="0" anchor="t">
            <a:normAutofit fontScale="92500" lnSpcReduction="20000"/>
          </a:bodyPr>
          <a:lstStyle/>
          <a:p>
            <a:pPr marL="0" indent="0" algn="l">
              <a:lnSpc>
                <a:spcPct val="105000"/>
              </a:lnSpc>
              <a:buNone/>
            </a:pPr>
            <a:r>
              <a:rPr lang="en-US" sz="5850" b="1" kern="0" spc="-75" dirty="0">
                <a:solidFill>
                  <a:srgbClr val="E6EDF3"/>
                </a:solidFill>
                <a:latin typeface="Arial" panose="020B0604020202020204" pitchFamily="34" charset="0"/>
                <a:ea typeface="Arial" panose="020B0604020202020204" pitchFamily="34" charset="-122"/>
                <a:cs typeface="Arial" panose="020B0604020202020204" pitchFamily="34" charset="-120"/>
              </a:rPr>
              <a:t>Group Tax Scheduler</a:t>
            </a:r>
            <a:endParaRPr lang="en-US" sz="5850" dirty="0"/>
          </a:p>
        </p:txBody>
      </p:sp>
      <p:sp>
        <p:nvSpPr>
          <p:cNvPr id="13" name="Text 11"/>
          <p:cNvSpPr/>
          <p:nvPr/>
        </p:nvSpPr>
        <p:spPr>
          <a:xfrm>
            <a:off x="3152775" y="5282952"/>
            <a:ext cx="13180695" cy="466725"/>
          </a:xfrm>
          <a:prstGeom prst="rect">
            <a:avLst/>
          </a:prstGeom>
          <a:noFill/>
        </p:spPr>
        <p:txBody>
          <a:bodyPr wrap="square" lIns="25400" tIns="25400" rIns="25400" bIns="25400" rtlCol="0" anchor="t">
            <a:normAutofit/>
          </a:bodyPr>
          <a:lstStyle/>
          <a:p>
            <a:pPr marL="0" indent="0" algn="l">
              <a:buNone/>
            </a:pPr>
            <a:r>
              <a:rPr lang="en-US" sz="2550"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An object-oriented C++ console application</a:t>
            </a:r>
            <a:endParaRPr lang="en-US" sz="2550" dirty="0"/>
          </a:p>
        </p:txBody>
      </p:sp>
      <p:sp>
        <p:nvSpPr>
          <p:cNvPr id="14" name="Text 12"/>
          <p:cNvSpPr/>
          <p:nvPr/>
        </p:nvSpPr>
        <p:spPr>
          <a:xfrm>
            <a:off x="3152775" y="6130677"/>
            <a:ext cx="12341923" cy="526703"/>
          </a:xfrm>
          <a:prstGeom prst="rect">
            <a:avLst/>
          </a:prstGeom>
          <a:noFill/>
        </p:spPr>
        <p:txBody>
          <a:bodyPr wrap="square" lIns="25400" tIns="25400" rIns="25400" bIns="25400" rtlCol="0" anchor="t">
            <a:normAutofit fontScale="72500"/>
          </a:bodyPr>
          <a:lstStyle/>
          <a:p>
            <a:pPr marL="0" indent="0" algn="l">
              <a:lnSpc>
                <a:spcPct val="190000"/>
              </a:lnSpc>
              <a:buNone/>
            </a:pPr>
            <a:r>
              <a:rPr lang="en-US" sz="2025"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&gt; group.members </a:t>
            </a: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 </a:t>
            </a:r>
            <a:r>
              <a:rPr lang="en-GB" alt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20</a:t>
            </a: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students · full roster next slide }</a:t>
            </a:r>
            <a:endParaRPr lang="en-US" sz="2025" dirty="0"/>
          </a:p>
        </p:txBody>
      </p:sp>
      <p:sp>
        <p:nvSpPr>
          <p:cNvPr id="15" name="Text 13"/>
          <p:cNvSpPr/>
          <p:nvPr/>
        </p:nvSpPr>
        <p:spPr>
          <a:xfrm>
            <a:off x="3152775" y="6619280"/>
            <a:ext cx="12341923" cy="526703"/>
          </a:xfrm>
          <a:prstGeom prst="rect">
            <a:avLst/>
          </a:prstGeom>
          <a:noFill/>
        </p:spPr>
        <p:txBody>
          <a:bodyPr wrap="square" lIns="25400" tIns="25400" rIns="25400" bIns="25400" rtlCol="0" anchor="t">
            <a:normAutofit fontScale="92500" lnSpcReduction="10000"/>
          </a:bodyPr>
          <a:lstStyle/>
          <a:p>
            <a:pPr marL="0" indent="0" algn="l">
              <a:lnSpc>
                <a:spcPct val="190000"/>
              </a:lnSpc>
              <a:buNone/>
            </a:pPr>
            <a:r>
              <a:rPr lang="en-US" sz="2025"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&gt; course </a:t>
            </a: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CSC 226 · </a:t>
            </a:r>
            <a:r>
              <a:rPr lang="en-US" sz="2025"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&gt; lecturer </a:t>
            </a: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Mr Lawal</a:t>
            </a:r>
            <a:endParaRPr lang="en-US" sz="2025" dirty="0"/>
          </a:p>
        </p:txBody>
      </p:sp>
      <p:sp>
        <p:nvSpPr>
          <p:cNvPr id="16" name="Text 14"/>
          <p:cNvSpPr/>
          <p:nvPr/>
        </p:nvSpPr>
        <p:spPr>
          <a:xfrm>
            <a:off x="3152775" y="7450782"/>
            <a:ext cx="13180695" cy="419100"/>
          </a:xfrm>
          <a:prstGeom prst="rect">
            <a:avLst/>
          </a:prstGeom>
          <a:noFill/>
        </p:spPr>
        <p:txBody>
          <a:bodyPr wrap="square" lIns="25400" tIns="25400" rIns="25400" bIns="25400" rtlCol="0" anchor="t">
            <a:normAutofit/>
          </a:bodyPr>
          <a:lstStyle/>
          <a:p>
            <a:pPr marL="0" indent="0" algn="l">
              <a:buNone/>
            </a:pPr>
            <a:r>
              <a:rPr lang="en-US" sz="2250" dirty="0">
                <a:solidFill>
                  <a:srgbClr val="E6EDF3"/>
                </a:solidFill>
                <a:latin typeface="Courier New" panose="02070309020205020404" pitchFamily="34" charset="0"/>
                <a:ea typeface="Courier New" panose="02070309020205020404" pitchFamily="34" charset="-122"/>
                <a:cs typeface="Courier New" panose="02070309020205020404" pitchFamily="34" charset="-120"/>
              </a:rPr>
              <a:t>C:\csc226\project&gt;</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952500" y="781050"/>
            <a:ext cx="1802130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group.members · 20 students</a:t>
            </a:r>
            <a:endParaRPr lang="en-US" sz="1950" dirty="0"/>
          </a:p>
        </p:txBody>
      </p:sp>
      <p:sp>
        <p:nvSpPr>
          <p:cNvPr id="3" name="Text 1"/>
          <p:cNvSpPr/>
          <p:nvPr/>
        </p:nvSpPr>
        <p:spPr>
          <a:xfrm>
            <a:off x="952500" y="1228725"/>
            <a:ext cx="18021300" cy="695325"/>
          </a:xfrm>
          <a:prstGeom prst="rect">
            <a:avLst/>
          </a:prstGeom>
          <a:noFill/>
        </p:spPr>
        <p:txBody>
          <a:bodyPr wrap="square" lIns="25400" tIns="25400" rIns="25400" bIns="25400" rtlCol="0" anchor="t">
            <a:normAutofit lnSpcReduction="10000"/>
          </a:bodyPr>
          <a:lstStyle/>
          <a:p>
            <a:pPr marL="0" indent="0" algn="l">
              <a:buNone/>
            </a:pPr>
            <a:r>
              <a:rPr lang="en-US" sz="4500" b="1" dirty="0">
                <a:solidFill>
                  <a:srgbClr val="E6EDF3"/>
                </a:solidFill>
                <a:latin typeface="Arial" panose="020B0604020202020204" pitchFamily="34" charset="0"/>
                <a:ea typeface="Arial" panose="020B0604020202020204" pitchFamily="34" charset="-122"/>
                <a:cs typeface="Arial" panose="020B0604020202020204" pitchFamily="34" charset="-120"/>
              </a:rPr>
              <a:t>The team</a:t>
            </a:r>
            <a:endParaRPr lang="en-US" sz="4500" dirty="0"/>
          </a:p>
        </p:txBody>
      </p:sp>
      <p:sp>
        <p:nvSpPr>
          <p:cNvPr id="4" name="Text 2"/>
          <p:cNvSpPr/>
          <p:nvPr/>
        </p:nvSpPr>
        <p:spPr>
          <a:xfrm>
            <a:off x="952500" y="23241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01</a:t>
            </a:r>
            <a:endParaRPr lang="en-US" sz="1650" dirty="0"/>
          </a:p>
        </p:txBody>
      </p:sp>
      <p:sp>
        <p:nvSpPr>
          <p:cNvPr id="5" name="Text 3"/>
          <p:cNvSpPr/>
          <p:nvPr/>
        </p:nvSpPr>
        <p:spPr>
          <a:xfrm>
            <a:off x="1390650" y="2266950"/>
            <a:ext cx="3371299"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Adegbenro David Ademola</a:t>
            </a:r>
            <a:endParaRPr lang="en-US" sz="2025" dirty="0"/>
          </a:p>
        </p:txBody>
      </p:sp>
      <p:sp>
        <p:nvSpPr>
          <p:cNvPr id="6" name="Text 4"/>
          <p:cNvSpPr/>
          <p:nvPr/>
        </p:nvSpPr>
        <p:spPr>
          <a:xfrm>
            <a:off x="1390650" y="2600325"/>
            <a:ext cx="3371299"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240591301</a:t>
            </a:r>
            <a:endParaRPr lang="en-US" sz="1650" dirty="0"/>
          </a:p>
        </p:txBody>
      </p:sp>
      <p:sp>
        <p:nvSpPr>
          <p:cNvPr id="7" name="Text 5"/>
          <p:cNvSpPr/>
          <p:nvPr/>
        </p:nvSpPr>
        <p:spPr>
          <a:xfrm>
            <a:off x="6559451" y="23241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08</a:t>
            </a:r>
            <a:endParaRPr lang="en-US" sz="1650" dirty="0"/>
          </a:p>
        </p:txBody>
      </p:sp>
      <p:sp>
        <p:nvSpPr>
          <p:cNvPr id="8" name="Text 6"/>
          <p:cNvSpPr/>
          <p:nvPr/>
        </p:nvSpPr>
        <p:spPr>
          <a:xfrm>
            <a:off x="6997601" y="2266950"/>
            <a:ext cx="3496374"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Akindele Sultan Olamilekan</a:t>
            </a:r>
            <a:endParaRPr lang="en-US" sz="2025" dirty="0"/>
          </a:p>
        </p:txBody>
      </p:sp>
      <p:sp>
        <p:nvSpPr>
          <p:cNvPr id="9" name="Text 7"/>
          <p:cNvSpPr/>
          <p:nvPr/>
        </p:nvSpPr>
        <p:spPr>
          <a:xfrm>
            <a:off x="6997601" y="2600325"/>
            <a:ext cx="3496374"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240591308</a:t>
            </a:r>
            <a:endParaRPr lang="en-US" sz="1650" dirty="0"/>
          </a:p>
        </p:txBody>
      </p:sp>
      <p:sp>
        <p:nvSpPr>
          <p:cNvPr id="10" name="Text 8"/>
          <p:cNvSpPr/>
          <p:nvPr/>
        </p:nvSpPr>
        <p:spPr>
          <a:xfrm>
            <a:off x="12166550" y="23241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15</a:t>
            </a:r>
            <a:endParaRPr lang="en-US" sz="1650" dirty="0"/>
          </a:p>
        </p:txBody>
      </p:sp>
      <p:sp>
        <p:nvSpPr>
          <p:cNvPr id="11" name="Text 9"/>
          <p:cNvSpPr/>
          <p:nvPr/>
        </p:nvSpPr>
        <p:spPr>
          <a:xfrm>
            <a:off x="12604700" y="2266950"/>
            <a:ext cx="2857083" cy="371475"/>
          </a:xfrm>
          <a:prstGeom prst="rect">
            <a:avLst/>
          </a:prstGeom>
          <a:noFill/>
        </p:spPr>
        <p:txBody>
          <a:bodyPr wrap="square" lIns="25400" tIns="25400" rIns="25400" bIns="25400" rtlCol="0" anchor="t">
            <a:normAutofit/>
          </a:bodyPr>
          <a:lstStyle/>
          <a:p>
            <a:pPr marL="0" indent="0" algn="l">
              <a:buNone/>
            </a:pPr>
            <a:r>
              <a:rPr lang="en-US" sz="2025" dirty="0" err="1">
                <a:solidFill>
                  <a:srgbClr val="E6EDF3"/>
                </a:solidFill>
                <a:latin typeface="Arial" panose="020B0604020202020204" pitchFamily="34" charset="0"/>
                <a:ea typeface="Arial" panose="020B0604020202020204" pitchFamily="34" charset="-122"/>
                <a:cs typeface="Arial" panose="020B0604020202020204" pitchFamily="34" charset="-120"/>
              </a:rPr>
              <a:t>Ganikale</a:t>
            </a: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 </a:t>
            </a:r>
            <a:r>
              <a:rPr lang="en-US" sz="2025" dirty="0" err="1">
                <a:solidFill>
                  <a:srgbClr val="E6EDF3"/>
                </a:solidFill>
                <a:latin typeface="Arial" panose="020B0604020202020204" pitchFamily="34" charset="0"/>
                <a:ea typeface="Arial" panose="020B0604020202020204" pitchFamily="34" charset="-122"/>
                <a:cs typeface="Arial" panose="020B0604020202020204" pitchFamily="34" charset="-120"/>
              </a:rPr>
              <a:t>Abibat</a:t>
            </a: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 </a:t>
            </a:r>
            <a:r>
              <a:rPr lang="en-US" sz="2025" dirty="0" err="1">
                <a:solidFill>
                  <a:srgbClr val="E6EDF3"/>
                </a:solidFill>
                <a:latin typeface="Arial" panose="020B0604020202020204" pitchFamily="34" charset="0"/>
                <a:ea typeface="Arial" panose="020B0604020202020204" pitchFamily="34" charset="-122"/>
                <a:cs typeface="Arial" panose="020B0604020202020204" pitchFamily="34" charset="-120"/>
              </a:rPr>
              <a:t>Eniola</a:t>
            </a:r>
            <a:endParaRPr lang="en-US" sz="2025" dirty="0"/>
          </a:p>
        </p:txBody>
      </p:sp>
      <p:sp>
        <p:nvSpPr>
          <p:cNvPr id="12" name="Text 10"/>
          <p:cNvSpPr/>
          <p:nvPr/>
        </p:nvSpPr>
        <p:spPr>
          <a:xfrm>
            <a:off x="12604700" y="2600325"/>
            <a:ext cx="2857083"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240591315</a:t>
            </a:r>
            <a:endParaRPr lang="en-US" sz="1650" dirty="0"/>
          </a:p>
        </p:txBody>
      </p:sp>
      <p:sp>
        <p:nvSpPr>
          <p:cNvPr id="13" name="Text 11"/>
          <p:cNvSpPr/>
          <p:nvPr/>
        </p:nvSpPr>
        <p:spPr>
          <a:xfrm>
            <a:off x="952500" y="31432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02</a:t>
            </a:r>
            <a:endParaRPr lang="en-US" sz="1650" dirty="0"/>
          </a:p>
        </p:txBody>
      </p:sp>
      <p:sp>
        <p:nvSpPr>
          <p:cNvPr id="14" name="Text 12"/>
          <p:cNvSpPr/>
          <p:nvPr/>
        </p:nvSpPr>
        <p:spPr>
          <a:xfrm>
            <a:off x="1390650" y="3086100"/>
            <a:ext cx="3014573"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Adeniyi Bright Olatunde</a:t>
            </a:r>
            <a:endParaRPr lang="en-US" sz="2025" dirty="0"/>
          </a:p>
        </p:txBody>
      </p:sp>
      <p:sp>
        <p:nvSpPr>
          <p:cNvPr id="15" name="Text 13"/>
          <p:cNvSpPr/>
          <p:nvPr/>
        </p:nvSpPr>
        <p:spPr>
          <a:xfrm>
            <a:off x="1390650" y="3419475"/>
            <a:ext cx="3014573"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240591302</a:t>
            </a:r>
            <a:endParaRPr lang="en-US" sz="1650" dirty="0"/>
          </a:p>
        </p:txBody>
      </p:sp>
      <p:sp>
        <p:nvSpPr>
          <p:cNvPr id="16" name="Text 14"/>
          <p:cNvSpPr/>
          <p:nvPr/>
        </p:nvSpPr>
        <p:spPr>
          <a:xfrm>
            <a:off x="6559451" y="31432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09</a:t>
            </a:r>
            <a:endParaRPr lang="en-US" sz="1650" dirty="0"/>
          </a:p>
        </p:txBody>
      </p:sp>
      <p:sp>
        <p:nvSpPr>
          <p:cNvPr id="17" name="Text 15"/>
          <p:cNvSpPr/>
          <p:nvPr/>
        </p:nvSpPr>
        <p:spPr>
          <a:xfrm>
            <a:off x="6997601" y="3086100"/>
            <a:ext cx="4347835"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Alesinloye Irebami Oluwadarasimi</a:t>
            </a:r>
            <a:endParaRPr lang="en-US" sz="2025" dirty="0"/>
          </a:p>
        </p:txBody>
      </p:sp>
      <p:sp>
        <p:nvSpPr>
          <p:cNvPr id="18" name="Text 16"/>
          <p:cNvSpPr/>
          <p:nvPr/>
        </p:nvSpPr>
        <p:spPr>
          <a:xfrm>
            <a:off x="6997601" y="3419475"/>
            <a:ext cx="4347835"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240591309</a:t>
            </a:r>
            <a:endParaRPr lang="en-US" sz="1650" dirty="0"/>
          </a:p>
        </p:txBody>
      </p:sp>
      <p:sp>
        <p:nvSpPr>
          <p:cNvPr id="19" name="Text 17"/>
          <p:cNvSpPr/>
          <p:nvPr/>
        </p:nvSpPr>
        <p:spPr>
          <a:xfrm>
            <a:off x="12166550" y="31432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16</a:t>
            </a:r>
            <a:endParaRPr lang="en-US" sz="1650" dirty="0"/>
          </a:p>
        </p:txBody>
      </p:sp>
      <p:sp>
        <p:nvSpPr>
          <p:cNvPr id="20" name="Text 18"/>
          <p:cNvSpPr/>
          <p:nvPr/>
        </p:nvSpPr>
        <p:spPr>
          <a:xfrm>
            <a:off x="12604700" y="3086100"/>
            <a:ext cx="2009715"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Idowu Fisayomi</a:t>
            </a:r>
            <a:endParaRPr lang="en-US" sz="2025" dirty="0"/>
          </a:p>
        </p:txBody>
      </p:sp>
      <p:sp>
        <p:nvSpPr>
          <p:cNvPr id="21" name="Text 19"/>
          <p:cNvSpPr/>
          <p:nvPr/>
        </p:nvSpPr>
        <p:spPr>
          <a:xfrm>
            <a:off x="12604700" y="3419475"/>
            <a:ext cx="2009715"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240591317</a:t>
            </a:r>
            <a:endParaRPr lang="en-US" sz="1650" dirty="0"/>
          </a:p>
        </p:txBody>
      </p:sp>
      <p:sp>
        <p:nvSpPr>
          <p:cNvPr id="22" name="Text 20"/>
          <p:cNvSpPr/>
          <p:nvPr/>
        </p:nvSpPr>
        <p:spPr>
          <a:xfrm>
            <a:off x="952500" y="39624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03</a:t>
            </a:r>
            <a:endParaRPr lang="en-US" sz="1650" dirty="0"/>
          </a:p>
        </p:txBody>
      </p:sp>
      <p:sp>
        <p:nvSpPr>
          <p:cNvPr id="23" name="Text 21"/>
          <p:cNvSpPr/>
          <p:nvPr/>
        </p:nvSpPr>
        <p:spPr>
          <a:xfrm>
            <a:off x="1390650" y="3905250"/>
            <a:ext cx="4188872"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Adeyemi Shakrudeen Oluwaseun</a:t>
            </a:r>
            <a:endParaRPr lang="en-US" sz="2025" dirty="0"/>
          </a:p>
        </p:txBody>
      </p:sp>
      <p:sp>
        <p:nvSpPr>
          <p:cNvPr id="24" name="Text 22"/>
          <p:cNvSpPr/>
          <p:nvPr/>
        </p:nvSpPr>
        <p:spPr>
          <a:xfrm>
            <a:off x="1390650" y="4238625"/>
            <a:ext cx="4188872"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240591303</a:t>
            </a:r>
            <a:endParaRPr lang="en-US" sz="1650" dirty="0"/>
          </a:p>
        </p:txBody>
      </p:sp>
      <p:sp>
        <p:nvSpPr>
          <p:cNvPr id="25" name="Text 23"/>
          <p:cNvSpPr/>
          <p:nvPr/>
        </p:nvSpPr>
        <p:spPr>
          <a:xfrm>
            <a:off x="6559451" y="39624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10</a:t>
            </a:r>
            <a:endParaRPr lang="en-US" sz="1650" dirty="0"/>
          </a:p>
        </p:txBody>
      </p:sp>
      <p:sp>
        <p:nvSpPr>
          <p:cNvPr id="26" name="Text 24"/>
          <p:cNvSpPr/>
          <p:nvPr/>
        </p:nvSpPr>
        <p:spPr>
          <a:xfrm>
            <a:off x="6997601" y="3905250"/>
            <a:ext cx="2766715"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Awode Fuad Ademola</a:t>
            </a:r>
            <a:endParaRPr lang="en-US" sz="2025" dirty="0"/>
          </a:p>
        </p:txBody>
      </p:sp>
      <p:sp>
        <p:nvSpPr>
          <p:cNvPr id="27" name="Text 25"/>
          <p:cNvSpPr/>
          <p:nvPr/>
        </p:nvSpPr>
        <p:spPr>
          <a:xfrm>
            <a:off x="6997601" y="4238625"/>
            <a:ext cx="2766715"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240591310</a:t>
            </a:r>
            <a:endParaRPr lang="en-US" sz="1650" dirty="0"/>
          </a:p>
        </p:txBody>
      </p:sp>
      <p:sp>
        <p:nvSpPr>
          <p:cNvPr id="28" name="Text 26"/>
          <p:cNvSpPr/>
          <p:nvPr/>
        </p:nvSpPr>
        <p:spPr>
          <a:xfrm>
            <a:off x="12166550" y="39624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17</a:t>
            </a:r>
            <a:endParaRPr lang="en-US" sz="1650" dirty="0"/>
          </a:p>
        </p:txBody>
      </p:sp>
      <p:sp>
        <p:nvSpPr>
          <p:cNvPr id="29" name="Text 27"/>
          <p:cNvSpPr/>
          <p:nvPr/>
        </p:nvSpPr>
        <p:spPr>
          <a:xfrm>
            <a:off x="12604700" y="3905250"/>
            <a:ext cx="3885679"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Jackson Anuoluwapo Solomon</a:t>
            </a:r>
            <a:endParaRPr lang="en-US" sz="2025" dirty="0"/>
          </a:p>
        </p:txBody>
      </p:sp>
      <p:sp>
        <p:nvSpPr>
          <p:cNvPr id="30" name="Text 28"/>
          <p:cNvSpPr/>
          <p:nvPr/>
        </p:nvSpPr>
        <p:spPr>
          <a:xfrm>
            <a:off x="12604700" y="4238625"/>
            <a:ext cx="3885679"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230591318</a:t>
            </a:r>
            <a:endParaRPr lang="en-US" sz="1650" dirty="0"/>
          </a:p>
        </p:txBody>
      </p:sp>
      <p:sp>
        <p:nvSpPr>
          <p:cNvPr id="31" name="Text 29"/>
          <p:cNvSpPr/>
          <p:nvPr/>
        </p:nvSpPr>
        <p:spPr>
          <a:xfrm>
            <a:off x="952500" y="47815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04</a:t>
            </a:r>
            <a:endParaRPr lang="en-US" sz="1650" dirty="0"/>
          </a:p>
        </p:txBody>
      </p:sp>
      <p:sp>
        <p:nvSpPr>
          <p:cNvPr id="32" name="Text 30"/>
          <p:cNvSpPr/>
          <p:nvPr/>
        </p:nvSpPr>
        <p:spPr>
          <a:xfrm>
            <a:off x="1390650" y="4724400"/>
            <a:ext cx="4496321"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Agbuke Ejiroghene Oluwafunmilayo</a:t>
            </a:r>
            <a:endParaRPr lang="en-US" sz="2025" dirty="0"/>
          </a:p>
        </p:txBody>
      </p:sp>
      <p:sp>
        <p:nvSpPr>
          <p:cNvPr id="33" name="Text 31"/>
          <p:cNvSpPr/>
          <p:nvPr/>
        </p:nvSpPr>
        <p:spPr>
          <a:xfrm>
            <a:off x="1390650" y="5057775"/>
            <a:ext cx="4496321"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240591304</a:t>
            </a:r>
            <a:endParaRPr lang="en-US" sz="1650" dirty="0"/>
          </a:p>
        </p:txBody>
      </p:sp>
      <p:sp>
        <p:nvSpPr>
          <p:cNvPr id="34" name="Text 32"/>
          <p:cNvSpPr/>
          <p:nvPr/>
        </p:nvSpPr>
        <p:spPr>
          <a:xfrm>
            <a:off x="6559451" y="47815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11</a:t>
            </a:r>
            <a:endParaRPr lang="en-US" sz="1650" dirty="0"/>
          </a:p>
        </p:txBody>
      </p:sp>
      <p:sp>
        <p:nvSpPr>
          <p:cNvPr id="35" name="Text 33"/>
          <p:cNvSpPr/>
          <p:nvPr/>
        </p:nvSpPr>
        <p:spPr>
          <a:xfrm>
            <a:off x="6997601" y="4724400"/>
            <a:ext cx="3049116"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Dokun Leslie Olajumoke</a:t>
            </a:r>
            <a:endParaRPr lang="en-US" sz="2025" dirty="0"/>
          </a:p>
        </p:txBody>
      </p:sp>
      <p:sp>
        <p:nvSpPr>
          <p:cNvPr id="36" name="Text 34"/>
          <p:cNvSpPr/>
          <p:nvPr/>
        </p:nvSpPr>
        <p:spPr>
          <a:xfrm>
            <a:off x="6997601" y="5057775"/>
            <a:ext cx="3049116"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240591311</a:t>
            </a:r>
            <a:endParaRPr lang="en-US" sz="1650" dirty="0"/>
          </a:p>
        </p:txBody>
      </p:sp>
      <p:sp>
        <p:nvSpPr>
          <p:cNvPr id="37" name="Text 35"/>
          <p:cNvSpPr/>
          <p:nvPr/>
        </p:nvSpPr>
        <p:spPr>
          <a:xfrm>
            <a:off x="12166550" y="47815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18</a:t>
            </a:r>
            <a:endParaRPr lang="en-US" sz="1650" dirty="0"/>
          </a:p>
        </p:txBody>
      </p:sp>
      <p:sp>
        <p:nvSpPr>
          <p:cNvPr id="38" name="Text 36"/>
          <p:cNvSpPr/>
          <p:nvPr/>
        </p:nvSpPr>
        <p:spPr>
          <a:xfrm>
            <a:off x="12604700" y="4724400"/>
            <a:ext cx="2982977"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Kuti Hamzat Boluwatife</a:t>
            </a:r>
            <a:endParaRPr lang="en-US" sz="2025" dirty="0"/>
          </a:p>
        </p:txBody>
      </p:sp>
      <p:sp>
        <p:nvSpPr>
          <p:cNvPr id="39" name="Text 37"/>
          <p:cNvSpPr/>
          <p:nvPr/>
        </p:nvSpPr>
        <p:spPr>
          <a:xfrm>
            <a:off x="12604700" y="5057775"/>
            <a:ext cx="2982977"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240591319</a:t>
            </a:r>
            <a:endParaRPr lang="en-US" sz="1650" dirty="0"/>
          </a:p>
        </p:txBody>
      </p:sp>
      <p:sp>
        <p:nvSpPr>
          <p:cNvPr id="40" name="Text 38"/>
          <p:cNvSpPr/>
          <p:nvPr/>
        </p:nvSpPr>
        <p:spPr>
          <a:xfrm>
            <a:off x="952500" y="56007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05</a:t>
            </a:r>
            <a:endParaRPr lang="en-US" sz="1650" dirty="0"/>
          </a:p>
        </p:txBody>
      </p:sp>
      <p:sp>
        <p:nvSpPr>
          <p:cNvPr id="41" name="Text 39"/>
          <p:cNvSpPr/>
          <p:nvPr/>
        </p:nvSpPr>
        <p:spPr>
          <a:xfrm>
            <a:off x="1390650" y="5543550"/>
            <a:ext cx="3246879"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Ajayi Oluwaseyi Temitope</a:t>
            </a:r>
            <a:endParaRPr lang="en-US" sz="2025" dirty="0"/>
          </a:p>
        </p:txBody>
      </p:sp>
      <p:sp>
        <p:nvSpPr>
          <p:cNvPr id="42" name="Text 40"/>
          <p:cNvSpPr/>
          <p:nvPr/>
        </p:nvSpPr>
        <p:spPr>
          <a:xfrm>
            <a:off x="1390650" y="5876925"/>
            <a:ext cx="3246879"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240591305</a:t>
            </a:r>
            <a:endParaRPr lang="en-US" sz="1650" dirty="0"/>
          </a:p>
        </p:txBody>
      </p:sp>
      <p:sp>
        <p:nvSpPr>
          <p:cNvPr id="43" name="Text 41"/>
          <p:cNvSpPr/>
          <p:nvPr/>
        </p:nvSpPr>
        <p:spPr>
          <a:xfrm>
            <a:off x="6559451" y="56007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12</a:t>
            </a:r>
            <a:endParaRPr lang="en-US" sz="1650" dirty="0"/>
          </a:p>
        </p:txBody>
      </p:sp>
      <p:sp>
        <p:nvSpPr>
          <p:cNvPr id="44" name="Text 42"/>
          <p:cNvSpPr/>
          <p:nvPr/>
        </p:nvSpPr>
        <p:spPr>
          <a:xfrm>
            <a:off x="6997601" y="5543550"/>
            <a:ext cx="3042077"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Dominic Chigozie Prince</a:t>
            </a:r>
            <a:endParaRPr lang="en-US" sz="2025" dirty="0"/>
          </a:p>
        </p:txBody>
      </p:sp>
      <p:sp>
        <p:nvSpPr>
          <p:cNvPr id="45" name="Text 43"/>
          <p:cNvSpPr/>
          <p:nvPr/>
        </p:nvSpPr>
        <p:spPr>
          <a:xfrm>
            <a:off x="6997601" y="5876925"/>
            <a:ext cx="3042077"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240591312</a:t>
            </a:r>
            <a:endParaRPr lang="en-US" sz="1650" dirty="0"/>
          </a:p>
        </p:txBody>
      </p:sp>
      <p:sp>
        <p:nvSpPr>
          <p:cNvPr id="46" name="Text 44"/>
          <p:cNvSpPr/>
          <p:nvPr/>
        </p:nvSpPr>
        <p:spPr>
          <a:xfrm>
            <a:off x="12166550" y="56007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19</a:t>
            </a:r>
            <a:endParaRPr lang="en-US" sz="1650" dirty="0"/>
          </a:p>
        </p:txBody>
      </p:sp>
      <p:sp>
        <p:nvSpPr>
          <p:cNvPr id="47" name="Text 45"/>
          <p:cNvSpPr/>
          <p:nvPr/>
        </p:nvSpPr>
        <p:spPr>
          <a:xfrm>
            <a:off x="12604700" y="5543550"/>
            <a:ext cx="3091026"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Samuel Olamide Hassan</a:t>
            </a:r>
            <a:endParaRPr lang="en-US" sz="2025" dirty="0"/>
          </a:p>
        </p:txBody>
      </p:sp>
      <p:sp>
        <p:nvSpPr>
          <p:cNvPr id="48" name="Text 46"/>
          <p:cNvSpPr/>
          <p:nvPr/>
        </p:nvSpPr>
        <p:spPr>
          <a:xfrm>
            <a:off x="12604700" y="5876925"/>
            <a:ext cx="3091026"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240591316</a:t>
            </a:r>
            <a:endParaRPr lang="en-US" sz="1650" dirty="0"/>
          </a:p>
        </p:txBody>
      </p:sp>
      <p:sp>
        <p:nvSpPr>
          <p:cNvPr id="49" name="Text 47"/>
          <p:cNvSpPr/>
          <p:nvPr/>
        </p:nvSpPr>
        <p:spPr>
          <a:xfrm>
            <a:off x="952500" y="64198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06</a:t>
            </a:r>
            <a:endParaRPr lang="en-US" sz="1650" dirty="0"/>
          </a:p>
        </p:txBody>
      </p:sp>
      <p:sp>
        <p:nvSpPr>
          <p:cNvPr id="50" name="Text 48"/>
          <p:cNvSpPr/>
          <p:nvPr/>
        </p:nvSpPr>
        <p:spPr>
          <a:xfrm>
            <a:off x="1390650" y="6362700"/>
            <a:ext cx="3684478"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Ajayi Temiloluwa Perosayemi</a:t>
            </a:r>
            <a:endParaRPr lang="en-US" sz="2025" dirty="0"/>
          </a:p>
        </p:txBody>
      </p:sp>
      <p:sp>
        <p:nvSpPr>
          <p:cNvPr id="51" name="Text 49"/>
          <p:cNvSpPr/>
          <p:nvPr/>
        </p:nvSpPr>
        <p:spPr>
          <a:xfrm>
            <a:off x="1390650" y="6696075"/>
            <a:ext cx="3684478"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240591306</a:t>
            </a:r>
            <a:endParaRPr lang="en-US" sz="1650" dirty="0"/>
          </a:p>
        </p:txBody>
      </p:sp>
      <p:sp>
        <p:nvSpPr>
          <p:cNvPr id="52" name="Text 50"/>
          <p:cNvSpPr/>
          <p:nvPr/>
        </p:nvSpPr>
        <p:spPr>
          <a:xfrm>
            <a:off x="6559451" y="641985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13</a:t>
            </a:r>
            <a:endParaRPr lang="en-US" sz="1650" dirty="0"/>
          </a:p>
        </p:txBody>
      </p:sp>
      <p:sp>
        <p:nvSpPr>
          <p:cNvPr id="53" name="Text 51"/>
          <p:cNvSpPr/>
          <p:nvPr/>
        </p:nvSpPr>
        <p:spPr>
          <a:xfrm>
            <a:off x="6997601" y="6362700"/>
            <a:ext cx="3100030"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Eletu Fiyinfoluwa Favour</a:t>
            </a:r>
            <a:endParaRPr lang="en-US" sz="2025" dirty="0"/>
          </a:p>
        </p:txBody>
      </p:sp>
      <p:sp>
        <p:nvSpPr>
          <p:cNvPr id="54" name="Text 52"/>
          <p:cNvSpPr/>
          <p:nvPr/>
        </p:nvSpPr>
        <p:spPr>
          <a:xfrm>
            <a:off x="6997601" y="6696075"/>
            <a:ext cx="3100030"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240591313</a:t>
            </a:r>
            <a:endParaRPr lang="en-US" sz="1650" dirty="0"/>
          </a:p>
        </p:txBody>
      </p:sp>
      <p:sp>
        <p:nvSpPr>
          <p:cNvPr id="55" name="Text 53"/>
          <p:cNvSpPr/>
          <p:nvPr/>
        </p:nvSpPr>
        <p:spPr>
          <a:xfrm>
            <a:off x="952500" y="72390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07</a:t>
            </a:r>
            <a:endParaRPr lang="en-US" sz="1650" dirty="0"/>
          </a:p>
        </p:txBody>
      </p:sp>
      <p:sp>
        <p:nvSpPr>
          <p:cNvPr id="56" name="Text 54"/>
          <p:cNvSpPr/>
          <p:nvPr/>
        </p:nvSpPr>
        <p:spPr>
          <a:xfrm>
            <a:off x="1390650" y="7181850"/>
            <a:ext cx="3741613"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Ajileye Kehinde Abdulrahman</a:t>
            </a:r>
            <a:endParaRPr lang="en-US" sz="2025" dirty="0"/>
          </a:p>
        </p:txBody>
      </p:sp>
      <p:sp>
        <p:nvSpPr>
          <p:cNvPr id="57" name="Text 55"/>
          <p:cNvSpPr/>
          <p:nvPr/>
        </p:nvSpPr>
        <p:spPr>
          <a:xfrm>
            <a:off x="1390650" y="7515225"/>
            <a:ext cx="3741613"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240591307</a:t>
            </a:r>
            <a:endParaRPr lang="en-US" sz="1650" dirty="0"/>
          </a:p>
        </p:txBody>
      </p:sp>
      <p:sp>
        <p:nvSpPr>
          <p:cNvPr id="58" name="Text 56"/>
          <p:cNvSpPr/>
          <p:nvPr/>
        </p:nvSpPr>
        <p:spPr>
          <a:xfrm>
            <a:off x="6559451" y="7239000"/>
            <a:ext cx="361950" cy="314325"/>
          </a:xfrm>
          <a:prstGeom prst="rect">
            <a:avLst/>
          </a:prstGeom>
          <a:noFill/>
        </p:spPr>
        <p:txBody>
          <a:bodyPr wrap="square" lIns="25400" tIns="25400" rIns="25400" bIns="25400" rtlCol="0" anchor="t">
            <a:normAutofit/>
          </a:bodyPr>
          <a:lstStyle/>
          <a:p>
            <a:pPr marL="0" indent="0" algn="l">
              <a:buNone/>
            </a:pPr>
            <a:r>
              <a:rPr lang="en-US" sz="16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14</a:t>
            </a:r>
            <a:endParaRPr lang="en-US" sz="1650" dirty="0"/>
          </a:p>
        </p:txBody>
      </p:sp>
      <p:sp>
        <p:nvSpPr>
          <p:cNvPr id="59" name="Text 57"/>
          <p:cNvSpPr/>
          <p:nvPr/>
        </p:nvSpPr>
        <p:spPr>
          <a:xfrm>
            <a:off x="6997601" y="7181850"/>
            <a:ext cx="2346469" cy="371475"/>
          </a:xfrm>
          <a:prstGeom prst="rect">
            <a:avLst/>
          </a:prstGeom>
          <a:noFill/>
        </p:spPr>
        <p:txBody>
          <a:bodyPr wrap="square" lIns="25400" tIns="25400" rIns="25400" bIns="25400" rtlCol="0" anchor="t">
            <a:normAutofit/>
          </a:bodyPr>
          <a:lstStyle/>
          <a:p>
            <a:pPr marL="0" indent="0" algn="l">
              <a:buNone/>
            </a:pPr>
            <a:r>
              <a:rPr lang="en-US" sz="2025" dirty="0">
                <a:solidFill>
                  <a:srgbClr val="E6EDF3"/>
                </a:solidFill>
                <a:latin typeface="Arial" panose="020B0604020202020204" pitchFamily="34" charset="0"/>
                <a:ea typeface="Arial" panose="020B0604020202020204" pitchFamily="34" charset="-122"/>
                <a:cs typeface="Arial" panose="020B0604020202020204" pitchFamily="34" charset="-120"/>
              </a:rPr>
              <a:t>Frank Cheta Noble</a:t>
            </a:r>
            <a:endParaRPr lang="en-US" sz="2025" dirty="0"/>
          </a:p>
        </p:txBody>
      </p:sp>
      <p:sp>
        <p:nvSpPr>
          <p:cNvPr id="60" name="Text 58"/>
          <p:cNvSpPr/>
          <p:nvPr/>
        </p:nvSpPr>
        <p:spPr>
          <a:xfrm>
            <a:off x="6997601" y="7515225"/>
            <a:ext cx="2346469" cy="314325"/>
          </a:xfrm>
          <a:prstGeom prst="rect">
            <a:avLst/>
          </a:prstGeom>
          <a:noFill/>
        </p:spPr>
        <p:txBody>
          <a:bodyPr wrap="square" lIns="25400" tIns="25400" rIns="25400" bIns="25400" rtlCol="0" anchor="t">
            <a:normAutofit/>
          </a:bodyPr>
          <a:lstStyle/>
          <a:p>
            <a:pPr marL="0" indent="0" algn="l">
              <a:buNone/>
            </a:pPr>
            <a:r>
              <a:rPr lang="en-US" sz="16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240591314</a:t>
            </a:r>
            <a:endParaRPr lang="en-US" sz="1650" dirty="0"/>
          </a:p>
        </p:txBody>
      </p:sp>
      <p:sp>
        <p:nvSpPr>
          <p:cNvPr id="61" name="TextBox 60"/>
          <p:cNvSpPr txBox="1"/>
          <p:nvPr/>
        </p:nvSpPr>
        <p:spPr>
          <a:xfrm flipH="1">
            <a:off x="12145241" y="6362700"/>
            <a:ext cx="707842" cy="646331"/>
          </a:xfrm>
          <a:prstGeom prst="rect">
            <a:avLst/>
          </a:prstGeom>
          <a:noFill/>
        </p:spPr>
        <p:txBody>
          <a:bodyPr wrap="square" rtlCol="0">
            <a:spAutoFit/>
          </a:bodyPr>
          <a:lstStyle/>
          <a:p>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20</a:t>
            </a:r>
            <a:endParaRPr lang="en-US" sz="1800" dirty="0"/>
          </a:p>
          <a:p>
            <a:endParaRPr lang="en-US" dirty="0"/>
          </a:p>
        </p:txBody>
      </p:sp>
      <p:sp>
        <p:nvSpPr>
          <p:cNvPr id="62" name="TextBox 61"/>
          <p:cNvSpPr txBox="1"/>
          <p:nvPr/>
        </p:nvSpPr>
        <p:spPr>
          <a:xfrm>
            <a:off x="12551896" y="6362700"/>
            <a:ext cx="3637296" cy="404726"/>
          </a:xfrm>
          <a:prstGeom prst="rect">
            <a:avLst/>
          </a:prstGeom>
          <a:noFill/>
        </p:spPr>
        <p:txBody>
          <a:bodyPr wrap="square" rtlCol="0">
            <a:spAutoFit/>
          </a:bodyPr>
          <a:lstStyle/>
          <a:p>
            <a:pPr marL="0" indent="0" algn="l">
              <a:buNone/>
            </a:pPr>
            <a:r>
              <a:rPr lang="en-US" sz="2030" dirty="0">
                <a:solidFill>
                  <a:srgbClr val="E6EDF3"/>
                </a:solidFill>
                <a:latin typeface="Arial" panose="020B0604020202020204" pitchFamily="34" charset="0"/>
                <a:ea typeface="Arial" panose="020B0604020202020204" pitchFamily="34" charset="-122"/>
                <a:cs typeface="Arial" panose="020B0604020202020204" pitchFamily="34" charset="-120"/>
              </a:rPr>
              <a:t>Mbah Joshua </a:t>
            </a:r>
            <a:r>
              <a:rPr lang="en-US" sz="2030" dirty="0" err="1">
                <a:solidFill>
                  <a:srgbClr val="E6EDF3"/>
                </a:solidFill>
                <a:latin typeface="Arial" panose="020B0604020202020204" pitchFamily="34" charset="0"/>
                <a:ea typeface="Arial" panose="020B0604020202020204" pitchFamily="34" charset="-122"/>
                <a:cs typeface="Arial" panose="020B0604020202020204" pitchFamily="34" charset="-120"/>
              </a:rPr>
              <a:t>Oluwademilade</a:t>
            </a:r>
            <a:endParaRPr lang="en-US" sz="2030" dirty="0"/>
          </a:p>
        </p:txBody>
      </p:sp>
      <p:sp>
        <p:nvSpPr>
          <p:cNvPr id="63" name="TextBox 62"/>
          <p:cNvSpPr txBox="1"/>
          <p:nvPr/>
        </p:nvSpPr>
        <p:spPr>
          <a:xfrm>
            <a:off x="12528500" y="6685865"/>
            <a:ext cx="3525078" cy="369332"/>
          </a:xfrm>
          <a:prstGeom prst="rect">
            <a:avLst/>
          </a:prstGeom>
          <a:noFill/>
        </p:spPr>
        <p:txBody>
          <a:bodyPr wrap="square" rtlCol="0">
            <a:spAutoFit/>
          </a:bodyPr>
          <a:lstStyle/>
          <a:p>
            <a:r>
              <a:rPr lang="en-US" sz="180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240591316</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02 · INTRODUCTION</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The problem it solves</a:t>
            </a:r>
            <a:endParaRPr lang="en-US" sz="4800" dirty="0"/>
          </a:p>
        </p:txBody>
      </p:sp>
      <p:sp>
        <p:nvSpPr>
          <p:cNvPr id="4" name="Text 2"/>
          <p:cNvSpPr/>
          <p:nvPr/>
        </p:nvSpPr>
        <p:spPr>
          <a:xfrm>
            <a:off x="1047750" y="2543175"/>
            <a:ext cx="8376388" cy="1543645"/>
          </a:xfrm>
          <a:prstGeom prst="rect">
            <a:avLst/>
          </a:prstGeom>
          <a:noFill/>
        </p:spPr>
        <p:txBody>
          <a:bodyPr wrap="square" lIns="25400" tIns="25400" rIns="25400" bIns="25400" rtlCol="0" anchor="t">
            <a:normAutofit fontScale="92500" lnSpcReduction="20000"/>
          </a:bodyPr>
          <a:lstStyle/>
          <a:p>
            <a:pPr marL="0" indent="0" algn="l">
              <a:lnSpc>
                <a:spcPct val="155000"/>
              </a:lnSpc>
              <a:buNone/>
            </a:pPr>
            <a:r>
              <a:rPr lang="en-US" sz="2550" dirty="0">
                <a:solidFill>
                  <a:srgbClr val="C9D1D9"/>
                </a:solidFill>
                <a:latin typeface="Arial" panose="020B0604020202020204" pitchFamily="34" charset="0"/>
                <a:ea typeface="Arial" panose="020B0604020202020204" pitchFamily="34" charset="-122"/>
                <a:cs typeface="Arial" panose="020B0604020202020204" pitchFamily="34" charset="-120"/>
              </a:rPr>
              <a:t>Calculating tax for a whole group by hand is slow and error-prone — and tracking who has </a:t>
            </a:r>
            <a:r>
              <a:rPr lang="en-US" sz="2550" dirty="0">
                <a:solidFill>
                  <a:srgbClr val="4EC9B0"/>
                </a:solidFill>
                <a:latin typeface="Arial" panose="020B0604020202020204" pitchFamily="34" charset="0"/>
                <a:ea typeface="Arial" panose="020B0604020202020204" pitchFamily="34" charset="-122"/>
                <a:cs typeface="Arial" panose="020B0604020202020204" pitchFamily="34" charset="-120"/>
              </a:rPr>
              <a:t>paid</a:t>
            </a:r>
            <a:r>
              <a:rPr lang="en-US" sz="2550" dirty="0">
                <a:solidFill>
                  <a:srgbClr val="C9D1D9"/>
                </a:solidFill>
                <a:latin typeface="Arial" panose="020B0604020202020204" pitchFamily="34" charset="0"/>
                <a:ea typeface="Arial" panose="020B0604020202020204" pitchFamily="34" charset="-122"/>
                <a:cs typeface="Arial" panose="020B0604020202020204" pitchFamily="34" charset="-120"/>
              </a:rPr>
              <a:t>, who is </a:t>
            </a:r>
            <a:r>
              <a:rPr lang="en-US" sz="2550" dirty="0">
                <a:solidFill>
                  <a:srgbClr val="DCDCAA"/>
                </a:solidFill>
                <a:latin typeface="Arial" panose="020B0604020202020204" pitchFamily="34" charset="0"/>
                <a:ea typeface="Arial" panose="020B0604020202020204" pitchFamily="34" charset="-122"/>
                <a:cs typeface="Arial" panose="020B0604020202020204" pitchFamily="34" charset="-120"/>
              </a:rPr>
              <a:t>unpaid </a:t>
            </a:r>
            <a:r>
              <a:rPr lang="en-US" sz="2550" dirty="0">
                <a:solidFill>
                  <a:srgbClr val="C9D1D9"/>
                </a:solidFill>
                <a:latin typeface="Arial" panose="020B0604020202020204" pitchFamily="34" charset="0"/>
                <a:ea typeface="Arial" panose="020B0604020202020204" pitchFamily="34" charset="-122"/>
                <a:cs typeface="Arial" panose="020B0604020202020204" pitchFamily="34" charset="-120"/>
              </a:rPr>
              <a:t>, and who is </a:t>
            </a:r>
            <a:r>
              <a:rPr lang="en-US" sz="2550" dirty="0">
                <a:solidFill>
                  <a:srgbClr val="F0776C"/>
                </a:solidFill>
                <a:latin typeface="Arial" panose="020B0604020202020204" pitchFamily="34" charset="0"/>
                <a:ea typeface="Arial" panose="020B0604020202020204" pitchFamily="34" charset="-122"/>
                <a:cs typeface="Arial" panose="020B0604020202020204" pitchFamily="34" charset="-120"/>
              </a:rPr>
              <a:t>overdue </a:t>
            </a:r>
            <a:r>
              <a:rPr lang="en-US" sz="2550" dirty="0">
                <a:solidFill>
                  <a:srgbClr val="C9D1D9"/>
                </a:solidFill>
                <a:latin typeface="Arial" panose="020B0604020202020204" pitchFamily="34" charset="0"/>
                <a:ea typeface="Arial" panose="020B0604020202020204" pitchFamily="34" charset="-122"/>
                <a:cs typeface="Arial" panose="020B0604020202020204" pitchFamily="34" charset="-120"/>
              </a:rPr>
              <a:t>quickly becomes a mess.</a:t>
            </a:r>
            <a:endParaRPr lang="en-US" sz="2550" dirty="0"/>
          </a:p>
        </p:txBody>
      </p:sp>
      <p:sp>
        <p:nvSpPr>
          <p:cNvPr id="5" name="Text 3"/>
          <p:cNvSpPr/>
          <p:nvPr/>
        </p:nvSpPr>
        <p:spPr>
          <a:xfrm>
            <a:off x="1047750" y="4429720"/>
            <a:ext cx="8376388" cy="1553170"/>
          </a:xfrm>
          <a:prstGeom prst="rect">
            <a:avLst/>
          </a:prstGeom>
          <a:noFill/>
        </p:spPr>
        <p:txBody>
          <a:bodyPr wrap="square" lIns="25400" tIns="25400" rIns="25400" bIns="25400" rtlCol="0" anchor="t">
            <a:normAutofit fontScale="92500" lnSpcReduction="20000"/>
          </a:bodyPr>
          <a:lstStyle/>
          <a:p>
            <a:pPr marL="0" indent="0" algn="l">
              <a:lnSpc>
                <a:spcPct val="155000"/>
              </a:lnSpc>
              <a:buNone/>
            </a:pPr>
            <a:r>
              <a:rPr lang="en-US" sz="2550" dirty="0">
                <a:solidFill>
                  <a:srgbClr val="C9D1D9"/>
                </a:solidFill>
                <a:latin typeface="Arial" panose="020B0604020202020204" pitchFamily="34" charset="0"/>
                <a:ea typeface="Arial" panose="020B0604020202020204" pitchFamily="34" charset="-122"/>
                <a:cs typeface="Arial" panose="020B0604020202020204" pitchFamily="34" charset="-120"/>
              </a:rPr>
              <a:t>The </a:t>
            </a:r>
            <a:r>
              <a:rPr lang="en-US" sz="2550" b="1" dirty="0">
                <a:solidFill>
                  <a:srgbClr val="C9D1D9"/>
                </a:solidFill>
                <a:latin typeface="Arial" panose="020B0604020202020204" pitchFamily="34" charset="0"/>
                <a:ea typeface="Arial" panose="020B0604020202020204" pitchFamily="34" charset="-122"/>
                <a:cs typeface="Arial" panose="020B0604020202020204" pitchFamily="34" charset="-120"/>
              </a:rPr>
              <a:t>Group Tax Scheduler </a:t>
            </a:r>
            <a:r>
              <a:rPr lang="en-US" sz="2550" dirty="0">
                <a:solidFill>
                  <a:srgbClr val="C9D1D9"/>
                </a:solidFill>
                <a:latin typeface="Arial" panose="020B0604020202020204" pitchFamily="34" charset="0"/>
                <a:ea typeface="Arial" panose="020B0604020202020204" pitchFamily="34" charset="-122"/>
                <a:cs typeface="Arial" panose="020B0604020202020204" pitchFamily="34" charset="-120"/>
              </a:rPr>
              <a:t>automates the calculation, tracks payment status against a real due date, and keeps a saved record — all from one text menu.</a:t>
            </a:r>
            <a:endParaRPr lang="en-US" sz="2550" dirty="0"/>
          </a:p>
        </p:txBody>
      </p:sp>
      <p:sp>
        <p:nvSpPr>
          <p:cNvPr id="6" name="Shape 4"/>
          <p:cNvSpPr/>
          <p:nvPr/>
        </p:nvSpPr>
        <p:spPr>
          <a:xfrm>
            <a:off x="9846915" y="2543175"/>
            <a:ext cx="7393335" cy="1381125"/>
          </a:xfrm>
          <a:prstGeom prst="roundRect">
            <a:avLst>
              <a:gd name="adj" fmla="val 9655"/>
            </a:avLst>
          </a:prstGeom>
          <a:solidFill>
            <a:srgbClr val="161B22"/>
          </a:solidFill>
          <a:ln w="9525">
            <a:solidFill>
              <a:srgbClr val="262C36"/>
            </a:solidFill>
            <a:prstDash val="solid"/>
          </a:ln>
        </p:spPr>
      </p:sp>
      <p:sp>
        <p:nvSpPr>
          <p:cNvPr id="7" name="Text 5"/>
          <p:cNvSpPr/>
          <p:nvPr/>
        </p:nvSpPr>
        <p:spPr>
          <a:xfrm>
            <a:off x="10180290" y="2838450"/>
            <a:ext cx="7399243" cy="381000"/>
          </a:xfrm>
          <a:prstGeom prst="rect">
            <a:avLst/>
          </a:prstGeom>
          <a:noFill/>
        </p:spPr>
        <p:txBody>
          <a:bodyPr wrap="square" lIns="25400" tIns="25400" rIns="25400" bIns="25400" rtlCol="0" anchor="t">
            <a:normAutofit/>
          </a:bodyPr>
          <a:lstStyle/>
          <a:p>
            <a:pPr marL="0" indent="0" algn="l">
              <a:buNone/>
            </a:pP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manual way</a:t>
            </a:r>
            <a:endParaRPr lang="en-US" sz="2025" dirty="0"/>
          </a:p>
        </p:txBody>
      </p:sp>
      <p:sp>
        <p:nvSpPr>
          <p:cNvPr id="8" name="Text 6"/>
          <p:cNvSpPr/>
          <p:nvPr/>
        </p:nvSpPr>
        <p:spPr>
          <a:xfrm>
            <a:off x="10180290" y="3257550"/>
            <a:ext cx="7399243" cy="409575"/>
          </a:xfrm>
          <a:prstGeom prst="rect">
            <a:avLst/>
          </a:prstGeom>
          <a:noFill/>
        </p:spPr>
        <p:txBody>
          <a:bodyPr wrap="square" lIns="25400" tIns="25400" rIns="25400" bIns="25400" rtlCol="0" anchor="t">
            <a:normAutofit/>
          </a:bodyPr>
          <a:lstStyle/>
          <a:p>
            <a:pPr marL="0" indent="0" algn="l">
              <a:buNone/>
            </a:pPr>
            <a:r>
              <a:rPr lang="en-US" sz="2250" dirty="0">
                <a:solidFill>
                  <a:srgbClr val="E6EDF3"/>
                </a:solidFill>
                <a:latin typeface="Arial" panose="020B0604020202020204" pitchFamily="34" charset="0"/>
                <a:ea typeface="Arial" panose="020B0604020202020204" pitchFamily="34" charset="-122"/>
                <a:cs typeface="Arial" panose="020B0604020202020204" pitchFamily="34" charset="-120"/>
              </a:rPr>
              <a:t>Re-do the maths for every person, every rate.</a:t>
            </a:r>
            <a:endParaRPr lang="en-US" sz="2250" dirty="0"/>
          </a:p>
        </p:txBody>
      </p:sp>
      <p:sp>
        <p:nvSpPr>
          <p:cNvPr id="9" name="Shape 7"/>
          <p:cNvSpPr/>
          <p:nvPr/>
        </p:nvSpPr>
        <p:spPr>
          <a:xfrm>
            <a:off x="9846915" y="4133850"/>
            <a:ext cx="7393335" cy="1381125"/>
          </a:xfrm>
          <a:prstGeom prst="roundRect">
            <a:avLst>
              <a:gd name="adj" fmla="val 9655"/>
            </a:avLst>
          </a:prstGeom>
          <a:solidFill>
            <a:srgbClr val="161B22"/>
          </a:solidFill>
          <a:ln w="9525">
            <a:solidFill>
              <a:srgbClr val="262C36"/>
            </a:solidFill>
            <a:prstDash val="solid"/>
          </a:ln>
        </p:spPr>
      </p:sp>
      <p:sp>
        <p:nvSpPr>
          <p:cNvPr id="10" name="Text 8"/>
          <p:cNvSpPr/>
          <p:nvPr/>
        </p:nvSpPr>
        <p:spPr>
          <a:xfrm>
            <a:off x="10180290" y="4429125"/>
            <a:ext cx="7399243" cy="381000"/>
          </a:xfrm>
          <a:prstGeom prst="rect">
            <a:avLst/>
          </a:prstGeom>
          <a:noFill/>
        </p:spPr>
        <p:txBody>
          <a:bodyPr wrap="square" lIns="25400" tIns="25400" rIns="25400" bIns="25400" rtlCol="0" anchor="t">
            <a:normAutofit/>
          </a:bodyPr>
          <a:lstStyle/>
          <a:p>
            <a:pPr marL="0" indent="0" algn="l">
              <a:buNone/>
            </a:pP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manual way</a:t>
            </a:r>
            <a:endParaRPr lang="en-US" sz="2025" dirty="0"/>
          </a:p>
        </p:txBody>
      </p:sp>
      <p:sp>
        <p:nvSpPr>
          <p:cNvPr id="11" name="Text 9"/>
          <p:cNvSpPr/>
          <p:nvPr/>
        </p:nvSpPr>
        <p:spPr>
          <a:xfrm>
            <a:off x="10180290" y="4848225"/>
            <a:ext cx="7399243" cy="409575"/>
          </a:xfrm>
          <a:prstGeom prst="rect">
            <a:avLst/>
          </a:prstGeom>
          <a:noFill/>
        </p:spPr>
        <p:txBody>
          <a:bodyPr wrap="square" lIns="25400" tIns="25400" rIns="25400" bIns="25400" rtlCol="0" anchor="t">
            <a:normAutofit/>
          </a:bodyPr>
          <a:lstStyle/>
          <a:p>
            <a:pPr marL="0" indent="0" algn="l">
              <a:buNone/>
            </a:pPr>
            <a:r>
              <a:rPr lang="en-US" sz="2250" dirty="0">
                <a:solidFill>
                  <a:srgbClr val="E6EDF3"/>
                </a:solidFill>
                <a:latin typeface="Arial" panose="020B0604020202020204" pitchFamily="34" charset="0"/>
                <a:ea typeface="Arial" panose="020B0604020202020204" pitchFamily="34" charset="-122"/>
                <a:cs typeface="Arial" panose="020B0604020202020204" pitchFamily="34" charset="-120"/>
              </a:rPr>
              <a:t>No reliable record of who has paid.</a:t>
            </a:r>
            <a:endParaRPr lang="en-US" sz="2250" dirty="0"/>
          </a:p>
        </p:txBody>
      </p:sp>
      <p:sp>
        <p:nvSpPr>
          <p:cNvPr id="12" name="Shape 10"/>
          <p:cNvSpPr/>
          <p:nvPr/>
        </p:nvSpPr>
        <p:spPr>
          <a:xfrm>
            <a:off x="9846915" y="5724525"/>
            <a:ext cx="7393335" cy="1381125"/>
          </a:xfrm>
          <a:prstGeom prst="roundRect">
            <a:avLst>
              <a:gd name="adj" fmla="val 9655"/>
            </a:avLst>
          </a:prstGeom>
          <a:solidFill>
            <a:srgbClr val="0F2A24"/>
          </a:solidFill>
          <a:ln w="9525">
            <a:solidFill>
              <a:srgbClr val="1F5F52"/>
            </a:solidFill>
            <a:prstDash val="solid"/>
          </a:ln>
        </p:spPr>
      </p:sp>
      <p:sp>
        <p:nvSpPr>
          <p:cNvPr id="13" name="Text 11"/>
          <p:cNvSpPr/>
          <p:nvPr/>
        </p:nvSpPr>
        <p:spPr>
          <a:xfrm>
            <a:off x="10180290" y="6019800"/>
            <a:ext cx="7399243" cy="381000"/>
          </a:xfrm>
          <a:prstGeom prst="rect">
            <a:avLst/>
          </a:prstGeom>
          <a:noFill/>
        </p:spPr>
        <p:txBody>
          <a:bodyPr wrap="square" lIns="25400" tIns="25400" rIns="25400" bIns="25400" rtlCol="0" anchor="t">
            <a:normAutofit/>
          </a:bodyPr>
          <a:lstStyle/>
          <a:p>
            <a:pPr marL="0" indent="0" algn="l">
              <a:buNone/>
            </a:pPr>
            <a:r>
              <a:rPr lang="en-US" sz="202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our program</a:t>
            </a:r>
            <a:endParaRPr lang="en-US" sz="2025" dirty="0"/>
          </a:p>
        </p:txBody>
      </p:sp>
      <p:sp>
        <p:nvSpPr>
          <p:cNvPr id="14" name="Text 12"/>
          <p:cNvSpPr/>
          <p:nvPr/>
        </p:nvSpPr>
        <p:spPr>
          <a:xfrm>
            <a:off x="10180290" y="6438900"/>
            <a:ext cx="7399243" cy="409575"/>
          </a:xfrm>
          <a:prstGeom prst="rect">
            <a:avLst/>
          </a:prstGeom>
          <a:noFill/>
        </p:spPr>
        <p:txBody>
          <a:bodyPr wrap="square" lIns="25400" tIns="25400" rIns="25400" bIns="25400" rtlCol="0" anchor="t">
            <a:normAutofit/>
          </a:bodyPr>
          <a:lstStyle/>
          <a:p>
            <a:pPr marL="0" indent="0" algn="l">
              <a:buNone/>
            </a:pPr>
            <a:r>
              <a:rPr lang="en-US" sz="2250" dirty="0">
                <a:solidFill>
                  <a:srgbClr val="E6EDF3"/>
                </a:solidFill>
                <a:latin typeface="Arial" panose="020B0604020202020204" pitchFamily="34" charset="0"/>
                <a:ea typeface="Arial" panose="020B0604020202020204" pitchFamily="34" charset="-122"/>
                <a:cs typeface="Arial" panose="020B0604020202020204" pitchFamily="34" charset="-120"/>
              </a:rPr>
              <a:t>One tool: calculate, track, and save.</a:t>
            </a:r>
            <a:endParaRPr lang="en-US" sz="2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03 · OBJECTIVES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What we set out to do</a:t>
            </a:r>
            <a:endParaRPr lang="en-US" sz="4800" dirty="0"/>
          </a:p>
        </p:txBody>
      </p:sp>
      <p:sp>
        <p:nvSpPr>
          <p:cNvPr id="4" name="Shape 2"/>
          <p:cNvSpPr/>
          <p:nvPr/>
        </p:nvSpPr>
        <p:spPr>
          <a:xfrm>
            <a:off x="1047750" y="2600325"/>
            <a:ext cx="5181600" cy="6924675"/>
          </a:xfrm>
          <a:prstGeom prst="roundRect">
            <a:avLst>
              <a:gd name="adj" fmla="val 2941"/>
            </a:avLst>
          </a:prstGeom>
          <a:solidFill>
            <a:srgbClr val="161B22"/>
          </a:solidFill>
          <a:ln w="9525">
            <a:solidFill>
              <a:srgbClr val="262C36"/>
            </a:solidFill>
            <a:prstDash val="solid"/>
          </a:ln>
        </p:spPr>
      </p:sp>
      <p:sp>
        <p:nvSpPr>
          <p:cNvPr id="5" name="Text 3"/>
          <p:cNvSpPr/>
          <p:nvPr/>
        </p:nvSpPr>
        <p:spPr>
          <a:xfrm>
            <a:off x="1438275" y="3048000"/>
            <a:ext cx="4840605" cy="647700"/>
          </a:xfrm>
          <a:prstGeom prst="rect">
            <a:avLst/>
          </a:prstGeom>
          <a:noFill/>
        </p:spPr>
        <p:txBody>
          <a:bodyPr wrap="square" lIns="25400" tIns="25400" rIns="25400" bIns="25400" rtlCol="0" anchor="t">
            <a:normAutofit lnSpcReduction="10000"/>
          </a:bodyPr>
          <a:lstStyle/>
          <a:p>
            <a:pPr marL="0" indent="0" algn="l">
              <a:buNone/>
            </a:pPr>
            <a:r>
              <a:rPr lang="en-US" sz="4200" b="1"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01</a:t>
            </a:r>
            <a:endParaRPr lang="en-US" sz="4200" dirty="0"/>
          </a:p>
        </p:txBody>
      </p:sp>
      <p:sp>
        <p:nvSpPr>
          <p:cNvPr id="6" name="Text 4"/>
          <p:cNvSpPr/>
          <p:nvPr/>
        </p:nvSpPr>
        <p:spPr>
          <a:xfrm>
            <a:off x="1438275" y="3905250"/>
            <a:ext cx="4840605" cy="438150"/>
          </a:xfrm>
          <a:prstGeom prst="rect">
            <a:avLst/>
          </a:prstGeom>
          <a:noFill/>
        </p:spPr>
        <p:txBody>
          <a:bodyPr wrap="square" lIns="25400" tIns="25400" rIns="25400" bIns="25400" rtlCol="0" anchor="t">
            <a:normAutofit lnSpcReduction="10000"/>
          </a:bodyPr>
          <a:lstStyle/>
          <a:p>
            <a:pPr marL="0" indent="0" algn="l">
              <a:buNone/>
            </a:pPr>
            <a:r>
              <a:rPr lang="en-US" sz="2700" b="1" dirty="0">
                <a:solidFill>
                  <a:srgbClr val="E6EDF3"/>
                </a:solidFill>
                <a:latin typeface="Arial" panose="020B0604020202020204" pitchFamily="34" charset="0"/>
                <a:ea typeface="Arial" panose="020B0604020202020204" pitchFamily="34" charset="-122"/>
                <a:cs typeface="Arial" panose="020B0604020202020204" pitchFamily="34" charset="-120"/>
              </a:rPr>
              <a:t>Apply core OOP</a:t>
            </a:r>
            <a:endParaRPr lang="en-US" sz="2700" dirty="0"/>
          </a:p>
        </p:txBody>
      </p:sp>
      <p:sp>
        <p:nvSpPr>
          <p:cNvPr id="7" name="Text 5"/>
          <p:cNvSpPr/>
          <p:nvPr/>
        </p:nvSpPr>
        <p:spPr>
          <a:xfrm>
            <a:off x="1438275" y="4457700"/>
            <a:ext cx="4532567" cy="866775"/>
          </a:xfrm>
          <a:prstGeom prst="rect">
            <a:avLst/>
          </a:prstGeom>
          <a:noFill/>
        </p:spPr>
        <p:txBody>
          <a:bodyPr wrap="square" lIns="25400" tIns="25400" rIns="25400" bIns="25400" rtlCol="0" anchor="t">
            <a:normAutofit fontScale="92500" lnSpcReduction="10000"/>
          </a:bodyPr>
          <a:lstStyle/>
          <a:p>
            <a:pPr marL="0" indent="0" algn="l">
              <a:lnSpc>
                <a:spcPct val="150000"/>
              </a:lnSpc>
              <a:buNone/>
            </a:pPr>
            <a:r>
              <a:rPr lang="en-US" sz="2175" dirty="0">
                <a:solidFill>
                  <a:srgbClr val="8B949E"/>
                </a:solidFill>
                <a:latin typeface="Arial" panose="020B0604020202020204" pitchFamily="34" charset="0"/>
                <a:ea typeface="Arial" panose="020B0604020202020204" pitchFamily="34" charset="-122"/>
                <a:cs typeface="Arial" panose="020B0604020202020204" pitchFamily="34" charset="-120"/>
              </a:rPr>
              <a:t>Put the four pillars to work in a real, useful program.</a:t>
            </a:r>
            <a:endParaRPr lang="en-US" sz="2175" dirty="0"/>
          </a:p>
        </p:txBody>
      </p:sp>
      <p:sp>
        <p:nvSpPr>
          <p:cNvPr id="8" name="Shape 6"/>
          <p:cNvSpPr/>
          <p:nvPr/>
        </p:nvSpPr>
        <p:spPr>
          <a:xfrm>
            <a:off x="6553200" y="2600325"/>
            <a:ext cx="5181600" cy="6924675"/>
          </a:xfrm>
          <a:prstGeom prst="roundRect">
            <a:avLst>
              <a:gd name="adj" fmla="val 2941"/>
            </a:avLst>
          </a:prstGeom>
          <a:solidFill>
            <a:srgbClr val="161B22"/>
          </a:solidFill>
          <a:ln w="9525">
            <a:solidFill>
              <a:srgbClr val="262C36"/>
            </a:solidFill>
            <a:prstDash val="solid"/>
          </a:ln>
        </p:spPr>
      </p:sp>
      <p:sp>
        <p:nvSpPr>
          <p:cNvPr id="9" name="Text 7"/>
          <p:cNvSpPr/>
          <p:nvPr/>
        </p:nvSpPr>
        <p:spPr>
          <a:xfrm>
            <a:off x="6943725" y="3048000"/>
            <a:ext cx="4840605" cy="647700"/>
          </a:xfrm>
          <a:prstGeom prst="rect">
            <a:avLst/>
          </a:prstGeom>
          <a:noFill/>
        </p:spPr>
        <p:txBody>
          <a:bodyPr wrap="square" lIns="25400" tIns="25400" rIns="25400" bIns="25400" rtlCol="0" anchor="t">
            <a:normAutofit lnSpcReduction="10000"/>
          </a:bodyPr>
          <a:lstStyle/>
          <a:p>
            <a:pPr marL="0" indent="0" algn="l">
              <a:buNone/>
            </a:pPr>
            <a:r>
              <a:rPr lang="en-US" sz="4200" b="1"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02</a:t>
            </a:r>
            <a:endParaRPr lang="en-US" sz="4200" dirty="0"/>
          </a:p>
        </p:txBody>
      </p:sp>
      <p:sp>
        <p:nvSpPr>
          <p:cNvPr id="10" name="Text 8"/>
          <p:cNvSpPr/>
          <p:nvPr/>
        </p:nvSpPr>
        <p:spPr>
          <a:xfrm>
            <a:off x="6943725" y="3905250"/>
            <a:ext cx="4840605" cy="438150"/>
          </a:xfrm>
          <a:prstGeom prst="rect">
            <a:avLst/>
          </a:prstGeom>
          <a:noFill/>
        </p:spPr>
        <p:txBody>
          <a:bodyPr wrap="square" lIns="25400" tIns="25400" rIns="25400" bIns="25400" rtlCol="0" anchor="t">
            <a:normAutofit lnSpcReduction="10000"/>
          </a:bodyPr>
          <a:lstStyle/>
          <a:p>
            <a:pPr marL="0" indent="0" algn="l">
              <a:buNone/>
            </a:pPr>
            <a:r>
              <a:rPr lang="en-US" sz="2700" b="1" dirty="0">
                <a:solidFill>
                  <a:srgbClr val="E6EDF3"/>
                </a:solidFill>
                <a:latin typeface="Arial" panose="020B0604020202020204" pitchFamily="34" charset="0"/>
                <a:ea typeface="Arial" panose="020B0604020202020204" pitchFamily="34" charset="-122"/>
                <a:cs typeface="Arial" panose="020B0604020202020204" pitchFamily="34" charset="-120"/>
              </a:rPr>
              <a:t>Automate the work</a:t>
            </a:r>
            <a:endParaRPr lang="en-US" sz="2700" dirty="0"/>
          </a:p>
        </p:txBody>
      </p:sp>
      <p:sp>
        <p:nvSpPr>
          <p:cNvPr id="11" name="Text 9"/>
          <p:cNvSpPr/>
          <p:nvPr/>
        </p:nvSpPr>
        <p:spPr>
          <a:xfrm>
            <a:off x="6943725" y="4457700"/>
            <a:ext cx="4532567" cy="866775"/>
          </a:xfrm>
          <a:prstGeom prst="rect">
            <a:avLst/>
          </a:prstGeom>
          <a:noFill/>
        </p:spPr>
        <p:txBody>
          <a:bodyPr wrap="square" lIns="25400" tIns="25400" rIns="25400" bIns="25400" rtlCol="0" anchor="t">
            <a:normAutofit fontScale="92500" lnSpcReduction="10000"/>
          </a:bodyPr>
          <a:lstStyle/>
          <a:p>
            <a:pPr marL="0" indent="0" algn="l">
              <a:lnSpc>
                <a:spcPct val="150000"/>
              </a:lnSpc>
              <a:buNone/>
            </a:pPr>
            <a:r>
              <a:rPr lang="en-US" sz="2175" dirty="0">
                <a:solidFill>
                  <a:srgbClr val="8B949E"/>
                </a:solidFill>
                <a:latin typeface="Arial" panose="020B0604020202020204" pitchFamily="34" charset="0"/>
                <a:ea typeface="Arial" panose="020B0604020202020204" pitchFamily="34" charset="-122"/>
                <a:cs typeface="Arial" panose="020B0604020202020204" pitchFamily="34" charset="-120"/>
              </a:rPr>
              <a:t>Calculate tax and track payment for a whole group.</a:t>
            </a:r>
            <a:endParaRPr lang="en-US" sz="2175" dirty="0"/>
          </a:p>
        </p:txBody>
      </p:sp>
      <p:sp>
        <p:nvSpPr>
          <p:cNvPr id="12" name="Shape 10"/>
          <p:cNvSpPr/>
          <p:nvPr/>
        </p:nvSpPr>
        <p:spPr>
          <a:xfrm>
            <a:off x="12058650" y="2600325"/>
            <a:ext cx="5181600" cy="6924675"/>
          </a:xfrm>
          <a:prstGeom prst="roundRect">
            <a:avLst>
              <a:gd name="adj" fmla="val 2941"/>
            </a:avLst>
          </a:prstGeom>
          <a:solidFill>
            <a:srgbClr val="161B22"/>
          </a:solidFill>
          <a:ln w="9525">
            <a:solidFill>
              <a:srgbClr val="262C36"/>
            </a:solidFill>
            <a:prstDash val="solid"/>
          </a:ln>
        </p:spPr>
      </p:sp>
      <p:sp>
        <p:nvSpPr>
          <p:cNvPr id="13" name="Text 11"/>
          <p:cNvSpPr/>
          <p:nvPr/>
        </p:nvSpPr>
        <p:spPr>
          <a:xfrm>
            <a:off x="12449175" y="3048000"/>
            <a:ext cx="4840605" cy="647700"/>
          </a:xfrm>
          <a:prstGeom prst="rect">
            <a:avLst/>
          </a:prstGeom>
          <a:noFill/>
        </p:spPr>
        <p:txBody>
          <a:bodyPr wrap="square" lIns="25400" tIns="25400" rIns="25400" bIns="25400" rtlCol="0" anchor="t">
            <a:normAutofit lnSpcReduction="10000"/>
          </a:bodyPr>
          <a:lstStyle/>
          <a:p>
            <a:pPr marL="0" indent="0" algn="l">
              <a:buNone/>
            </a:pPr>
            <a:r>
              <a:rPr lang="en-US" sz="4200" b="1"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03</a:t>
            </a:r>
            <a:endParaRPr lang="en-US" sz="4200" dirty="0"/>
          </a:p>
        </p:txBody>
      </p:sp>
      <p:sp>
        <p:nvSpPr>
          <p:cNvPr id="14" name="Text 12"/>
          <p:cNvSpPr/>
          <p:nvPr/>
        </p:nvSpPr>
        <p:spPr>
          <a:xfrm>
            <a:off x="12449175" y="3905250"/>
            <a:ext cx="4840605" cy="438150"/>
          </a:xfrm>
          <a:prstGeom prst="rect">
            <a:avLst/>
          </a:prstGeom>
          <a:noFill/>
        </p:spPr>
        <p:txBody>
          <a:bodyPr wrap="square" lIns="25400" tIns="25400" rIns="25400" bIns="25400" rtlCol="0" anchor="t">
            <a:normAutofit lnSpcReduction="10000"/>
          </a:bodyPr>
          <a:lstStyle/>
          <a:p>
            <a:pPr marL="0" indent="0" algn="l">
              <a:buNone/>
            </a:pPr>
            <a:r>
              <a:rPr lang="en-US" sz="2700" b="1" dirty="0">
                <a:solidFill>
                  <a:srgbClr val="E6EDF3"/>
                </a:solidFill>
                <a:latin typeface="Arial" panose="020B0604020202020204" pitchFamily="34" charset="0"/>
                <a:ea typeface="Arial" panose="020B0604020202020204" pitchFamily="34" charset="-122"/>
                <a:cs typeface="Arial" panose="020B0604020202020204" pitchFamily="34" charset="-120"/>
              </a:rPr>
              <a:t>Design cleanly</a:t>
            </a:r>
            <a:endParaRPr lang="en-US" sz="2700" dirty="0"/>
          </a:p>
        </p:txBody>
      </p:sp>
      <p:sp>
        <p:nvSpPr>
          <p:cNvPr id="15" name="Text 13"/>
          <p:cNvSpPr/>
          <p:nvPr/>
        </p:nvSpPr>
        <p:spPr>
          <a:xfrm>
            <a:off x="12449175" y="4457700"/>
            <a:ext cx="4532567" cy="866775"/>
          </a:xfrm>
          <a:prstGeom prst="rect">
            <a:avLst/>
          </a:prstGeom>
          <a:noFill/>
        </p:spPr>
        <p:txBody>
          <a:bodyPr wrap="square" lIns="25400" tIns="25400" rIns="25400" bIns="25400" rtlCol="0" anchor="t">
            <a:normAutofit fontScale="92500" lnSpcReduction="10000"/>
          </a:bodyPr>
          <a:lstStyle/>
          <a:p>
            <a:pPr marL="0" indent="0" algn="l">
              <a:lnSpc>
                <a:spcPct val="150000"/>
              </a:lnSpc>
              <a:buNone/>
            </a:pPr>
            <a:r>
              <a:rPr lang="en-US" sz="2175" dirty="0">
                <a:solidFill>
                  <a:srgbClr val="8B949E"/>
                </a:solidFill>
                <a:latin typeface="Arial" panose="020B0604020202020204" pitchFamily="34" charset="0"/>
                <a:ea typeface="Arial" panose="020B0604020202020204" pitchFamily="34" charset="-122"/>
                <a:cs typeface="Arial" panose="020B0604020202020204" pitchFamily="34" charset="-120"/>
              </a:rPr>
              <a:t>Practise validation, error handling, and file storage.</a:t>
            </a:r>
            <a:endParaRPr lang="en-US" sz="21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04 · TOOLS &amp; TECHNOLOGIES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What we built it with</a:t>
            </a:r>
            <a:endParaRPr lang="en-US" sz="4800" dirty="0"/>
          </a:p>
        </p:txBody>
      </p:sp>
      <p:sp>
        <p:nvSpPr>
          <p:cNvPr id="4" name="Shape 2"/>
          <p:cNvSpPr/>
          <p:nvPr/>
        </p:nvSpPr>
        <p:spPr>
          <a:xfrm>
            <a:off x="1047750" y="2543175"/>
            <a:ext cx="5219700" cy="1914525"/>
          </a:xfrm>
          <a:prstGeom prst="roundRect">
            <a:avLst>
              <a:gd name="adj" fmla="val 6965"/>
            </a:avLst>
          </a:prstGeom>
          <a:solidFill>
            <a:srgbClr val="161B22"/>
          </a:solidFill>
          <a:ln w="9525">
            <a:solidFill>
              <a:srgbClr val="262C36"/>
            </a:solidFill>
            <a:prstDash val="solid"/>
          </a:ln>
        </p:spPr>
      </p:sp>
      <p:sp>
        <p:nvSpPr>
          <p:cNvPr id="5" name="Text 3"/>
          <p:cNvSpPr/>
          <p:nvPr/>
        </p:nvSpPr>
        <p:spPr>
          <a:xfrm>
            <a:off x="1362075" y="2895600"/>
            <a:ext cx="5050155" cy="381000"/>
          </a:xfrm>
          <a:prstGeom prst="rect">
            <a:avLst/>
          </a:prstGeom>
          <a:noFill/>
        </p:spPr>
        <p:txBody>
          <a:bodyPr wrap="square" lIns="25400" tIns="25400" rIns="25400" bIns="25400" rtlCol="0" anchor="t">
            <a:normAutofit/>
          </a:bodyPr>
          <a:lstStyle/>
          <a:p>
            <a:pPr marL="0" indent="0" algn="l">
              <a:buNone/>
            </a:pP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language</a:t>
            </a:r>
            <a:endParaRPr lang="en-US" sz="2025" dirty="0"/>
          </a:p>
        </p:txBody>
      </p:sp>
      <p:sp>
        <p:nvSpPr>
          <p:cNvPr id="6" name="Text 4"/>
          <p:cNvSpPr/>
          <p:nvPr/>
        </p:nvSpPr>
        <p:spPr>
          <a:xfrm>
            <a:off x="1362075" y="3352800"/>
            <a:ext cx="505015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E6EDF3"/>
                </a:solidFill>
                <a:latin typeface="Arial" panose="020B0604020202020204" pitchFamily="34" charset="0"/>
                <a:ea typeface="Arial" panose="020B0604020202020204" pitchFamily="34" charset="-122"/>
                <a:cs typeface="Arial" panose="020B0604020202020204" pitchFamily="34" charset="-120"/>
              </a:rPr>
              <a:t>C++</a:t>
            </a:r>
            <a:endParaRPr lang="en-US" sz="2550" dirty="0"/>
          </a:p>
        </p:txBody>
      </p:sp>
      <p:sp>
        <p:nvSpPr>
          <p:cNvPr id="7" name="Text 5"/>
          <p:cNvSpPr/>
          <p:nvPr/>
        </p:nvSpPr>
        <p:spPr>
          <a:xfrm>
            <a:off x="1362075" y="3781425"/>
            <a:ext cx="5050155" cy="361950"/>
          </a:xfrm>
          <a:prstGeom prst="rect">
            <a:avLst/>
          </a:prstGeom>
          <a:noFill/>
        </p:spPr>
        <p:txBody>
          <a:bodyPr wrap="square" lIns="25400" tIns="25400" rIns="25400" bIns="25400" rtlCol="0" anchor="t">
            <a:normAutofit/>
          </a:bodyPr>
          <a:lstStyle/>
          <a:p>
            <a:pPr marL="0" indent="0" algn="l">
              <a:buNone/>
            </a:pPr>
            <a:r>
              <a:rPr lang="en-US" sz="1950" dirty="0">
                <a:solidFill>
                  <a:srgbClr val="8B949E"/>
                </a:solidFill>
                <a:latin typeface="Arial" panose="020B0604020202020204" pitchFamily="34" charset="0"/>
                <a:ea typeface="Arial" panose="020B0604020202020204" pitchFamily="34" charset="-122"/>
                <a:cs typeface="Arial" panose="020B0604020202020204" pitchFamily="34" charset="-120"/>
              </a:rPr>
              <a:t>g++ 16 · MSYS2</a:t>
            </a:r>
            <a:endParaRPr lang="en-US" sz="1950" dirty="0"/>
          </a:p>
        </p:txBody>
      </p:sp>
      <p:sp>
        <p:nvSpPr>
          <p:cNvPr id="8" name="Shape 6"/>
          <p:cNvSpPr/>
          <p:nvPr/>
        </p:nvSpPr>
        <p:spPr>
          <a:xfrm>
            <a:off x="6534150" y="2543175"/>
            <a:ext cx="5219700" cy="1914525"/>
          </a:xfrm>
          <a:prstGeom prst="roundRect">
            <a:avLst>
              <a:gd name="adj" fmla="val 6965"/>
            </a:avLst>
          </a:prstGeom>
          <a:solidFill>
            <a:srgbClr val="161B22"/>
          </a:solidFill>
          <a:ln w="9525">
            <a:solidFill>
              <a:srgbClr val="262C36"/>
            </a:solidFill>
            <a:prstDash val="solid"/>
          </a:ln>
        </p:spPr>
      </p:sp>
      <p:sp>
        <p:nvSpPr>
          <p:cNvPr id="9" name="Text 7"/>
          <p:cNvSpPr/>
          <p:nvPr/>
        </p:nvSpPr>
        <p:spPr>
          <a:xfrm>
            <a:off x="6848475" y="2895600"/>
            <a:ext cx="5050155" cy="381000"/>
          </a:xfrm>
          <a:prstGeom prst="rect">
            <a:avLst/>
          </a:prstGeom>
          <a:noFill/>
        </p:spPr>
        <p:txBody>
          <a:bodyPr wrap="square" lIns="25400" tIns="25400" rIns="25400" bIns="25400" rtlCol="0" anchor="t">
            <a:normAutofit/>
          </a:bodyPr>
          <a:lstStyle/>
          <a:p>
            <a:pPr marL="0" indent="0" algn="l">
              <a:buNone/>
            </a:pP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editor</a:t>
            </a:r>
            <a:endParaRPr lang="en-US" sz="2025" dirty="0"/>
          </a:p>
        </p:txBody>
      </p:sp>
      <p:sp>
        <p:nvSpPr>
          <p:cNvPr id="10" name="Text 8"/>
          <p:cNvSpPr/>
          <p:nvPr/>
        </p:nvSpPr>
        <p:spPr>
          <a:xfrm>
            <a:off x="6848475" y="3352800"/>
            <a:ext cx="505015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E6EDF3"/>
                </a:solidFill>
                <a:latin typeface="Arial" panose="020B0604020202020204" pitchFamily="34" charset="0"/>
                <a:ea typeface="Arial" panose="020B0604020202020204" pitchFamily="34" charset="-122"/>
                <a:cs typeface="Arial" panose="020B0604020202020204" pitchFamily="34" charset="-120"/>
              </a:rPr>
              <a:t>VS Code</a:t>
            </a:r>
            <a:endParaRPr lang="en-US" sz="2550" dirty="0"/>
          </a:p>
        </p:txBody>
      </p:sp>
      <p:sp>
        <p:nvSpPr>
          <p:cNvPr id="11" name="Text 9"/>
          <p:cNvSpPr/>
          <p:nvPr/>
        </p:nvSpPr>
        <p:spPr>
          <a:xfrm>
            <a:off x="6848475" y="3781425"/>
            <a:ext cx="5050155" cy="361950"/>
          </a:xfrm>
          <a:prstGeom prst="rect">
            <a:avLst/>
          </a:prstGeom>
          <a:noFill/>
        </p:spPr>
        <p:txBody>
          <a:bodyPr wrap="square" lIns="25400" tIns="25400" rIns="25400" bIns="25400" rtlCol="0" anchor="t">
            <a:normAutofit/>
          </a:bodyPr>
          <a:lstStyle/>
          <a:p>
            <a:pPr marL="0" indent="0" algn="l">
              <a:buNone/>
            </a:pPr>
            <a:r>
              <a:rPr lang="en-US" sz="1950" dirty="0">
                <a:solidFill>
                  <a:srgbClr val="8B949E"/>
                </a:solidFill>
                <a:latin typeface="Arial" panose="020B0604020202020204" pitchFamily="34" charset="0"/>
                <a:ea typeface="Arial" panose="020B0604020202020204" pitchFamily="34" charset="-122"/>
                <a:cs typeface="Arial" panose="020B0604020202020204" pitchFamily="34" charset="-120"/>
              </a:rPr>
              <a:t>with C/C++ tools</a:t>
            </a:r>
            <a:endParaRPr lang="en-US" sz="1950" dirty="0"/>
          </a:p>
        </p:txBody>
      </p:sp>
      <p:sp>
        <p:nvSpPr>
          <p:cNvPr id="12" name="Shape 10"/>
          <p:cNvSpPr/>
          <p:nvPr/>
        </p:nvSpPr>
        <p:spPr>
          <a:xfrm>
            <a:off x="12020550" y="2543175"/>
            <a:ext cx="5219700" cy="1914525"/>
          </a:xfrm>
          <a:prstGeom prst="roundRect">
            <a:avLst>
              <a:gd name="adj" fmla="val 6965"/>
            </a:avLst>
          </a:prstGeom>
          <a:solidFill>
            <a:srgbClr val="161B22"/>
          </a:solidFill>
          <a:ln w="9525">
            <a:solidFill>
              <a:srgbClr val="262C36"/>
            </a:solidFill>
            <a:prstDash val="solid"/>
          </a:ln>
        </p:spPr>
      </p:sp>
      <p:sp>
        <p:nvSpPr>
          <p:cNvPr id="13" name="Text 11"/>
          <p:cNvSpPr/>
          <p:nvPr/>
        </p:nvSpPr>
        <p:spPr>
          <a:xfrm>
            <a:off x="12334875" y="2895600"/>
            <a:ext cx="5050155" cy="381000"/>
          </a:xfrm>
          <a:prstGeom prst="rect">
            <a:avLst/>
          </a:prstGeom>
          <a:noFill/>
        </p:spPr>
        <p:txBody>
          <a:bodyPr wrap="square" lIns="25400" tIns="25400" rIns="25400" bIns="25400" rtlCol="0" anchor="t">
            <a:normAutofit/>
          </a:bodyPr>
          <a:lstStyle/>
          <a:p>
            <a:pPr marL="0" indent="0" algn="l">
              <a:buNone/>
            </a:pPr>
            <a:r>
              <a:rPr lang="en-US" sz="202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storage</a:t>
            </a:r>
            <a:endParaRPr lang="en-US" sz="2025" dirty="0"/>
          </a:p>
        </p:txBody>
      </p:sp>
      <p:sp>
        <p:nvSpPr>
          <p:cNvPr id="14" name="Text 12"/>
          <p:cNvSpPr/>
          <p:nvPr/>
        </p:nvSpPr>
        <p:spPr>
          <a:xfrm>
            <a:off x="12334875" y="3352800"/>
            <a:ext cx="505015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E6EDF3"/>
                </a:solidFill>
                <a:latin typeface="Arial" panose="020B0604020202020204" pitchFamily="34" charset="0"/>
                <a:ea typeface="Arial" panose="020B0604020202020204" pitchFamily="34" charset="-122"/>
                <a:cs typeface="Arial" panose="020B0604020202020204" pitchFamily="34" charset="-120"/>
              </a:rPr>
              <a:t>Text file</a:t>
            </a:r>
            <a:endParaRPr lang="en-US" sz="2550" dirty="0"/>
          </a:p>
        </p:txBody>
      </p:sp>
      <p:sp>
        <p:nvSpPr>
          <p:cNvPr id="15" name="Text 13"/>
          <p:cNvSpPr/>
          <p:nvPr/>
        </p:nvSpPr>
        <p:spPr>
          <a:xfrm>
            <a:off x="12334875" y="3781425"/>
            <a:ext cx="5050155" cy="361950"/>
          </a:xfrm>
          <a:prstGeom prst="rect">
            <a:avLst/>
          </a:prstGeom>
          <a:noFill/>
        </p:spPr>
        <p:txBody>
          <a:bodyPr wrap="square" lIns="25400" tIns="25400" rIns="25400" bIns="25400" rtlCol="0" anchor="t">
            <a:normAutofit/>
          </a:bodyPr>
          <a:lstStyle/>
          <a:p>
            <a:pPr marL="0" indent="0" algn="l">
              <a:buNone/>
            </a:pPr>
            <a:r>
              <a:rPr lang="en-US" sz="1950" dirty="0">
                <a:solidFill>
                  <a:srgbClr val="8B949E"/>
                </a:solidFill>
                <a:latin typeface="Arial" panose="020B0604020202020204" pitchFamily="34" charset="0"/>
                <a:ea typeface="Arial" panose="020B0604020202020204" pitchFamily="34" charset="-122"/>
                <a:cs typeface="Arial" panose="020B0604020202020204" pitchFamily="34" charset="-120"/>
              </a:rPr>
              <a:t>save &amp; reload</a:t>
            </a:r>
            <a:endParaRPr lang="en-US" sz="1950" dirty="0"/>
          </a:p>
        </p:txBody>
      </p:sp>
      <p:sp>
        <p:nvSpPr>
          <p:cNvPr id="16" name="Shape 14"/>
          <p:cNvSpPr/>
          <p:nvPr/>
        </p:nvSpPr>
        <p:spPr>
          <a:xfrm>
            <a:off x="1047750" y="4895850"/>
            <a:ext cx="16192500" cy="1533525"/>
          </a:xfrm>
          <a:prstGeom prst="roundRect">
            <a:avLst>
              <a:gd name="adj" fmla="val 8696"/>
            </a:avLst>
          </a:prstGeom>
          <a:solidFill>
            <a:srgbClr val="0B0E14"/>
          </a:solidFill>
          <a:ln w="9525">
            <a:solidFill>
              <a:srgbClr val="262C36"/>
            </a:solidFill>
            <a:prstDash val="solid"/>
          </a:ln>
        </p:spPr>
      </p:sp>
      <p:sp>
        <p:nvSpPr>
          <p:cNvPr id="17" name="Text 15"/>
          <p:cNvSpPr/>
          <p:nvPr/>
        </p:nvSpPr>
        <p:spPr>
          <a:xfrm>
            <a:off x="1438275" y="5229225"/>
            <a:ext cx="16952595" cy="361950"/>
          </a:xfrm>
          <a:prstGeom prst="rect">
            <a:avLst/>
          </a:prstGeom>
          <a:noFill/>
        </p:spPr>
        <p:txBody>
          <a:bodyPr wrap="square" lIns="25400" tIns="25400" rIns="25400" bIns="25400" rtlCol="0" anchor="t">
            <a:normAutofit/>
          </a:bodyPr>
          <a:lstStyle/>
          <a:p>
            <a:pPr marL="0" indent="0" algn="l">
              <a:buNone/>
            </a:pPr>
            <a:r>
              <a:rPr lang="en-US" sz="1875"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build command</a:t>
            </a:r>
            <a:endParaRPr lang="en-US" sz="1875" dirty="0"/>
          </a:p>
        </p:txBody>
      </p:sp>
      <p:sp>
        <p:nvSpPr>
          <p:cNvPr id="18" name="Text 16"/>
          <p:cNvSpPr/>
          <p:nvPr/>
        </p:nvSpPr>
        <p:spPr>
          <a:xfrm>
            <a:off x="1438275" y="5686425"/>
            <a:ext cx="16952595" cy="447675"/>
          </a:xfrm>
          <a:prstGeom prst="rect">
            <a:avLst/>
          </a:prstGeom>
          <a:noFill/>
        </p:spPr>
        <p:txBody>
          <a:bodyPr wrap="square" lIns="25400" tIns="25400" rIns="25400" bIns="25400" rtlCol="0" anchor="t">
            <a:normAutofit/>
          </a:bodyPr>
          <a:lstStyle/>
          <a:p>
            <a:pPr marL="0" indent="0" algn="l">
              <a:buNone/>
            </a:pPr>
            <a:r>
              <a:rPr lang="en-US" sz="2400"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g++ </a:t>
            </a:r>
            <a:r>
              <a:rPr lang="en-US" sz="24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tax_scheduler.cpp </a:t>
            </a:r>
            <a:r>
              <a:rPr lang="en-US" sz="2400"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-o </a:t>
            </a:r>
            <a:r>
              <a:rPr lang="en-US" sz="24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tax_scheduler.exe </a:t>
            </a:r>
            <a:r>
              <a:rPr lang="en-US" sz="2400"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-static</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05 · KEY FEATURES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What it can do</a:t>
            </a:r>
            <a:endParaRPr lang="en-US" sz="4800" dirty="0"/>
          </a:p>
        </p:txBody>
      </p:sp>
      <p:sp>
        <p:nvSpPr>
          <p:cNvPr id="4" name="Text 2"/>
          <p:cNvSpPr/>
          <p:nvPr/>
        </p:nvSpPr>
        <p:spPr>
          <a:xfrm>
            <a:off x="1047750" y="2486025"/>
            <a:ext cx="307032" cy="76200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5" name="Text 3"/>
          <p:cNvSpPr/>
          <p:nvPr/>
        </p:nvSpPr>
        <p:spPr>
          <a:xfrm>
            <a:off x="1450032" y="2486025"/>
            <a:ext cx="8282726" cy="762000"/>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Add or delete a taxpayer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deleting safely frees memory (no leaks or dangling pointers).</a:t>
            </a:r>
            <a:endParaRPr lang="en-US" sz="2175" dirty="0"/>
          </a:p>
        </p:txBody>
      </p:sp>
      <p:sp>
        <p:nvSpPr>
          <p:cNvPr id="6" name="Text 4"/>
          <p:cNvSpPr/>
          <p:nvPr/>
        </p:nvSpPr>
        <p:spPr>
          <a:xfrm>
            <a:off x="1047750" y="3362325"/>
            <a:ext cx="307032" cy="76200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7" name="Text 5"/>
          <p:cNvSpPr/>
          <p:nvPr/>
        </p:nvSpPr>
        <p:spPr>
          <a:xfrm>
            <a:off x="1450032" y="3362325"/>
            <a:ext cx="8282726" cy="762000"/>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View the schedule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name, category, income, tax, due date, status.</a:t>
            </a:r>
            <a:endParaRPr lang="en-US" sz="2175" dirty="0"/>
          </a:p>
        </p:txBody>
      </p:sp>
      <p:sp>
        <p:nvSpPr>
          <p:cNvPr id="8" name="Text 6"/>
          <p:cNvSpPr/>
          <p:nvPr/>
        </p:nvSpPr>
        <p:spPr>
          <a:xfrm>
            <a:off x="1047750" y="4238625"/>
            <a:ext cx="307032" cy="409575"/>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9" name="Text 7"/>
          <p:cNvSpPr/>
          <p:nvPr/>
        </p:nvSpPr>
        <p:spPr>
          <a:xfrm>
            <a:off x="1450032" y="4238625"/>
            <a:ext cx="8394769" cy="409575"/>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Live status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PAID, unpaid, or OVERDUE against the real date.</a:t>
            </a:r>
            <a:endParaRPr lang="en-US" sz="2175" dirty="0"/>
          </a:p>
        </p:txBody>
      </p:sp>
      <p:sp>
        <p:nvSpPr>
          <p:cNvPr id="10" name="Text 8"/>
          <p:cNvSpPr/>
          <p:nvPr/>
        </p:nvSpPr>
        <p:spPr>
          <a:xfrm>
            <a:off x="1047750" y="4762500"/>
            <a:ext cx="307032" cy="409575"/>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1" name="Text 9"/>
          <p:cNvSpPr/>
          <p:nvPr/>
        </p:nvSpPr>
        <p:spPr>
          <a:xfrm>
            <a:off x="1450032" y="4762500"/>
            <a:ext cx="7832914" cy="409575"/>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Change the due date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revalidated and flips statuses live.</a:t>
            </a:r>
            <a:endParaRPr lang="en-US" sz="2175" dirty="0"/>
          </a:p>
        </p:txBody>
      </p:sp>
      <p:sp>
        <p:nvSpPr>
          <p:cNvPr id="12" name="Text 10"/>
          <p:cNvSpPr/>
          <p:nvPr/>
        </p:nvSpPr>
        <p:spPr>
          <a:xfrm>
            <a:off x="1047750" y="5286375"/>
            <a:ext cx="307032" cy="76200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3" name="Text 11"/>
          <p:cNvSpPr/>
          <p:nvPr/>
        </p:nvSpPr>
        <p:spPr>
          <a:xfrm>
            <a:off x="1450032" y="5286375"/>
            <a:ext cx="8282726" cy="762000"/>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View totals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by category, plus total, paid, outstanding, and an overdue alert.</a:t>
            </a:r>
            <a:endParaRPr lang="en-US" sz="2175" dirty="0"/>
          </a:p>
        </p:txBody>
      </p:sp>
      <p:sp>
        <p:nvSpPr>
          <p:cNvPr id="14" name="Text 12"/>
          <p:cNvSpPr/>
          <p:nvPr/>
        </p:nvSpPr>
        <p:spPr>
          <a:xfrm>
            <a:off x="1047750" y="6162675"/>
            <a:ext cx="307032" cy="409575"/>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5" name="Text 13"/>
          <p:cNvSpPr/>
          <p:nvPr/>
        </p:nvSpPr>
        <p:spPr>
          <a:xfrm>
            <a:off x="1450032" y="6162675"/>
            <a:ext cx="6583963" cy="409575"/>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Mark as paid</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then </a:t>
            </a: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save / load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the group to a file.</a:t>
            </a:r>
            <a:endParaRPr lang="en-US" sz="2175" dirty="0"/>
          </a:p>
        </p:txBody>
      </p:sp>
      <p:sp>
        <p:nvSpPr>
          <p:cNvPr id="16" name="Text 14"/>
          <p:cNvSpPr/>
          <p:nvPr/>
        </p:nvSpPr>
        <p:spPr>
          <a:xfrm>
            <a:off x="1047750" y="6686550"/>
            <a:ext cx="307032" cy="76200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7" name="Text 15"/>
          <p:cNvSpPr/>
          <p:nvPr/>
        </p:nvSpPr>
        <p:spPr>
          <a:xfrm>
            <a:off x="1450032" y="6686550"/>
            <a:ext cx="8282726" cy="762000"/>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Smart startup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continue with saved data (safe default) or start fresh.</a:t>
            </a:r>
            <a:endParaRPr lang="en-US" sz="2175" dirty="0"/>
          </a:p>
        </p:txBody>
      </p:sp>
      <p:sp>
        <p:nvSpPr>
          <p:cNvPr id="18" name="Text 16"/>
          <p:cNvSpPr/>
          <p:nvPr/>
        </p:nvSpPr>
        <p:spPr>
          <a:xfrm>
            <a:off x="1047750" y="7562850"/>
            <a:ext cx="307032" cy="409575"/>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9" name="Text 17"/>
          <p:cNvSpPr/>
          <p:nvPr/>
        </p:nvSpPr>
        <p:spPr>
          <a:xfrm>
            <a:off x="1450032" y="7562850"/>
            <a:ext cx="8534087" cy="409575"/>
          </a:xfrm>
          <a:prstGeom prst="rect">
            <a:avLst/>
          </a:prstGeom>
          <a:noFill/>
        </p:spPr>
        <p:txBody>
          <a:bodyPr wrap="square" lIns="25400" tIns="25400" rIns="25400" bIns="25400" rtlCol="0" anchor="t">
            <a:normAutofit/>
          </a:bodyPr>
          <a:lstStyle/>
          <a:p>
            <a:pPr marL="0" indent="0" algn="l">
              <a:buNone/>
            </a:pPr>
            <a:r>
              <a:rPr lang="en-US" sz="2175" b="1" dirty="0">
                <a:solidFill>
                  <a:srgbClr val="E6EDF3"/>
                </a:solidFill>
                <a:latin typeface="Arial" panose="020B0604020202020204" pitchFamily="34" charset="0"/>
                <a:ea typeface="Arial" panose="020B0604020202020204" pitchFamily="34" charset="-122"/>
                <a:cs typeface="Arial" panose="020B0604020202020204" pitchFamily="34" charset="-120"/>
              </a:rPr>
              <a:t>Strong validation </a:t>
            </a: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 rejects letters, negatives, impossible dates.</a:t>
            </a:r>
            <a:endParaRPr lang="en-US" sz="2175" dirty="0"/>
          </a:p>
        </p:txBody>
      </p:sp>
      <p:sp>
        <p:nvSpPr>
          <p:cNvPr id="20" name="Shape 18"/>
          <p:cNvSpPr/>
          <p:nvPr/>
        </p:nvSpPr>
        <p:spPr>
          <a:xfrm>
            <a:off x="10063014" y="2486025"/>
            <a:ext cx="7177088" cy="4455319"/>
          </a:xfrm>
          <a:prstGeom prst="roundRect">
            <a:avLst>
              <a:gd name="adj" fmla="val 2993"/>
            </a:avLst>
          </a:prstGeom>
          <a:solidFill>
            <a:srgbClr val="0B0E14"/>
          </a:solidFill>
          <a:ln w="9525">
            <a:solidFill>
              <a:srgbClr val="262C36"/>
            </a:solidFill>
            <a:prstDash val="solid"/>
          </a:ln>
        </p:spPr>
      </p:sp>
      <p:sp>
        <p:nvSpPr>
          <p:cNvPr id="21" name="Shape 19"/>
          <p:cNvSpPr/>
          <p:nvPr/>
        </p:nvSpPr>
        <p:spPr>
          <a:xfrm>
            <a:off x="10072539" y="2495550"/>
            <a:ext cx="7158038" cy="609600"/>
          </a:xfrm>
          <a:prstGeom prst="rect">
            <a:avLst/>
          </a:prstGeom>
          <a:solidFill>
            <a:srgbClr val="161B22"/>
          </a:solidFill>
        </p:spPr>
      </p:sp>
      <p:sp>
        <p:nvSpPr>
          <p:cNvPr id="22" name="Shape 20"/>
          <p:cNvSpPr/>
          <p:nvPr/>
        </p:nvSpPr>
        <p:spPr>
          <a:xfrm>
            <a:off x="10072539" y="3095625"/>
            <a:ext cx="7158038" cy="9525"/>
          </a:xfrm>
          <a:prstGeom prst="rect">
            <a:avLst/>
          </a:prstGeom>
          <a:solidFill>
            <a:srgbClr val="262C36"/>
          </a:solidFill>
        </p:spPr>
      </p:sp>
      <p:sp>
        <p:nvSpPr>
          <p:cNvPr id="23" name="Text 21"/>
          <p:cNvSpPr/>
          <p:nvPr/>
        </p:nvSpPr>
        <p:spPr>
          <a:xfrm>
            <a:off x="10320189" y="2647950"/>
            <a:ext cx="6877479" cy="333375"/>
          </a:xfrm>
          <a:prstGeom prst="rect">
            <a:avLst/>
          </a:prstGeom>
          <a:noFill/>
        </p:spPr>
        <p:txBody>
          <a:bodyPr wrap="square" lIns="25400" tIns="25400" rIns="25400" bIns="25400" rtlCol="0" anchor="t">
            <a:normAutofit/>
          </a:bodyPr>
          <a:lstStyle/>
          <a:p>
            <a:pPr marL="0" indent="0" algn="l">
              <a:buNone/>
            </a:pPr>
            <a:r>
              <a:rPr lang="en-US" sz="180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main menu</a:t>
            </a:r>
            <a:endParaRPr lang="en-US" sz="1800" dirty="0"/>
          </a:p>
        </p:txBody>
      </p:sp>
      <p:sp>
        <p:nvSpPr>
          <p:cNvPr id="24" name="Text 22"/>
          <p:cNvSpPr/>
          <p:nvPr/>
        </p:nvSpPr>
        <p:spPr>
          <a:xfrm>
            <a:off x="10396389" y="3390900"/>
            <a:ext cx="6705648"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GROUP TAX SCHEDULER =====</a:t>
            </a:r>
            <a:endParaRPr lang="en-US" sz="1875" dirty="0"/>
          </a:p>
        </p:txBody>
      </p:sp>
      <p:sp>
        <p:nvSpPr>
          <p:cNvPr id="25" name="Text 23"/>
          <p:cNvSpPr/>
          <p:nvPr/>
        </p:nvSpPr>
        <p:spPr>
          <a:xfrm>
            <a:off x="10396389" y="3907631"/>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1.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Add taxpayer</a:t>
            </a:r>
            <a:endParaRPr lang="en-US" sz="1875" dirty="0"/>
          </a:p>
        </p:txBody>
      </p:sp>
      <p:sp>
        <p:nvSpPr>
          <p:cNvPr id="26" name="Text 24"/>
          <p:cNvSpPr/>
          <p:nvPr/>
        </p:nvSpPr>
        <p:spPr>
          <a:xfrm>
            <a:off x="13775382" y="3907631"/>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6.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Change due date</a:t>
            </a:r>
            <a:endParaRPr lang="en-US" sz="1875" dirty="0"/>
          </a:p>
        </p:txBody>
      </p:sp>
      <p:sp>
        <p:nvSpPr>
          <p:cNvPr id="27" name="Text 25"/>
          <p:cNvSpPr/>
          <p:nvPr/>
        </p:nvSpPr>
        <p:spPr>
          <a:xfrm>
            <a:off x="10396389" y="4348163"/>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2.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View tax schedule</a:t>
            </a:r>
            <a:endParaRPr lang="en-US" sz="1875" dirty="0"/>
          </a:p>
        </p:txBody>
      </p:sp>
      <p:sp>
        <p:nvSpPr>
          <p:cNvPr id="28" name="Text 26"/>
          <p:cNvSpPr/>
          <p:nvPr/>
        </p:nvSpPr>
        <p:spPr>
          <a:xfrm>
            <a:off x="13775382" y="4348163"/>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7.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Save to file</a:t>
            </a:r>
            <a:endParaRPr lang="en-US" sz="1875" dirty="0"/>
          </a:p>
        </p:txBody>
      </p:sp>
      <p:sp>
        <p:nvSpPr>
          <p:cNvPr id="29" name="Text 27"/>
          <p:cNvSpPr/>
          <p:nvPr/>
        </p:nvSpPr>
        <p:spPr>
          <a:xfrm>
            <a:off x="10396389" y="4788694"/>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3.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View totals</a:t>
            </a:r>
            <a:endParaRPr lang="en-US" sz="1875" dirty="0"/>
          </a:p>
        </p:txBody>
      </p:sp>
      <p:sp>
        <p:nvSpPr>
          <p:cNvPr id="30" name="Text 28"/>
          <p:cNvSpPr/>
          <p:nvPr/>
        </p:nvSpPr>
        <p:spPr>
          <a:xfrm>
            <a:off x="13775382" y="4788694"/>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8.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Load from file</a:t>
            </a:r>
            <a:endParaRPr lang="en-US" sz="1875" dirty="0"/>
          </a:p>
        </p:txBody>
      </p:sp>
      <p:sp>
        <p:nvSpPr>
          <p:cNvPr id="31" name="Text 29"/>
          <p:cNvSpPr/>
          <p:nvPr/>
        </p:nvSpPr>
        <p:spPr>
          <a:xfrm>
            <a:off x="10396389" y="5229225"/>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4.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Mark as paid</a:t>
            </a:r>
            <a:endParaRPr lang="en-US" sz="1875" dirty="0"/>
          </a:p>
        </p:txBody>
      </p:sp>
      <p:sp>
        <p:nvSpPr>
          <p:cNvPr id="32" name="Text 30"/>
          <p:cNvSpPr/>
          <p:nvPr/>
        </p:nvSpPr>
        <p:spPr>
          <a:xfrm>
            <a:off x="13775382" y="5229225"/>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9.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Exit</a:t>
            </a:r>
            <a:endParaRPr lang="en-US" sz="1875" dirty="0"/>
          </a:p>
        </p:txBody>
      </p:sp>
      <p:sp>
        <p:nvSpPr>
          <p:cNvPr id="33" name="Text 31"/>
          <p:cNvSpPr/>
          <p:nvPr/>
        </p:nvSpPr>
        <p:spPr>
          <a:xfrm>
            <a:off x="10396389" y="5669756"/>
            <a:ext cx="3225284"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5.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Delete taxpayer</a:t>
            </a:r>
            <a:endParaRPr lang="en-US" sz="1875" dirty="0"/>
          </a:p>
        </p:txBody>
      </p:sp>
      <p:sp>
        <p:nvSpPr>
          <p:cNvPr id="34" name="Text 32"/>
          <p:cNvSpPr/>
          <p:nvPr/>
        </p:nvSpPr>
        <p:spPr>
          <a:xfrm>
            <a:off x="10396389" y="6205538"/>
            <a:ext cx="6705648" cy="478631"/>
          </a:xfrm>
          <a:prstGeom prst="rect">
            <a:avLst/>
          </a:prstGeom>
          <a:noFill/>
        </p:spPr>
        <p:txBody>
          <a:bodyPr wrap="square" lIns="25400" tIns="25400" rIns="25400" bIns="25400" rtlCol="0" anchor="t">
            <a:normAutofit fontScale="92500"/>
          </a:bodyPr>
          <a:lstStyle/>
          <a:p>
            <a:pPr marL="0" indent="0" algn="l">
              <a:lnSpc>
                <a:spcPct val="185000"/>
              </a:lnSpc>
              <a:buNone/>
            </a:pPr>
            <a:r>
              <a:rPr lang="en-US" sz="187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Choose an option &gt;</a:t>
            </a:r>
            <a:endParaRPr lang="en-US" sz="18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06 · HOW IT WORKS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A sample run</a:t>
            </a:r>
            <a:endParaRPr lang="en-US" sz="4800" dirty="0"/>
          </a:p>
        </p:txBody>
      </p:sp>
      <p:sp>
        <p:nvSpPr>
          <p:cNvPr id="4" name="Shape 2"/>
          <p:cNvSpPr/>
          <p:nvPr/>
        </p:nvSpPr>
        <p:spPr>
          <a:xfrm>
            <a:off x="1047750" y="2409825"/>
            <a:ext cx="16192500" cy="7115175"/>
          </a:xfrm>
          <a:prstGeom prst="roundRect">
            <a:avLst>
              <a:gd name="adj" fmla="val 1874"/>
            </a:avLst>
          </a:prstGeom>
          <a:solidFill>
            <a:srgbClr val="0B0E14"/>
          </a:solidFill>
          <a:ln w="9525">
            <a:solidFill>
              <a:srgbClr val="262C36"/>
            </a:solidFill>
            <a:prstDash val="solid"/>
          </a:ln>
        </p:spPr>
      </p:sp>
      <p:sp>
        <p:nvSpPr>
          <p:cNvPr id="5" name="Shape 3"/>
          <p:cNvSpPr/>
          <p:nvPr/>
        </p:nvSpPr>
        <p:spPr>
          <a:xfrm>
            <a:off x="1057275" y="2419350"/>
            <a:ext cx="16173450" cy="609600"/>
          </a:xfrm>
          <a:prstGeom prst="rect">
            <a:avLst/>
          </a:prstGeom>
          <a:solidFill>
            <a:srgbClr val="161B22"/>
          </a:solidFill>
        </p:spPr>
      </p:sp>
      <p:sp>
        <p:nvSpPr>
          <p:cNvPr id="6" name="Shape 4"/>
          <p:cNvSpPr/>
          <p:nvPr/>
        </p:nvSpPr>
        <p:spPr>
          <a:xfrm>
            <a:off x="1057275" y="3019425"/>
            <a:ext cx="16173450" cy="9525"/>
          </a:xfrm>
          <a:prstGeom prst="rect">
            <a:avLst/>
          </a:prstGeom>
          <a:solidFill>
            <a:srgbClr val="262C36"/>
          </a:solidFill>
        </p:spPr>
      </p:sp>
      <p:sp>
        <p:nvSpPr>
          <p:cNvPr id="7" name="Shape 5"/>
          <p:cNvSpPr/>
          <p:nvPr/>
        </p:nvSpPr>
        <p:spPr>
          <a:xfrm>
            <a:off x="1304925" y="2657475"/>
            <a:ext cx="123825" cy="123825"/>
          </a:xfrm>
          <a:prstGeom prst="ellipse">
            <a:avLst/>
          </a:prstGeom>
          <a:solidFill>
            <a:srgbClr val="FF5F56"/>
          </a:solidFill>
        </p:spPr>
      </p:sp>
      <p:sp>
        <p:nvSpPr>
          <p:cNvPr id="8" name="Shape 6"/>
          <p:cNvSpPr/>
          <p:nvPr/>
        </p:nvSpPr>
        <p:spPr>
          <a:xfrm>
            <a:off x="1514475" y="2657475"/>
            <a:ext cx="123825" cy="123825"/>
          </a:xfrm>
          <a:prstGeom prst="ellipse">
            <a:avLst/>
          </a:prstGeom>
          <a:solidFill>
            <a:srgbClr val="FFBD2E"/>
          </a:solidFill>
        </p:spPr>
      </p:sp>
      <p:sp>
        <p:nvSpPr>
          <p:cNvPr id="9" name="Shape 7"/>
          <p:cNvSpPr/>
          <p:nvPr/>
        </p:nvSpPr>
        <p:spPr>
          <a:xfrm>
            <a:off x="1724025" y="2657475"/>
            <a:ext cx="123825" cy="123825"/>
          </a:xfrm>
          <a:prstGeom prst="ellipse">
            <a:avLst/>
          </a:prstGeom>
          <a:solidFill>
            <a:srgbClr val="27C93F"/>
          </a:solidFill>
        </p:spPr>
      </p:sp>
      <p:sp>
        <p:nvSpPr>
          <p:cNvPr id="10" name="Text 8"/>
          <p:cNvSpPr/>
          <p:nvPr/>
        </p:nvSpPr>
        <p:spPr>
          <a:xfrm>
            <a:off x="2066925" y="2571750"/>
            <a:ext cx="2565023" cy="333375"/>
          </a:xfrm>
          <a:prstGeom prst="rect">
            <a:avLst/>
          </a:prstGeom>
          <a:noFill/>
        </p:spPr>
        <p:txBody>
          <a:bodyPr wrap="square" lIns="25400" tIns="25400" rIns="25400" bIns="25400" rtlCol="0" anchor="t">
            <a:normAutofit/>
          </a:bodyPr>
          <a:lstStyle/>
          <a:p>
            <a:pPr marL="0" indent="0" algn="l">
              <a:buNone/>
            </a:pPr>
            <a:r>
              <a:rPr lang="en-US" sz="180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tax_scheduler.exe</a:t>
            </a:r>
            <a:endParaRPr lang="en-US" sz="1800" dirty="0"/>
          </a:p>
        </p:txBody>
      </p:sp>
      <p:sp>
        <p:nvSpPr>
          <p:cNvPr id="11" name="Text 9"/>
          <p:cNvSpPr/>
          <p:nvPr/>
        </p:nvSpPr>
        <p:spPr>
          <a:xfrm>
            <a:off x="1514475" y="340995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set the group's due date, then add a premium individual</a:t>
            </a:r>
            <a:endParaRPr lang="en-US" sz="1875" dirty="0"/>
          </a:p>
        </p:txBody>
      </p:sp>
      <p:sp>
        <p:nvSpPr>
          <p:cNvPr id="12" name="Text 10"/>
          <p:cNvSpPr/>
          <p:nvPr/>
        </p:nvSpPr>
        <p:spPr>
          <a:xfrm>
            <a:off x="1514475" y="3819525"/>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Enter payment due date: </a:t>
            </a:r>
            <a:r>
              <a:rPr lang="en-US" sz="1875"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2026-07-15</a:t>
            </a:r>
            <a:endParaRPr lang="en-US" sz="1875" dirty="0"/>
          </a:p>
        </p:txBody>
      </p:sp>
      <p:sp>
        <p:nvSpPr>
          <p:cNvPr id="13" name="Text 11"/>
          <p:cNvSpPr/>
          <p:nvPr/>
        </p:nvSpPr>
        <p:spPr>
          <a:xfrm>
            <a:off x="1514475" y="422910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Choose an option &gt;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1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Type [1/2/3] &gt;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3</a:t>
            </a:r>
            <a:endParaRPr lang="en-US" sz="1875" dirty="0"/>
          </a:p>
        </p:txBody>
      </p:sp>
      <p:sp>
        <p:nvSpPr>
          <p:cNvPr id="14" name="Text 12"/>
          <p:cNvSpPr/>
          <p:nvPr/>
        </p:nvSpPr>
        <p:spPr>
          <a:xfrm>
            <a:off x="1514475" y="4638675"/>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Name &gt; </a:t>
            </a:r>
            <a:r>
              <a:rPr lang="en-US" sz="1875"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Ada Obi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Income &gt;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500000</a:t>
            </a:r>
            <a:endParaRPr lang="en-US" sz="1875" dirty="0"/>
          </a:p>
        </p:txBody>
      </p:sp>
      <p:sp>
        <p:nvSpPr>
          <p:cNvPr id="15" name="Text 13"/>
          <p:cNvSpPr/>
          <p:nvPr/>
        </p:nvSpPr>
        <p:spPr>
          <a:xfrm>
            <a:off x="1514475" y="504825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Premium Individual added — Tax: 75,000.00</a:t>
            </a:r>
            <a:endParaRPr lang="en-US" sz="1875" dirty="0"/>
          </a:p>
        </p:txBody>
      </p:sp>
      <p:sp>
        <p:nvSpPr>
          <p:cNvPr id="16" name="Text 14"/>
          <p:cNvSpPr/>
          <p:nvPr/>
        </p:nvSpPr>
        <p:spPr>
          <a:xfrm>
            <a:off x="1514475" y="5591175"/>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demo trick: change the due date to the past</a:t>
            </a:r>
            <a:endParaRPr lang="en-US" sz="1875" dirty="0"/>
          </a:p>
        </p:txBody>
      </p:sp>
      <p:sp>
        <p:nvSpPr>
          <p:cNvPr id="17" name="Text 15"/>
          <p:cNvSpPr/>
          <p:nvPr/>
        </p:nvSpPr>
        <p:spPr>
          <a:xfrm>
            <a:off x="1514475" y="600075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Choose an option &gt;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6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New due date &gt; </a:t>
            </a:r>
            <a:r>
              <a:rPr lang="en-US" sz="1875"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2026-06-01</a:t>
            </a:r>
            <a:endParaRPr lang="en-US" sz="1875" dirty="0"/>
          </a:p>
        </p:txBody>
      </p:sp>
      <p:sp>
        <p:nvSpPr>
          <p:cNvPr id="18" name="Text 16"/>
          <p:cNvSpPr/>
          <p:nvPr/>
        </p:nvSpPr>
        <p:spPr>
          <a:xfrm>
            <a:off x="1514475" y="6410325"/>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Due date updated — statuses re-evaluated</a:t>
            </a:r>
            <a:endParaRPr lang="en-US" sz="1875" dirty="0"/>
          </a:p>
        </p:txBody>
      </p:sp>
      <p:sp>
        <p:nvSpPr>
          <p:cNvPr id="19" name="Text 17"/>
          <p:cNvSpPr/>
          <p:nvPr/>
        </p:nvSpPr>
        <p:spPr>
          <a:xfrm>
            <a:off x="1514475" y="695325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view the schedule — Ada now shows OVERDUE</a:t>
            </a:r>
            <a:endParaRPr lang="en-US" sz="1875" dirty="0"/>
          </a:p>
        </p:txBody>
      </p:sp>
      <p:sp>
        <p:nvSpPr>
          <p:cNvPr id="20" name="Text 18"/>
          <p:cNvSpPr/>
          <p:nvPr/>
        </p:nvSpPr>
        <p:spPr>
          <a:xfrm>
            <a:off x="1514475" y="7362825"/>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NAME | CATEGORY | INCOME | TAX | DUE | STATUS</a:t>
            </a:r>
            <a:endParaRPr lang="en-US" sz="1875" dirty="0"/>
          </a:p>
        </p:txBody>
      </p:sp>
      <p:sp>
        <p:nvSpPr>
          <p:cNvPr id="21" name="Text 19"/>
          <p:cNvSpPr/>
          <p:nvPr/>
        </p:nvSpPr>
        <p:spPr>
          <a:xfrm>
            <a:off x="1514475" y="777240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Ada Obi | Premium | 500,000 | 75,000 | 2026-06-01 | </a:t>
            </a:r>
            <a:r>
              <a:rPr lang="en-US" sz="1875" dirty="0">
                <a:solidFill>
                  <a:srgbClr val="F0776C"/>
                </a:solidFill>
                <a:latin typeface="Courier New" panose="02070309020205020404" pitchFamily="34" charset="0"/>
                <a:ea typeface="Courier New" panose="02070309020205020404" pitchFamily="34" charset="-122"/>
                <a:cs typeface="Courier New" panose="02070309020205020404" pitchFamily="34" charset="-120"/>
              </a:rPr>
              <a:t>OVERDUE</a:t>
            </a:r>
            <a:endParaRPr lang="en-US" sz="1875" dirty="0"/>
          </a:p>
        </p:txBody>
      </p:sp>
      <p:sp>
        <p:nvSpPr>
          <p:cNvPr id="22" name="Text 20"/>
          <p:cNvSpPr/>
          <p:nvPr/>
        </p:nvSpPr>
        <p:spPr>
          <a:xfrm>
            <a:off x="1514475" y="8315325"/>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view totals — note the alert line</a:t>
            </a:r>
            <a:endParaRPr lang="en-US" sz="1875" dirty="0"/>
          </a:p>
        </p:txBody>
      </p:sp>
      <p:sp>
        <p:nvSpPr>
          <p:cNvPr id="23" name="Text 21"/>
          <p:cNvSpPr/>
          <p:nvPr/>
        </p:nvSpPr>
        <p:spPr>
          <a:xfrm>
            <a:off x="1514475" y="8724900"/>
            <a:ext cx="15716822" cy="447675"/>
          </a:xfrm>
          <a:prstGeom prst="rect">
            <a:avLst/>
          </a:prstGeom>
          <a:noFill/>
        </p:spPr>
        <p:txBody>
          <a:bodyPr wrap="square" lIns="25400" tIns="25400" rIns="25400" bIns="25400" rtlCol="0" anchor="t">
            <a:normAutofit fontScale="92500" lnSpcReduction="10000"/>
          </a:bodyPr>
          <a:lstStyle/>
          <a:p>
            <a:pPr marL="0" indent="0" algn="l">
              <a:lnSpc>
                <a:spcPct val="172000"/>
              </a:lnSpc>
              <a:buNone/>
            </a:pPr>
            <a:r>
              <a:rPr lang="en-US" sz="1875" dirty="0">
                <a:solidFill>
                  <a:srgbClr val="F0776C"/>
                </a:solidFill>
                <a:latin typeface="Courier New" panose="02070309020205020404" pitchFamily="34" charset="0"/>
                <a:ea typeface="Courier New" panose="02070309020205020404" pitchFamily="34" charset="-122"/>
                <a:cs typeface="Courier New" panose="02070309020205020404" pitchFamily="34" charset="-120"/>
              </a:rPr>
              <a:t>OVERDUE: 1 taxpayer(s) owing 75,000.00 past the due date!</a:t>
            </a:r>
            <a:endParaRPr lang="en-US" sz="18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07 · OOP CONCEPTS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The four pillars in our code</a:t>
            </a:r>
            <a:endParaRPr lang="en-US" sz="4800" dirty="0"/>
          </a:p>
        </p:txBody>
      </p:sp>
      <p:sp>
        <p:nvSpPr>
          <p:cNvPr id="4" name="Shape 2"/>
          <p:cNvSpPr/>
          <p:nvPr/>
        </p:nvSpPr>
        <p:spPr>
          <a:xfrm>
            <a:off x="1047750" y="2505075"/>
            <a:ext cx="7953375" cy="3367088"/>
          </a:xfrm>
          <a:prstGeom prst="roundRect">
            <a:avLst>
              <a:gd name="adj" fmla="val 4526"/>
            </a:avLst>
          </a:prstGeom>
          <a:solidFill>
            <a:srgbClr val="161B22"/>
          </a:solidFill>
        </p:spPr>
      </p:sp>
      <p:sp>
        <p:nvSpPr>
          <p:cNvPr id="5" name="Shape 3"/>
          <p:cNvSpPr/>
          <p:nvPr/>
        </p:nvSpPr>
        <p:spPr>
          <a:xfrm>
            <a:off x="1047750" y="5862638"/>
            <a:ext cx="7953375" cy="9525"/>
          </a:xfrm>
          <a:prstGeom prst="rect">
            <a:avLst/>
          </a:prstGeom>
          <a:solidFill>
            <a:srgbClr val="262C36"/>
          </a:solidFill>
        </p:spPr>
      </p:sp>
      <p:sp>
        <p:nvSpPr>
          <p:cNvPr id="6" name="Shape 4"/>
          <p:cNvSpPr/>
          <p:nvPr/>
        </p:nvSpPr>
        <p:spPr>
          <a:xfrm>
            <a:off x="1047750" y="2505075"/>
            <a:ext cx="7953375" cy="9525"/>
          </a:xfrm>
          <a:prstGeom prst="rect">
            <a:avLst/>
          </a:prstGeom>
          <a:solidFill>
            <a:srgbClr val="262C36"/>
          </a:solidFill>
        </p:spPr>
      </p:sp>
      <p:sp>
        <p:nvSpPr>
          <p:cNvPr id="7" name="Shape 5"/>
          <p:cNvSpPr/>
          <p:nvPr/>
        </p:nvSpPr>
        <p:spPr>
          <a:xfrm>
            <a:off x="1047750" y="2505075"/>
            <a:ext cx="38100" cy="3367088"/>
          </a:xfrm>
          <a:prstGeom prst="rect">
            <a:avLst/>
          </a:prstGeom>
          <a:solidFill>
            <a:srgbClr val="4EC9B0"/>
          </a:solidFill>
        </p:spPr>
      </p:sp>
      <p:sp>
        <p:nvSpPr>
          <p:cNvPr id="8" name="Shape 6"/>
          <p:cNvSpPr/>
          <p:nvPr/>
        </p:nvSpPr>
        <p:spPr>
          <a:xfrm>
            <a:off x="8991600" y="2505075"/>
            <a:ext cx="9525" cy="3367088"/>
          </a:xfrm>
          <a:prstGeom prst="rect">
            <a:avLst/>
          </a:prstGeom>
          <a:solidFill>
            <a:srgbClr val="262C36"/>
          </a:solidFill>
        </p:spPr>
      </p:sp>
      <p:sp>
        <p:nvSpPr>
          <p:cNvPr id="9" name="Text 7"/>
          <p:cNvSpPr/>
          <p:nvPr/>
        </p:nvSpPr>
        <p:spPr>
          <a:xfrm>
            <a:off x="1485900" y="2876550"/>
            <a:ext cx="781621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4EC9B0"/>
                </a:solidFill>
                <a:latin typeface="Arial" panose="020B0604020202020204" pitchFamily="34" charset="0"/>
                <a:ea typeface="Arial" panose="020B0604020202020204" pitchFamily="34" charset="-122"/>
                <a:cs typeface="Arial" panose="020B0604020202020204" pitchFamily="34" charset="-120"/>
              </a:rPr>
              <a:t>Encapsulation</a:t>
            </a:r>
            <a:endParaRPr lang="en-US" sz="2550" dirty="0"/>
          </a:p>
        </p:txBody>
      </p:sp>
      <p:sp>
        <p:nvSpPr>
          <p:cNvPr id="10" name="Text 8"/>
          <p:cNvSpPr/>
          <p:nvPr/>
        </p:nvSpPr>
        <p:spPr>
          <a:xfrm>
            <a:off x="1485900" y="3362325"/>
            <a:ext cx="7318820" cy="895350"/>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Taxpayer data (</a:t>
            </a:r>
            <a:r>
              <a:rPr lang="en-US" sz="2025" dirty="0">
                <a:solidFill>
                  <a:srgbClr val="C9D1D9"/>
                </a:solidFill>
                <a:latin typeface="Courier New" panose="02070309020205020404" pitchFamily="34" charset="0"/>
                <a:ea typeface="Courier New" panose="02070309020205020404" pitchFamily="34" charset="-122"/>
                <a:cs typeface="Courier New" panose="02070309020205020404" pitchFamily="34" charset="-120"/>
              </a:rPr>
              <a:t>name</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 </a:t>
            </a:r>
            <a:r>
              <a:rPr lang="en-US" sz="2025" dirty="0">
                <a:solidFill>
                  <a:srgbClr val="C9D1D9"/>
                </a:solidFill>
                <a:latin typeface="Courier New" panose="02070309020205020404" pitchFamily="34" charset="0"/>
                <a:ea typeface="Courier New" panose="02070309020205020404" pitchFamily="34" charset="-122"/>
                <a:cs typeface="Courier New" panose="02070309020205020404" pitchFamily="34" charset="-120"/>
              </a:rPr>
              <a:t>income </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 is hidden and reached only through methods.</a:t>
            </a:r>
            <a:endParaRPr lang="en-US" sz="2250" dirty="0"/>
          </a:p>
        </p:txBody>
      </p:sp>
      <p:sp>
        <p:nvSpPr>
          <p:cNvPr id="11" name="Shape 9"/>
          <p:cNvSpPr/>
          <p:nvPr/>
        </p:nvSpPr>
        <p:spPr>
          <a:xfrm>
            <a:off x="9286875" y="2505075"/>
            <a:ext cx="7953375" cy="3367088"/>
          </a:xfrm>
          <a:prstGeom prst="roundRect">
            <a:avLst>
              <a:gd name="adj" fmla="val 4526"/>
            </a:avLst>
          </a:prstGeom>
          <a:solidFill>
            <a:srgbClr val="161B22"/>
          </a:solidFill>
        </p:spPr>
      </p:sp>
      <p:sp>
        <p:nvSpPr>
          <p:cNvPr id="12" name="Shape 10"/>
          <p:cNvSpPr/>
          <p:nvPr/>
        </p:nvSpPr>
        <p:spPr>
          <a:xfrm>
            <a:off x="9286875" y="5862638"/>
            <a:ext cx="7953375" cy="9525"/>
          </a:xfrm>
          <a:prstGeom prst="rect">
            <a:avLst/>
          </a:prstGeom>
          <a:solidFill>
            <a:srgbClr val="262C36"/>
          </a:solidFill>
        </p:spPr>
      </p:sp>
      <p:sp>
        <p:nvSpPr>
          <p:cNvPr id="13" name="Shape 11"/>
          <p:cNvSpPr/>
          <p:nvPr/>
        </p:nvSpPr>
        <p:spPr>
          <a:xfrm>
            <a:off x="9286875" y="2505075"/>
            <a:ext cx="7953375" cy="9525"/>
          </a:xfrm>
          <a:prstGeom prst="rect">
            <a:avLst/>
          </a:prstGeom>
          <a:solidFill>
            <a:srgbClr val="262C36"/>
          </a:solidFill>
        </p:spPr>
      </p:sp>
      <p:sp>
        <p:nvSpPr>
          <p:cNvPr id="14" name="Shape 12"/>
          <p:cNvSpPr/>
          <p:nvPr/>
        </p:nvSpPr>
        <p:spPr>
          <a:xfrm>
            <a:off x="9286875" y="2505075"/>
            <a:ext cx="38100" cy="3367088"/>
          </a:xfrm>
          <a:prstGeom prst="rect">
            <a:avLst/>
          </a:prstGeom>
          <a:solidFill>
            <a:srgbClr val="569CD6"/>
          </a:solidFill>
        </p:spPr>
      </p:sp>
      <p:sp>
        <p:nvSpPr>
          <p:cNvPr id="15" name="Shape 13"/>
          <p:cNvSpPr/>
          <p:nvPr/>
        </p:nvSpPr>
        <p:spPr>
          <a:xfrm>
            <a:off x="17230725" y="2505075"/>
            <a:ext cx="9525" cy="3367088"/>
          </a:xfrm>
          <a:prstGeom prst="rect">
            <a:avLst/>
          </a:prstGeom>
          <a:solidFill>
            <a:srgbClr val="262C36"/>
          </a:solidFill>
        </p:spPr>
      </p:sp>
      <p:sp>
        <p:nvSpPr>
          <p:cNvPr id="16" name="Text 14"/>
          <p:cNvSpPr/>
          <p:nvPr/>
        </p:nvSpPr>
        <p:spPr>
          <a:xfrm>
            <a:off x="9725025" y="2876550"/>
            <a:ext cx="781621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569CD6"/>
                </a:solidFill>
                <a:latin typeface="Arial" panose="020B0604020202020204" pitchFamily="34" charset="0"/>
                <a:ea typeface="Arial" panose="020B0604020202020204" pitchFamily="34" charset="-122"/>
                <a:cs typeface="Arial" panose="020B0604020202020204" pitchFamily="34" charset="-120"/>
              </a:rPr>
              <a:t>Inheritance</a:t>
            </a:r>
            <a:endParaRPr lang="en-US" sz="2550" dirty="0"/>
          </a:p>
        </p:txBody>
      </p:sp>
      <p:sp>
        <p:nvSpPr>
          <p:cNvPr id="17" name="Text 15"/>
          <p:cNvSpPr/>
          <p:nvPr/>
        </p:nvSpPr>
        <p:spPr>
          <a:xfrm>
            <a:off x="9725025" y="3362325"/>
            <a:ext cx="7318820" cy="895350"/>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Three levels: </a:t>
            </a:r>
            <a:r>
              <a:rPr lang="en-US" sz="2025" dirty="0">
                <a:solidFill>
                  <a:srgbClr val="C9D1D9"/>
                </a:solidFill>
                <a:latin typeface="Courier New" panose="02070309020205020404" pitchFamily="34" charset="0"/>
                <a:ea typeface="Courier New" panose="02070309020205020404" pitchFamily="34" charset="-122"/>
                <a:cs typeface="Courier New" panose="02070309020205020404" pitchFamily="34" charset="-120"/>
              </a:rPr>
              <a:t>Taxpayer → Individual → PremiumIndividual </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 with Business alongside.</a:t>
            </a:r>
            <a:endParaRPr lang="en-US" sz="2250" dirty="0"/>
          </a:p>
        </p:txBody>
      </p:sp>
      <p:sp>
        <p:nvSpPr>
          <p:cNvPr id="18" name="Shape 16"/>
          <p:cNvSpPr/>
          <p:nvPr/>
        </p:nvSpPr>
        <p:spPr>
          <a:xfrm>
            <a:off x="1047750" y="6157913"/>
            <a:ext cx="7953375" cy="3367088"/>
          </a:xfrm>
          <a:prstGeom prst="roundRect">
            <a:avLst>
              <a:gd name="adj" fmla="val 4526"/>
            </a:avLst>
          </a:prstGeom>
          <a:solidFill>
            <a:srgbClr val="161B22"/>
          </a:solidFill>
        </p:spPr>
      </p:sp>
      <p:sp>
        <p:nvSpPr>
          <p:cNvPr id="19" name="Shape 17"/>
          <p:cNvSpPr/>
          <p:nvPr/>
        </p:nvSpPr>
        <p:spPr>
          <a:xfrm>
            <a:off x="1047750" y="9515475"/>
            <a:ext cx="7953375" cy="9525"/>
          </a:xfrm>
          <a:prstGeom prst="rect">
            <a:avLst/>
          </a:prstGeom>
          <a:solidFill>
            <a:srgbClr val="262C36"/>
          </a:solidFill>
        </p:spPr>
      </p:sp>
      <p:sp>
        <p:nvSpPr>
          <p:cNvPr id="20" name="Shape 18"/>
          <p:cNvSpPr/>
          <p:nvPr/>
        </p:nvSpPr>
        <p:spPr>
          <a:xfrm>
            <a:off x="1047750" y="6157913"/>
            <a:ext cx="7953375" cy="9525"/>
          </a:xfrm>
          <a:prstGeom prst="rect">
            <a:avLst/>
          </a:prstGeom>
          <a:solidFill>
            <a:srgbClr val="262C36"/>
          </a:solidFill>
        </p:spPr>
      </p:sp>
      <p:sp>
        <p:nvSpPr>
          <p:cNvPr id="21" name="Shape 19"/>
          <p:cNvSpPr/>
          <p:nvPr/>
        </p:nvSpPr>
        <p:spPr>
          <a:xfrm>
            <a:off x="1047750" y="6157913"/>
            <a:ext cx="38100" cy="3367088"/>
          </a:xfrm>
          <a:prstGeom prst="rect">
            <a:avLst/>
          </a:prstGeom>
          <a:solidFill>
            <a:srgbClr val="DCDCAA"/>
          </a:solidFill>
        </p:spPr>
      </p:sp>
      <p:sp>
        <p:nvSpPr>
          <p:cNvPr id="22" name="Shape 20"/>
          <p:cNvSpPr/>
          <p:nvPr/>
        </p:nvSpPr>
        <p:spPr>
          <a:xfrm>
            <a:off x="8991600" y="6157913"/>
            <a:ext cx="9525" cy="3367088"/>
          </a:xfrm>
          <a:prstGeom prst="rect">
            <a:avLst/>
          </a:prstGeom>
          <a:solidFill>
            <a:srgbClr val="262C36"/>
          </a:solidFill>
        </p:spPr>
      </p:sp>
      <p:sp>
        <p:nvSpPr>
          <p:cNvPr id="23" name="Text 21"/>
          <p:cNvSpPr/>
          <p:nvPr/>
        </p:nvSpPr>
        <p:spPr>
          <a:xfrm>
            <a:off x="1485900" y="6529388"/>
            <a:ext cx="781621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DCDCAA"/>
                </a:solidFill>
                <a:latin typeface="Arial" panose="020B0604020202020204" pitchFamily="34" charset="0"/>
                <a:ea typeface="Arial" panose="020B0604020202020204" pitchFamily="34" charset="-122"/>
                <a:cs typeface="Arial" panose="020B0604020202020204" pitchFamily="34" charset="-120"/>
              </a:rPr>
              <a:t>Polymorphism</a:t>
            </a:r>
            <a:endParaRPr lang="en-US" sz="2550" dirty="0"/>
          </a:p>
        </p:txBody>
      </p:sp>
      <p:sp>
        <p:nvSpPr>
          <p:cNvPr id="24" name="Text 22"/>
          <p:cNvSpPr/>
          <p:nvPr/>
        </p:nvSpPr>
        <p:spPr>
          <a:xfrm>
            <a:off x="1485900" y="7015163"/>
            <a:ext cx="7318820" cy="895350"/>
          </a:xfrm>
          <a:prstGeom prst="rect">
            <a:avLst/>
          </a:prstGeom>
          <a:noFill/>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One </a:t>
            </a:r>
            <a:r>
              <a:rPr lang="en-US" sz="2025" dirty="0">
                <a:solidFill>
                  <a:srgbClr val="C9D1D9"/>
                </a:solidFill>
                <a:latin typeface="Courier New" panose="02070309020205020404" pitchFamily="34" charset="0"/>
                <a:ea typeface="Courier New" panose="02070309020205020404" pitchFamily="34" charset="-122"/>
                <a:cs typeface="Courier New" panose="02070309020205020404" pitchFamily="34" charset="-120"/>
              </a:rPr>
              <a:t>virtual calculateTax() </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call, a different result for each type.</a:t>
            </a:r>
            <a:endParaRPr lang="en-US" sz="2250" dirty="0"/>
          </a:p>
        </p:txBody>
      </p:sp>
      <p:sp>
        <p:nvSpPr>
          <p:cNvPr id="25" name="Shape 23"/>
          <p:cNvSpPr/>
          <p:nvPr/>
        </p:nvSpPr>
        <p:spPr>
          <a:xfrm>
            <a:off x="9286875" y="6157913"/>
            <a:ext cx="7953375" cy="3367088"/>
          </a:xfrm>
          <a:prstGeom prst="roundRect">
            <a:avLst>
              <a:gd name="adj" fmla="val 4526"/>
            </a:avLst>
          </a:prstGeom>
          <a:solidFill>
            <a:srgbClr val="161B22"/>
          </a:solidFill>
        </p:spPr>
      </p:sp>
      <p:sp>
        <p:nvSpPr>
          <p:cNvPr id="26" name="Shape 24"/>
          <p:cNvSpPr/>
          <p:nvPr/>
        </p:nvSpPr>
        <p:spPr>
          <a:xfrm>
            <a:off x="9286875" y="9515475"/>
            <a:ext cx="7953375" cy="9525"/>
          </a:xfrm>
          <a:prstGeom prst="rect">
            <a:avLst/>
          </a:prstGeom>
          <a:solidFill>
            <a:srgbClr val="262C36"/>
          </a:solidFill>
        </p:spPr>
      </p:sp>
      <p:sp>
        <p:nvSpPr>
          <p:cNvPr id="27" name="Shape 25"/>
          <p:cNvSpPr/>
          <p:nvPr/>
        </p:nvSpPr>
        <p:spPr>
          <a:xfrm>
            <a:off x="9286875" y="6157913"/>
            <a:ext cx="7953375" cy="9525"/>
          </a:xfrm>
          <a:prstGeom prst="rect">
            <a:avLst/>
          </a:prstGeom>
          <a:solidFill>
            <a:srgbClr val="262C36"/>
          </a:solidFill>
        </p:spPr>
      </p:sp>
      <p:sp>
        <p:nvSpPr>
          <p:cNvPr id="28" name="Shape 26"/>
          <p:cNvSpPr/>
          <p:nvPr/>
        </p:nvSpPr>
        <p:spPr>
          <a:xfrm>
            <a:off x="9286875" y="6157913"/>
            <a:ext cx="38100" cy="3367088"/>
          </a:xfrm>
          <a:prstGeom prst="rect">
            <a:avLst/>
          </a:prstGeom>
          <a:solidFill>
            <a:srgbClr val="CE9178"/>
          </a:solidFill>
        </p:spPr>
      </p:sp>
      <p:sp>
        <p:nvSpPr>
          <p:cNvPr id="29" name="Shape 27"/>
          <p:cNvSpPr/>
          <p:nvPr/>
        </p:nvSpPr>
        <p:spPr>
          <a:xfrm>
            <a:off x="17230725" y="6157913"/>
            <a:ext cx="9525" cy="3367088"/>
          </a:xfrm>
          <a:prstGeom prst="rect">
            <a:avLst/>
          </a:prstGeom>
          <a:solidFill>
            <a:srgbClr val="262C36"/>
          </a:solidFill>
        </p:spPr>
      </p:sp>
      <p:sp>
        <p:nvSpPr>
          <p:cNvPr id="30" name="Text 28"/>
          <p:cNvSpPr/>
          <p:nvPr/>
        </p:nvSpPr>
        <p:spPr>
          <a:xfrm>
            <a:off x="9725025" y="6529388"/>
            <a:ext cx="7816215" cy="409575"/>
          </a:xfrm>
          <a:prstGeom prst="rect">
            <a:avLst/>
          </a:prstGeom>
          <a:noFill/>
        </p:spPr>
        <p:txBody>
          <a:bodyPr wrap="square" lIns="25400" tIns="25400" rIns="25400" bIns="25400" rtlCol="0" anchor="t">
            <a:normAutofit lnSpcReduction="10000"/>
          </a:bodyPr>
          <a:lstStyle/>
          <a:p>
            <a:pPr marL="0" indent="0" algn="l">
              <a:buNone/>
            </a:pPr>
            <a:r>
              <a:rPr lang="en-US" sz="2550" b="1" dirty="0">
                <a:solidFill>
                  <a:srgbClr val="CE9178"/>
                </a:solidFill>
                <a:latin typeface="Arial" panose="020B0604020202020204" pitchFamily="34" charset="0"/>
                <a:ea typeface="Arial" panose="020B0604020202020204" pitchFamily="34" charset="-122"/>
                <a:cs typeface="Arial" panose="020B0604020202020204" pitchFamily="34" charset="-120"/>
              </a:rPr>
              <a:t>Abstraction</a:t>
            </a:r>
            <a:endParaRPr lang="en-US" sz="2550" dirty="0"/>
          </a:p>
        </p:txBody>
      </p:sp>
      <p:sp>
        <p:nvSpPr>
          <p:cNvPr id="31" name="Text 29"/>
          <p:cNvSpPr/>
          <p:nvPr/>
        </p:nvSpPr>
        <p:spPr>
          <a:xfrm>
            <a:off x="9725025" y="7015163"/>
            <a:ext cx="7318820" cy="904875"/>
          </a:xfrm>
          <a:prstGeom prst="rect">
            <a:avLst/>
          </a:prstGeom>
          <a:noFill/>
        </p:spPr>
        <p:txBody>
          <a:bodyPr wrap="square" lIns="25400" tIns="25400" rIns="25400" bIns="25400" rtlCol="0" anchor="t">
            <a:normAutofit fontScale="92500" lnSpcReduction="10000"/>
          </a:bodyPr>
          <a:lstStyle/>
          <a:p>
            <a:pPr marL="0" indent="0" algn="l">
              <a:lnSpc>
                <a:spcPct val="150000"/>
              </a:lnSpc>
              <a:buNone/>
            </a:pPr>
            <a:r>
              <a:rPr lang="en-US" sz="2025" dirty="0">
                <a:solidFill>
                  <a:srgbClr val="C9D1D9"/>
                </a:solidFill>
                <a:latin typeface="Courier New" panose="02070309020205020404" pitchFamily="34" charset="0"/>
                <a:ea typeface="Courier New" panose="02070309020205020404" pitchFamily="34" charset="-122"/>
                <a:cs typeface="Courier New" panose="02070309020205020404" pitchFamily="34" charset="-120"/>
              </a:rPr>
              <a:t>Taxpayer </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is an abstract base class — pure virtual functions define </a:t>
            </a:r>
            <a:r>
              <a:rPr lang="en-US" sz="2250" i="1" dirty="0">
                <a:solidFill>
                  <a:srgbClr val="C9D1D9"/>
                </a:solidFill>
                <a:latin typeface="Arial" panose="020B0604020202020204" pitchFamily="34" charset="0"/>
                <a:ea typeface="Arial" panose="020B0604020202020204" pitchFamily="34" charset="-122"/>
                <a:cs typeface="Arial" panose="020B0604020202020204" pitchFamily="34" charset="-120"/>
              </a:rPr>
              <a:t>what</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 not </a:t>
            </a:r>
            <a:r>
              <a:rPr lang="en-US" sz="2250" i="1" dirty="0">
                <a:solidFill>
                  <a:srgbClr val="C9D1D9"/>
                </a:solidFill>
                <a:latin typeface="Arial" panose="020B0604020202020204" pitchFamily="34" charset="0"/>
                <a:ea typeface="Arial" panose="020B0604020202020204" pitchFamily="34" charset="-122"/>
                <a:cs typeface="Arial" panose="020B0604020202020204" pitchFamily="34" charset="-120"/>
              </a:rPr>
              <a:t>how</a:t>
            </a:r>
            <a:r>
              <a:rPr lang="en-US" sz="2250" dirty="0">
                <a:solidFill>
                  <a:srgbClr val="C9D1D9"/>
                </a:solidFill>
                <a:latin typeface="Arial" panose="020B0604020202020204" pitchFamily="34" charset="0"/>
                <a:ea typeface="Arial" panose="020B0604020202020204" pitchFamily="34" charset="-122"/>
                <a:cs typeface="Arial" panose="020B0604020202020204" pitchFamily="34" charset="-120"/>
              </a:rPr>
              <a:t>.</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08 · OOP CONCEPTS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Beyond the pillars</a:t>
            </a:r>
            <a:endParaRPr lang="en-US" sz="4800" dirty="0"/>
          </a:p>
        </p:txBody>
      </p:sp>
      <p:sp>
        <p:nvSpPr>
          <p:cNvPr id="4" name="Shape 2"/>
          <p:cNvSpPr/>
          <p:nvPr/>
        </p:nvSpPr>
        <p:spPr>
          <a:xfrm>
            <a:off x="1047750" y="2486025"/>
            <a:ext cx="5219700" cy="7038975"/>
          </a:xfrm>
          <a:prstGeom prst="roundRect">
            <a:avLst>
              <a:gd name="adj" fmla="val 2920"/>
            </a:avLst>
          </a:prstGeom>
          <a:solidFill>
            <a:srgbClr val="161B22"/>
          </a:solidFill>
          <a:ln w="9525">
            <a:solidFill>
              <a:srgbClr val="262C36"/>
            </a:solidFill>
            <a:prstDash val="solid"/>
          </a:ln>
        </p:spPr>
      </p:sp>
      <p:sp>
        <p:nvSpPr>
          <p:cNvPr id="5" name="Text 3"/>
          <p:cNvSpPr/>
          <p:nvPr/>
        </p:nvSpPr>
        <p:spPr>
          <a:xfrm>
            <a:off x="1400175" y="2838450"/>
            <a:ext cx="4966335" cy="390525"/>
          </a:xfrm>
          <a:prstGeom prst="rect">
            <a:avLst/>
          </a:prstGeom>
          <a:noFill/>
        </p:spPr>
        <p:txBody>
          <a:bodyPr wrap="square" lIns="25400" tIns="25400" rIns="25400" bIns="25400" rtlCol="0" anchor="t">
            <a:normAutofit lnSpcReduction="10000"/>
          </a:bodyPr>
          <a:lstStyle/>
          <a:p>
            <a:pPr marL="0" indent="0" algn="l">
              <a:buNone/>
            </a:pPr>
            <a:r>
              <a:rPr lang="en-US" sz="2400" b="1" dirty="0">
                <a:solidFill>
                  <a:srgbClr val="E6EDF3"/>
                </a:solidFill>
                <a:latin typeface="Arial" panose="020B0604020202020204" pitchFamily="34" charset="0"/>
                <a:ea typeface="Arial" panose="020B0604020202020204" pitchFamily="34" charset="-122"/>
                <a:cs typeface="Arial" panose="020B0604020202020204" pitchFamily="34" charset="-120"/>
              </a:rPr>
              <a:t>Exception handling</a:t>
            </a:r>
            <a:endParaRPr lang="en-US" sz="2400" dirty="0"/>
          </a:p>
        </p:txBody>
      </p:sp>
      <p:sp>
        <p:nvSpPr>
          <p:cNvPr id="6" name="Text 4"/>
          <p:cNvSpPr/>
          <p:nvPr/>
        </p:nvSpPr>
        <p:spPr>
          <a:xfrm>
            <a:off x="1400175" y="3362325"/>
            <a:ext cx="4650296" cy="811411"/>
          </a:xfrm>
          <a:prstGeom prst="rect">
            <a:avLst/>
          </a:prstGeom>
          <a:noFill/>
        </p:spPr>
        <p:txBody>
          <a:bodyPr wrap="square" lIns="25400" tIns="25400" rIns="25400" bIns="25400" rtlCol="0" anchor="t">
            <a:normAutofit fontScale="92500"/>
          </a:bodyPr>
          <a:lstStyle/>
          <a:p>
            <a:pPr marL="0" indent="0" algn="l">
              <a:lnSpc>
                <a:spcPct val="145000"/>
              </a:lnSpc>
              <a:buNone/>
            </a:pPr>
            <a:r>
              <a:rPr lang="en-US" sz="2100" dirty="0">
                <a:solidFill>
                  <a:srgbClr val="8B949E"/>
                </a:solidFill>
                <a:latin typeface="Arial" panose="020B0604020202020204" pitchFamily="34" charset="0"/>
                <a:ea typeface="Arial" panose="020B0604020202020204" pitchFamily="34" charset="-122"/>
                <a:cs typeface="Arial" panose="020B0604020202020204" pitchFamily="34" charset="-120"/>
              </a:rPr>
              <a:t>A custom exception caught with try / catch.</a:t>
            </a:r>
            <a:endParaRPr lang="en-US" sz="2100" dirty="0"/>
          </a:p>
        </p:txBody>
      </p:sp>
      <p:sp>
        <p:nvSpPr>
          <p:cNvPr id="7" name="Shape 5"/>
          <p:cNvSpPr/>
          <p:nvPr/>
        </p:nvSpPr>
        <p:spPr>
          <a:xfrm>
            <a:off x="1400175" y="8003084"/>
            <a:ext cx="4514850" cy="1169491"/>
          </a:xfrm>
          <a:prstGeom prst="roundRect">
            <a:avLst>
              <a:gd name="adj" fmla="val 8145"/>
            </a:avLst>
          </a:prstGeom>
          <a:solidFill>
            <a:srgbClr val="0B0E14"/>
          </a:solidFill>
          <a:ln w="9525">
            <a:solidFill>
              <a:srgbClr val="262C36"/>
            </a:solidFill>
            <a:prstDash val="solid"/>
          </a:ln>
        </p:spPr>
      </p:sp>
      <p:sp>
        <p:nvSpPr>
          <p:cNvPr id="8" name="Text 6"/>
          <p:cNvSpPr/>
          <p:nvPr/>
        </p:nvSpPr>
        <p:spPr>
          <a:xfrm>
            <a:off x="1638300" y="8222159"/>
            <a:ext cx="4442460" cy="403771"/>
          </a:xfrm>
          <a:prstGeom prst="rect">
            <a:avLst/>
          </a:prstGeom>
          <a:noFill/>
        </p:spPr>
        <p:txBody>
          <a:bodyPr wrap="square" lIns="25400" tIns="25400" rIns="25400" bIns="25400" rtlCol="0" anchor="t">
            <a:normAutofit fontScale="92500" lnSpcReduction="20000"/>
          </a:bodyPr>
          <a:lstStyle/>
          <a:p>
            <a:pPr marL="0" indent="0" algn="l">
              <a:lnSpc>
                <a:spcPct val="160000"/>
              </a:lnSpc>
              <a:buNone/>
            </a:pPr>
            <a:r>
              <a:rPr lang="en-US" sz="1800"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if </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(income &lt; </a:t>
            </a:r>
            <a:r>
              <a:rPr lang="en-US" sz="1800"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0</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00" dirty="0"/>
          </a:p>
        </p:txBody>
      </p:sp>
      <p:sp>
        <p:nvSpPr>
          <p:cNvPr id="9" name="Text 7"/>
          <p:cNvSpPr/>
          <p:nvPr/>
        </p:nvSpPr>
        <p:spPr>
          <a:xfrm>
            <a:off x="1638300" y="8587829"/>
            <a:ext cx="4442460" cy="403771"/>
          </a:xfrm>
          <a:prstGeom prst="rect">
            <a:avLst/>
          </a:prstGeom>
          <a:noFill/>
        </p:spPr>
        <p:txBody>
          <a:bodyPr wrap="square" lIns="25400" tIns="25400" rIns="25400" bIns="25400" rtlCol="0" anchor="t">
            <a:normAutofit fontScale="92500" lnSpcReduction="20000"/>
          </a:bodyPr>
          <a:lstStyle/>
          <a:p>
            <a:pPr marL="0" indent="0" algn="l">
              <a:lnSpc>
                <a:spcPct val="160000"/>
              </a:lnSpc>
              <a:buNone/>
            </a:pPr>
            <a:r>
              <a:rPr lang="en-US" sz="1800"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throw </a:t>
            </a: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InvalidInput</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r>
              <a:rPr lang="en-US" sz="1800"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"&lt; 0"</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00" dirty="0"/>
          </a:p>
        </p:txBody>
      </p:sp>
      <p:sp>
        <p:nvSpPr>
          <p:cNvPr id="10" name="Shape 8"/>
          <p:cNvSpPr/>
          <p:nvPr/>
        </p:nvSpPr>
        <p:spPr>
          <a:xfrm>
            <a:off x="6534150" y="2486025"/>
            <a:ext cx="5219700" cy="7038975"/>
          </a:xfrm>
          <a:prstGeom prst="roundRect">
            <a:avLst>
              <a:gd name="adj" fmla="val 2920"/>
            </a:avLst>
          </a:prstGeom>
          <a:solidFill>
            <a:srgbClr val="161B22"/>
          </a:solidFill>
          <a:ln w="9525">
            <a:solidFill>
              <a:srgbClr val="262C36"/>
            </a:solidFill>
            <a:prstDash val="solid"/>
          </a:ln>
        </p:spPr>
      </p:sp>
      <p:sp>
        <p:nvSpPr>
          <p:cNvPr id="11" name="Text 9"/>
          <p:cNvSpPr/>
          <p:nvPr/>
        </p:nvSpPr>
        <p:spPr>
          <a:xfrm>
            <a:off x="6886575" y="2838450"/>
            <a:ext cx="4966335" cy="390525"/>
          </a:xfrm>
          <a:prstGeom prst="rect">
            <a:avLst/>
          </a:prstGeom>
          <a:noFill/>
        </p:spPr>
        <p:txBody>
          <a:bodyPr wrap="square" lIns="25400" tIns="25400" rIns="25400" bIns="25400" rtlCol="0" anchor="t">
            <a:normAutofit lnSpcReduction="10000"/>
          </a:bodyPr>
          <a:lstStyle/>
          <a:p>
            <a:pPr marL="0" indent="0" algn="l">
              <a:buNone/>
            </a:pPr>
            <a:r>
              <a:rPr lang="en-US" sz="2400" b="1" dirty="0">
                <a:solidFill>
                  <a:srgbClr val="E6EDF3"/>
                </a:solidFill>
                <a:latin typeface="Arial" panose="020B0604020202020204" pitchFamily="34" charset="0"/>
                <a:ea typeface="Arial" panose="020B0604020202020204" pitchFamily="34" charset="-122"/>
                <a:cs typeface="Arial" panose="020B0604020202020204" pitchFamily="34" charset="-120"/>
              </a:rPr>
              <a:t>File persistence</a:t>
            </a:r>
            <a:endParaRPr lang="en-US" sz="2400" dirty="0"/>
          </a:p>
        </p:txBody>
      </p:sp>
      <p:sp>
        <p:nvSpPr>
          <p:cNvPr id="12" name="Text 10"/>
          <p:cNvSpPr/>
          <p:nvPr/>
        </p:nvSpPr>
        <p:spPr>
          <a:xfrm>
            <a:off x="6886575" y="3362325"/>
            <a:ext cx="4650296" cy="811411"/>
          </a:xfrm>
          <a:prstGeom prst="rect">
            <a:avLst/>
          </a:prstGeom>
          <a:noFill/>
        </p:spPr>
        <p:txBody>
          <a:bodyPr wrap="square" lIns="25400" tIns="25400" rIns="25400" bIns="25400" rtlCol="0" anchor="t">
            <a:normAutofit fontScale="92500"/>
          </a:bodyPr>
          <a:lstStyle/>
          <a:p>
            <a:pPr marL="0" indent="0" algn="l">
              <a:lnSpc>
                <a:spcPct val="145000"/>
              </a:lnSpc>
              <a:buNone/>
            </a:pPr>
            <a:r>
              <a:rPr lang="en-US" sz="2100" dirty="0">
                <a:solidFill>
                  <a:srgbClr val="8B949E"/>
                </a:solidFill>
                <a:latin typeface="Arial" panose="020B0604020202020204" pitchFamily="34" charset="0"/>
                <a:ea typeface="Arial" panose="020B0604020202020204" pitchFamily="34" charset="-122"/>
                <a:cs typeface="Arial" panose="020B0604020202020204" pitchFamily="34" charset="-120"/>
              </a:rPr>
              <a:t>Save and reload the group from a text file.</a:t>
            </a:r>
            <a:endParaRPr lang="en-US" sz="2100" dirty="0"/>
          </a:p>
        </p:txBody>
      </p:sp>
      <p:sp>
        <p:nvSpPr>
          <p:cNvPr id="13" name="Shape 11"/>
          <p:cNvSpPr/>
          <p:nvPr/>
        </p:nvSpPr>
        <p:spPr>
          <a:xfrm>
            <a:off x="6886575" y="8003084"/>
            <a:ext cx="4514850" cy="1169491"/>
          </a:xfrm>
          <a:prstGeom prst="roundRect">
            <a:avLst>
              <a:gd name="adj" fmla="val 8145"/>
            </a:avLst>
          </a:prstGeom>
          <a:solidFill>
            <a:srgbClr val="0B0E14"/>
          </a:solidFill>
          <a:ln w="9525">
            <a:solidFill>
              <a:srgbClr val="262C36"/>
            </a:solidFill>
            <a:prstDash val="solid"/>
          </a:ln>
        </p:spPr>
      </p:sp>
      <p:sp>
        <p:nvSpPr>
          <p:cNvPr id="14" name="Text 12"/>
          <p:cNvSpPr/>
          <p:nvPr/>
        </p:nvSpPr>
        <p:spPr>
          <a:xfrm>
            <a:off x="7124700" y="8222159"/>
            <a:ext cx="4442460" cy="403771"/>
          </a:xfrm>
          <a:prstGeom prst="rect">
            <a:avLst/>
          </a:prstGeom>
          <a:noFill/>
        </p:spPr>
        <p:txBody>
          <a:bodyPr wrap="square" lIns="25400" tIns="25400" rIns="25400" bIns="25400" rtlCol="0" anchor="t">
            <a:normAutofit fontScale="92500" lnSpcReduction="20000"/>
          </a:bodyPr>
          <a:lstStyle/>
          <a:p>
            <a:pPr marL="0" indent="0" algn="l">
              <a:lnSpc>
                <a:spcPct val="160000"/>
              </a:lnSpc>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ofstream </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out(</a:t>
            </a:r>
            <a:r>
              <a:rPr lang="en-US" sz="1800"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"data.txt"</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00" dirty="0"/>
          </a:p>
        </p:txBody>
      </p:sp>
      <p:sp>
        <p:nvSpPr>
          <p:cNvPr id="15" name="Text 13"/>
          <p:cNvSpPr/>
          <p:nvPr/>
        </p:nvSpPr>
        <p:spPr>
          <a:xfrm>
            <a:off x="7124700" y="8587829"/>
            <a:ext cx="4442460" cy="403771"/>
          </a:xfrm>
          <a:prstGeom prst="rect">
            <a:avLst/>
          </a:prstGeom>
          <a:noFill/>
        </p:spPr>
        <p:txBody>
          <a:bodyPr wrap="square" lIns="25400" tIns="25400" rIns="25400" bIns="25400" rtlCol="0" anchor="t">
            <a:normAutofit fontScale="92500" lnSpcReduction="20000"/>
          </a:bodyPr>
          <a:lstStyle/>
          <a:p>
            <a:pPr marL="0" indent="0" algn="l">
              <a:lnSpc>
                <a:spcPct val="160000"/>
              </a:lnSpc>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ifstream </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in(</a:t>
            </a:r>
            <a:r>
              <a:rPr lang="en-US" sz="1800"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"data.txt"</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00" dirty="0"/>
          </a:p>
        </p:txBody>
      </p:sp>
      <p:sp>
        <p:nvSpPr>
          <p:cNvPr id="16" name="Shape 14"/>
          <p:cNvSpPr/>
          <p:nvPr/>
        </p:nvSpPr>
        <p:spPr>
          <a:xfrm>
            <a:off x="12020550" y="2486025"/>
            <a:ext cx="5219700" cy="7038975"/>
          </a:xfrm>
          <a:prstGeom prst="roundRect">
            <a:avLst>
              <a:gd name="adj" fmla="val 2920"/>
            </a:avLst>
          </a:prstGeom>
          <a:solidFill>
            <a:srgbClr val="161B22"/>
          </a:solidFill>
          <a:ln w="9525">
            <a:solidFill>
              <a:srgbClr val="262C36"/>
            </a:solidFill>
            <a:prstDash val="solid"/>
          </a:ln>
        </p:spPr>
      </p:sp>
      <p:sp>
        <p:nvSpPr>
          <p:cNvPr id="17" name="Text 15"/>
          <p:cNvSpPr/>
          <p:nvPr/>
        </p:nvSpPr>
        <p:spPr>
          <a:xfrm>
            <a:off x="12372975" y="2838450"/>
            <a:ext cx="4966335" cy="390525"/>
          </a:xfrm>
          <a:prstGeom prst="rect">
            <a:avLst/>
          </a:prstGeom>
          <a:noFill/>
        </p:spPr>
        <p:txBody>
          <a:bodyPr wrap="square" lIns="25400" tIns="25400" rIns="25400" bIns="25400" rtlCol="0" anchor="t">
            <a:normAutofit lnSpcReduction="10000"/>
          </a:bodyPr>
          <a:lstStyle/>
          <a:p>
            <a:pPr marL="0" indent="0" algn="l">
              <a:buNone/>
            </a:pPr>
            <a:r>
              <a:rPr lang="en-US" sz="2400" b="1" dirty="0">
                <a:solidFill>
                  <a:srgbClr val="E6EDF3"/>
                </a:solidFill>
                <a:latin typeface="Arial" panose="020B0604020202020204" pitchFamily="34" charset="0"/>
                <a:ea typeface="Arial" panose="020B0604020202020204" pitchFamily="34" charset="-122"/>
                <a:cs typeface="Arial" panose="020B0604020202020204" pitchFamily="34" charset="-120"/>
              </a:rPr>
              <a:t>STL containers</a:t>
            </a:r>
            <a:endParaRPr lang="en-US" sz="2400" dirty="0"/>
          </a:p>
        </p:txBody>
      </p:sp>
      <p:sp>
        <p:nvSpPr>
          <p:cNvPr id="18" name="Text 16"/>
          <p:cNvSpPr/>
          <p:nvPr/>
        </p:nvSpPr>
        <p:spPr>
          <a:xfrm>
            <a:off x="12372975" y="3362325"/>
            <a:ext cx="4650296" cy="811411"/>
          </a:xfrm>
          <a:prstGeom prst="rect">
            <a:avLst/>
          </a:prstGeom>
          <a:noFill/>
        </p:spPr>
        <p:txBody>
          <a:bodyPr wrap="square" lIns="25400" tIns="25400" rIns="25400" bIns="25400" rtlCol="0" anchor="t">
            <a:normAutofit fontScale="92500"/>
          </a:bodyPr>
          <a:lstStyle/>
          <a:p>
            <a:pPr marL="0" indent="0" algn="l">
              <a:lnSpc>
                <a:spcPct val="145000"/>
              </a:lnSpc>
              <a:buNone/>
            </a:pPr>
            <a:r>
              <a:rPr lang="en-US" sz="2100" dirty="0">
                <a:solidFill>
                  <a:srgbClr val="8B949E"/>
                </a:solidFill>
                <a:latin typeface="Arial" panose="020B0604020202020204" pitchFamily="34" charset="0"/>
                <a:ea typeface="Arial" panose="020B0604020202020204" pitchFamily="34" charset="-122"/>
                <a:cs typeface="Arial" panose="020B0604020202020204" pitchFamily="34" charset="-120"/>
              </a:rPr>
              <a:t>A vector for the group, a map for totals.</a:t>
            </a:r>
            <a:endParaRPr lang="en-US" sz="2100" dirty="0"/>
          </a:p>
        </p:txBody>
      </p:sp>
      <p:sp>
        <p:nvSpPr>
          <p:cNvPr id="19" name="Shape 17"/>
          <p:cNvSpPr/>
          <p:nvPr/>
        </p:nvSpPr>
        <p:spPr>
          <a:xfrm>
            <a:off x="12372975" y="8003084"/>
            <a:ext cx="4514850" cy="1169491"/>
          </a:xfrm>
          <a:prstGeom prst="roundRect">
            <a:avLst>
              <a:gd name="adj" fmla="val 8145"/>
            </a:avLst>
          </a:prstGeom>
          <a:solidFill>
            <a:srgbClr val="0B0E14"/>
          </a:solidFill>
          <a:ln w="9525">
            <a:solidFill>
              <a:srgbClr val="262C36"/>
            </a:solidFill>
            <a:prstDash val="solid"/>
          </a:ln>
        </p:spPr>
      </p:sp>
      <p:sp>
        <p:nvSpPr>
          <p:cNvPr id="20" name="Text 18"/>
          <p:cNvSpPr/>
          <p:nvPr/>
        </p:nvSpPr>
        <p:spPr>
          <a:xfrm>
            <a:off x="12611100" y="8222159"/>
            <a:ext cx="4442460" cy="403771"/>
          </a:xfrm>
          <a:prstGeom prst="rect">
            <a:avLst/>
          </a:prstGeom>
          <a:noFill/>
        </p:spPr>
        <p:txBody>
          <a:bodyPr wrap="square" lIns="25400" tIns="25400" rIns="25400" bIns="25400" rtlCol="0" anchor="t">
            <a:normAutofit fontScale="92500" lnSpcReduction="20000"/>
          </a:bodyPr>
          <a:lstStyle/>
          <a:p>
            <a:pPr marL="0" indent="0" algn="l">
              <a:lnSpc>
                <a:spcPct val="160000"/>
              </a:lnSpc>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vector</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&lt;</a:t>
            </a: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Taxpayer*</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&gt; group;</a:t>
            </a:r>
            <a:endParaRPr lang="en-US" sz="1800" dirty="0"/>
          </a:p>
        </p:txBody>
      </p:sp>
      <p:sp>
        <p:nvSpPr>
          <p:cNvPr id="21" name="Text 19"/>
          <p:cNvSpPr/>
          <p:nvPr/>
        </p:nvSpPr>
        <p:spPr>
          <a:xfrm>
            <a:off x="12611100" y="8587829"/>
            <a:ext cx="4442460" cy="403771"/>
          </a:xfrm>
          <a:prstGeom prst="rect">
            <a:avLst/>
          </a:prstGeom>
          <a:noFill/>
        </p:spPr>
        <p:txBody>
          <a:bodyPr wrap="square" lIns="25400" tIns="25400" rIns="25400" bIns="25400" rtlCol="0" anchor="t">
            <a:normAutofit fontScale="92500" lnSpcReduction="20000"/>
          </a:bodyPr>
          <a:lstStyle/>
          <a:p>
            <a:pPr marL="0" indent="0" algn="l">
              <a:lnSpc>
                <a:spcPct val="160000"/>
              </a:lnSpc>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map</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&lt;</a:t>
            </a: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string</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double</a:t>
            </a:r>
            <a:r>
              <a:rPr lang="en-US" sz="1800"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&gt; totals;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09 · CLASS DESIGN</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One base, three types</a:t>
            </a:r>
            <a:endParaRPr lang="en-US" sz="4800" dirty="0"/>
          </a:p>
        </p:txBody>
      </p:sp>
      <p:sp>
        <p:nvSpPr>
          <p:cNvPr id="4" name="Shape 2"/>
          <p:cNvSpPr/>
          <p:nvPr/>
        </p:nvSpPr>
        <p:spPr>
          <a:xfrm>
            <a:off x="3209181" y="4052888"/>
            <a:ext cx="3506539" cy="1076325"/>
          </a:xfrm>
          <a:prstGeom prst="roundRect">
            <a:avLst>
              <a:gd name="adj" fmla="val 10619"/>
            </a:avLst>
          </a:prstGeom>
          <a:solidFill>
            <a:srgbClr val="0F2A24"/>
          </a:solidFill>
          <a:ln w="19050">
            <a:solidFill>
              <a:srgbClr val="4EC9B0"/>
            </a:solidFill>
            <a:prstDash val="solid"/>
          </a:ln>
        </p:spPr>
      </p:sp>
      <p:sp>
        <p:nvSpPr>
          <p:cNvPr id="5" name="Text 3"/>
          <p:cNvSpPr/>
          <p:nvPr/>
        </p:nvSpPr>
        <p:spPr>
          <a:xfrm>
            <a:off x="3473909" y="4281488"/>
            <a:ext cx="2977083" cy="390525"/>
          </a:xfrm>
          <a:prstGeom prst="rect">
            <a:avLst/>
          </a:prstGeom>
          <a:noFill/>
        </p:spPr>
        <p:txBody>
          <a:bodyPr wrap="square" lIns="25400" tIns="25400" rIns="25400" bIns="25400" rtlCol="0" anchor="t">
            <a:normAutofit lnSpcReduction="10000"/>
          </a:bodyPr>
          <a:lstStyle/>
          <a:p>
            <a:pPr marL="0" indent="0" algn="ctr">
              <a:buNone/>
            </a:pPr>
            <a:r>
              <a:rPr lang="en-US" sz="2400" b="1"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Taxpayer</a:t>
            </a:r>
            <a:endParaRPr lang="en-US" sz="2400" dirty="0"/>
          </a:p>
        </p:txBody>
      </p:sp>
      <p:sp>
        <p:nvSpPr>
          <p:cNvPr id="6" name="Text 4"/>
          <p:cNvSpPr/>
          <p:nvPr/>
        </p:nvSpPr>
        <p:spPr>
          <a:xfrm>
            <a:off x="3473909" y="4633913"/>
            <a:ext cx="2977083" cy="304800"/>
          </a:xfrm>
          <a:prstGeom prst="rect">
            <a:avLst/>
          </a:prstGeom>
          <a:noFill/>
        </p:spPr>
        <p:txBody>
          <a:bodyPr wrap="square" lIns="25400" tIns="25400" rIns="25400" bIns="25400" rtlCol="0" anchor="t">
            <a:normAutofit lnSpcReduction="10000"/>
          </a:bodyPr>
          <a:lstStyle/>
          <a:p>
            <a:pPr marL="0" indent="0" algn="ctr">
              <a:buNone/>
            </a:pPr>
            <a:r>
              <a:rPr lang="en-US" sz="1800" i="1" dirty="0">
                <a:solidFill>
                  <a:srgbClr val="8B949E"/>
                </a:solidFill>
                <a:latin typeface="Arial" panose="020B0604020202020204" pitchFamily="34" charset="0"/>
                <a:ea typeface="Arial" panose="020B0604020202020204" pitchFamily="34" charset="-122"/>
                <a:cs typeface="Arial" panose="020B0604020202020204" pitchFamily="34" charset="-120"/>
              </a:rPr>
              <a:t>abstract base · pure virtual</a:t>
            </a:r>
            <a:endParaRPr lang="en-US" sz="1800" dirty="0"/>
          </a:p>
        </p:txBody>
      </p:sp>
      <p:sp>
        <p:nvSpPr>
          <p:cNvPr id="7" name="Shape 5"/>
          <p:cNvSpPr/>
          <p:nvPr/>
        </p:nvSpPr>
        <p:spPr>
          <a:xfrm>
            <a:off x="4953000" y="5129213"/>
            <a:ext cx="19050" cy="361950"/>
          </a:xfrm>
          <a:prstGeom prst="rect">
            <a:avLst/>
          </a:prstGeom>
          <a:solidFill>
            <a:srgbClr val="3A4450"/>
          </a:solidFill>
        </p:spPr>
      </p:sp>
      <p:sp>
        <p:nvSpPr>
          <p:cNvPr id="8" name="Shape 6"/>
          <p:cNvSpPr/>
          <p:nvPr/>
        </p:nvSpPr>
        <p:spPr>
          <a:xfrm>
            <a:off x="3571875" y="5491163"/>
            <a:ext cx="19050" cy="190500"/>
          </a:xfrm>
          <a:prstGeom prst="rect">
            <a:avLst/>
          </a:prstGeom>
          <a:solidFill>
            <a:srgbClr val="3A4450"/>
          </a:solidFill>
        </p:spPr>
      </p:sp>
      <p:sp>
        <p:nvSpPr>
          <p:cNvPr id="9" name="Shape 7"/>
          <p:cNvSpPr/>
          <p:nvPr/>
        </p:nvSpPr>
        <p:spPr>
          <a:xfrm>
            <a:off x="2485876" y="5681663"/>
            <a:ext cx="2191048" cy="962025"/>
          </a:xfrm>
          <a:prstGeom prst="roundRect">
            <a:avLst>
              <a:gd name="adj" fmla="val 11881"/>
            </a:avLst>
          </a:prstGeom>
          <a:solidFill>
            <a:srgbClr val="161B22"/>
          </a:solidFill>
          <a:ln w="9525">
            <a:solidFill>
              <a:srgbClr val="569CD6"/>
            </a:solidFill>
            <a:prstDash val="solid"/>
          </a:ln>
        </p:spPr>
      </p:sp>
      <p:sp>
        <p:nvSpPr>
          <p:cNvPr id="10" name="Text 8"/>
          <p:cNvSpPr/>
          <p:nvPr/>
        </p:nvSpPr>
        <p:spPr>
          <a:xfrm>
            <a:off x="2701126" y="5862638"/>
            <a:ext cx="1760547" cy="333375"/>
          </a:xfrm>
          <a:prstGeom prst="rect">
            <a:avLst/>
          </a:prstGeom>
          <a:noFill/>
        </p:spPr>
        <p:txBody>
          <a:bodyPr wrap="square" lIns="25400" tIns="25400" rIns="25400" bIns="25400" rtlCol="0" anchor="t">
            <a:normAutofit fontScale="92500" lnSpcReduction="10000"/>
          </a:bodyPr>
          <a:lstStyle/>
          <a:p>
            <a:pPr marL="0" indent="0" algn="ctr">
              <a:buNone/>
            </a:pPr>
            <a:r>
              <a:rPr lang="en-US" sz="2100" b="1"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Individual</a:t>
            </a:r>
            <a:endParaRPr lang="en-US" sz="2100" dirty="0"/>
          </a:p>
        </p:txBody>
      </p:sp>
      <p:sp>
        <p:nvSpPr>
          <p:cNvPr id="11" name="Text 9"/>
          <p:cNvSpPr/>
          <p:nvPr/>
        </p:nvSpPr>
        <p:spPr>
          <a:xfrm>
            <a:off x="2701126" y="6157913"/>
            <a:ext cx="1760547" cy="342900"/>
          </a:xfrm>
          <a:prstGeom prst="rect">
            <a:avLst/>
          </a:prstGeom>
          <a:noFill/>
        </p:spPr>
        <p:txBody>
          <a:bodyPr wrap="square" lIns="25400" tIns="25400" rIns="25400" bIns="25400" rtlCol="0" anchor="t">
            <a:normAutofit/>
          </a:bodyPr>
          <a:lstStyle/>
          <a:p>
            <a:pPr marL="0" indent="0" algn="ctr">
              <a:buNone/>
            </a:pPr>
            <a:r>
              <a:rPr lang="en-US" sz="1800" dirty="0">
                <a:solidFill>
                  <a:srgbClr val="8B949E"/>
                </a:solidFill>
                <a:latin typeface="Arial" panose="020B0604020202020204" pitchFamily="34" charset="0"/>
                <a:ea typeface="Arial" panose="020B0604020202020204" pitchFamily="34" charset="-122"/>
                <a:cs typeface="Arial" panose="020B0604020202020204" pitchFamily="34" charset="-120"/>
              </a:rPr>
              <a:t>10%</a:t>
            </a:r>
            <a:endParaRPr lang="en-US" sz="1800" dirty="0"/>
          </a:p>
        </p:txBody>
      </p:sp>
      <p:sp>
        <p:nvSpPr>
          <p:cNvPr id="12" name="Shape 10"/>
          <p:cNvSpPr/>
          <p:nvPr/>
        </p:nvSpPr>
        <p:spPr>
          <a:xfrm>
            <a:off x="3571875" y="6643688"/>
            <a:ext cx="19050" cy="323850"/>
          </a:xfrm>
          <a:prstGeom prst="rect">
            <a:avLst/>
          </a:prstGeom>
          <a:solidFill>
            <a:srgbClr val="3A4450"/>
          </a:solidFill>
        </p:spPr>
      </p:sp>
      <p:sp>
        <p:nvSpPr>
          <p:cNvPr id="13" name="Shape 11"/>
          <p:cNvSpPr/>
          <p:nvPr/>
        </p:nvSpPr>
        <p:spPr>
          <a:xfrm>
            <a:off x="2022872" y="6967538"/>
            <a:ext cx="3117056" cy="952500"/>
          </a:xfrm>
          <a:prstGeom prst="roundRect">
            <a:avLst>
              <a:gd name="adj" fmla="val 12000"/>
            </a:avLst>
          </a:prstGeom>
          <a:solidFill>
            <a:srgbClr val="161B22"/>
          </a:solidFill>
          <a:ln w="9525">
            <a:solidFill>
              <a:srgbClr val="CE9178"/>
            </a:solidFill>
            <a:prstDash val="solid"/>
          </a:ln>
        </p:spPr>
      </p:sp>
      <p:sp>
        <p:nvSpPr>
          <p:cNvPr id="14" name="Text 12"/>
          <p:cNvSpPr/>
          <p:nvPr/>
        </p:nvSpPr>
        <p:spPr>
          <a:xfrm>
            <a:off x="2191822" y="7148513"/>
            <a:ext cx="2779157" cy="323850"/>
          </a:xfrm>
          <a:prstGeom prst="rect">
            <a:avLst/>
          </a:prstGeom>
          <a:noFill/>
        </p:spPr>
        <p:txBody>
          <a:bodyPr wrap="square" lIns="25400" tIns="25400" rIns="25400" bIns="25400" rtlCol="0" anchor="t">
            <a:normAutofit fontScale="92500" lnSpcReduction="10000"/>
          </a:bodyPr>
          <a:lstStyle/>
          <a:p>
            <a:pPr marL="0" indent="0" algn="ctr">
              <a:buNone/>
            </a:pPr>
            <a:r>
              <a:rPr lang="en-US" sz="1950" b="1" dirty="0">
                <a:solidFill>
                  <a:srgbClr val="CE9178"/>
                </a:solidFill>
                <a:latin typeface="Courier New" panose="02070309020205020404" pitchFamily="34" charset="0"/>
                <a:ea typeface="Courier New" panose="02070309020205020404" pitchFamily="34" charset="-122"/>
                <a:cs typeface="Courier New" panose="02070309020205020404" pitchFamily="34" charset="-120"/>
              </a:rPr>
              <a:t>PremiumIndividual</a:t>
            </a:r>
            <a:endParaRPr lang="en-US" sz="1950" dirty="0"/>
          </a:p>
        </p:txBody>
      </p:sp>
      <p:sp>
        <p:nvSpPr>
          <p:cNvPr id="15" name="Text 13"/>
          <p:cNvSpPr/>
          <p:nvPr/>
        </p:nvSpPr>
        <p:spPr>
          <a:xfrm>
            <a:off x="2191822" y="7434263"/>
            <a:ext cx="2779157" cy="342900"/>
          </a:xfrm>
          <a:prstGeom prst="rect">
            <a:avLst/>
          </a:prstGeom>
          <a:noFill/>
        </p:spPr>
        <p:txBody>
          <a:bodyPr wrap="square" lIns="25400" tIns="25400" rIns="25400" bIns="25400" rtlCol="0" anchor="t">
            <a:normAutofit/>
          </a:bodyPr>
          <a:lstStyle/>
          <a:p>
            <a:pPr marL="0" indent="0" algn="ctr">
              <a:buNone/>
            </a:pPr>
            <a:r>
              <a:rPr lang="en-US" sz="1800" dirty="0">
                <a:solidFill>
                  <a:srgbClr val="8B949E"/>
                </a:solidFill>
                <a:latin typeface="Arial" panose="020B0604020202020204" pitchFamily="34" charset="0"/>
                <a:ea typeface="Arial" panose="020B0604020202020204" pitchFamily="34" charset="-122"/>
                <a:cs typeface="Arial" panose="020B0604020202020204" pitchFamily="34" charset="-120"/>
              </a:rPr>
              <a:t>10% + 5%</a:t>
            </a:r>
            <a:endParaRPr lang="en-US" sz="1800" dirty="0"/>
          </a:p>
        </p:txBody>
      </p:sp>
      <p:sp>
        <p:nvSpPr>
          <p:cNvPr id="16" name="Shape 14"/>
          <p:cNvSpPr/>
          <p:nvPr/>
        </p:nvSpPr>
        <p:spPr>
          <a:xfrm>
            <a:off x="6797278" y="5491163"/>
            <a:ext cx="19050" cy="190500"/>
          </a:xfrm>
          <a:prstGeom prst="rect">
            <a:avLst/>
          </a:prstGeom>
          <a:solidFill>
            <a:srgbClr val="3A4450"/>
          </a:solidFill>
        </p:spPr>
      </p:sp>
      <p:sp>
        <p:nvSpPr>
          <p:cNvPr id="17" name="Shape 15"/>
          <p:cNvSpPr/>
          <p:nvPr/>
        </p:nvSpPr>
        <p:spPr>
          <a:xfrm>
            <a:off x="5711428" y="5681663"/>
            <a:ext cx="2190750" cy="962025"/>
          </a:xfrm>
          <a:prstGeom prst="roundRect">
            <a:avLst>
              <a:gd name="adj" fmla="val 11881"/>
            </a:avLst>
          </a:prstGeom>
          <a:solidFill>
            <a:srgbClr val="161B22"/>
          </a:solidFill>
          <a:ln w="9525">
            <a:solidFill>
              <a:srgbClr val="DCDCAA"/>
            </a:solidFill>
            <a:prstDash val="solid"/>
          </a:ln>
        </p:spPr>
      </p:sp>
      <p:sp>
        <p:nvSpPr>
          <p:cNvPr id="18" name="Text 16"/>
          <p:cNvSpPr/>
          <p:nvPr/>
        </p:nvSpPr>
        <p:spPr>
          <a:xfrm>
            <a:off x="5926693" y="5862638"/>
            <a:ext cx="1760220" cy="333375"/>
          </a:xfrm>
          <a:prstGeom prst="rect">
            <a:avLst/>
          </a:prstGeom>
          <a:noFill/>
        </p:spPr>
        <p:txBody>
          <a:bodyPr wrap="square" lIns="25400" tIns="25400" rIns="25400" bIns="25400" rtlCol="0" anchor="t">
            <a:normAutofit fontScale="92500" lnSpcReduction="10000"/>
          </a:bodyPr>
          <a:lstStyle/>
          <a:p>
            <a:pPr marL="0" indent="0" algn="ctr">
              <a:buNone/>
            </a:pPr>
            <a:r>
              <a:rPr lang="en-US" sz="2100" b="1"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Business</a:t>
            </a:r>
            <a:endParaRPr lang="en-US" sz="2100" dirty="0"/>
          </a:p>
        </p:txBody>
      </p:sp>
      <p:sp>
        <p:nvSpPr>
          <p:cNvPr id="19" name="Text 17"/>
          <p:cNvSpPr/>
          <p:nvPr/>
        </p:nvSpPr>
        <p:spPr>
          <a:xfrm>
            <a:off x="5926693" y="6157913"/>
            <a:ext cx="1760220" cy="342900"/>
          </a:xfrm>
          <a:prstGeom prst="rect">
            <a:avLst/>
          </a:prstGeom>
          <a:noFill/>
        </p:spPr>
        <p:txBody>
          <a:bodyPr wrap="square" lIns="25400" tIns="25400" rIns="25400" bIns="25400" rtlCol="0" anchor="t">
            <a:normAutofit/>
          </a:bodyPr>
          <a:lstStyle/>
          <a:p>
            <a:pPr marL="0" indent="0" algn="ctr">
              <a:buNone/>
            </a:pPr>
            <a:r>
              <a:rPr lang="en-US" sz="1800" dirty="0">
                <a:solidFill>
                  <a:srgbClr val="8B949E"/>
                </a:solidFill>
                <a:latin typeface="Arial" panose="020B0604020202020204" pitchFamily="34" charset="0"/>
                <a:ea typeface="Arial" panose="020B0604020202020204" pitchFamily="34" charset="-122"/>
                <a:cs typeface="Arial" panose="020B0604020202020204" pitchFamily="34" charset="-120"/>
              </a:rPr>
              <a:t>20%</a:t>
            </a:r>
            <a:endParaRPr lang="en-US" sz="1800" dirty="0"/>
          </a:p>
        </p:txBody>
      </p:sp>
      <p:sp>
        <p:nvSpPr>
          <p:cNvPr id="20" name="Shape 18"/>
          <p:cNvSpPr/>
          <p:nvPr/>
        </p:nvSpPr>
        <p:spPr>
          <a:xfrm>
            <a:off x="9410700" y="3457575"/>
            <a:ext cx="7829550" cy="5057775"/>
          </a:xfrm>
          <a:prstGeom prst="roundRect">
            <a:avLst>
              <a:gd name="adj" fmla="val 2637"/>
            </a:avLst>
          </a:prstGeom>
          <a:solidFill>
            <a:srgbClr val="0B0E14"/>
          </a:solidFill>
          <a:ln w="9525">
            <a:solidFill>
              <a:srgbClr val="262C36"/>
            </a:solidFill>
            <a:prstDash val="solid"/>
          </a:ln>
        </p:spPr>
      </p:sp>
      <p:sp>
        <p:nvSpPr>
          <p:cNvPr id="21" name="Text 19"/>
          <p:cNvSpPr/>
          <p:nvPr/>
        </p:nvSpPr>
        <p:spPr>
          <a:xfrm>
            <a:off x="9782175" y="3790950"/>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class </a:t>
            </a: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Taxpayer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75" dirty="0"/>
          </a:p>
        </p:txBody>
      </p:sp>
      <p:sp>
        <p:nvSpPr>
          <p:cNvPr id="22" name="Text 20"/>
          <p:cNvSpPr/>
          <p:nvPr/>
        </p:nvSpPr>
        <p:spPr>
          <a:xfrm>
            <a:off x="9782175" y="4195763"/>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virtual </a:t>
            </a: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double </a:t>
            </a: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calculateTax</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75" dirty="0"/>
          </a:p>
        </p:txBody>
      </p:sp>
      <p:sp>
        <p:nvSpPr>
          <p:cNvPr id="23" name="Text 21"/>
          <p:cNvSpPr/>
          <p:nvPr/>
        </p:nvSpPr>
        <p:spPr>
          <a:xfrm>
            <a:off x="9782175" y="4600575"/>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const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0</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r>
              <a:rPr lang="en-US" sz="1875" dirty="0">
                <a:solidFill>
                  <a:srgbClr val="6A9955"/>
                </a:solidFill>
                <a:latin typeface="Courier New" panose="02070309020205020404" pitchFamily="34" charset="0"/>
                <a:ea typeface="Courier New" panose="02070309020205020404" pitchFamily="34" charset="-122"/>
                <a:cs typeface="Courier New" panose="02070309020205020404" pitchFamily="34" charset="-120"/>
              </a:rPr>
              <a:t>// pure virtual</a:t>
            </a:r>
            <a:endParaRPr lang="en-US" sz="1875" dirty="0"/>
          </a:p>
        </p:txBody>
      </p:sp>
      <p:sp>
        <p:nvSpPr>
          <p:cNvPr id="24" name="Text 22"/>
          <p:cNvSpPr/>
          <p:nvPr/>
        </p:nvSpPr>
        <p:spPr>
          <a:xfrm>
            <a:off x="9782175" y="5005388"/>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75" dirty="0"/>
          </a:p>
        </p:txBody>
      </p:sp>
      <p:sp>
        <p:nvSpPr>
          <p:cNvPr id="25" name="Text 23"/>
          <p:cNvSpPr/>
          <p:nvPr/>
        </p:nvSpPr>
        <p:spPr>
          <a:xfrm>
            <a:off x="9782175" y="5524500"/>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double Individual</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calculateTax</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75" dirty="0"/>
          </a:p>
        </p:txBody>
      </p:sp>
      <p:sp>
        <p:nvSpPr>
          <p:cNvPr id="26" name="Text 24"/>
          <p:cNvSpPr/>
          <p:nvPr/>
        </p:nvSpPr>
        <p:spPr>
          <a:xfrm>
            <a:off x="9782175" y="5929313"/>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r>
              <a:rPr lang="en-US" sz="1875"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return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income *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0.10</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75" dirty="0"/>
          </a:p>
        </p:txBody>
      </p:sp>
      <p:sp>
        <p:nvSpPr>
          <p:cNvPr id="27" name="Text 25"/>
          <p:cNvSpPr/>
          <p:nvPr/>
        </p:nvSpPr>
        <p:spPr>
          <a:xfrm>
            <a:off x="9782175" y="6448425"/>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double Business</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calculateTax</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75" dirty="0"/>
          </a:p>
        </p:txBody>
      </p:sp>
      <p:sp>
        <p:nvSpPr>
          <p:cNvPr id="28" name="Text 26"/>
          <p:cNvSpPr/>
          <p:nvPr/>
        </p:nvSpPr>
        <p:spPr>
          <a:xfrm>
            <a:off x="9782175" y="6853238"/>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r>
              <a:rPr lang="en-US" sz="1875"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return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income * </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0.20</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75" dirty="0"/>
          </a:p>
        </p:txBody>
      </p:sp>
      <p:sp>
        <p:nvSpPr>
          <p:cNvPr id="29" name="Text 27"/>
          <p:cNvSpPr/>
          <p:nvPr/>
        </p:nvSpPr>
        <p:spPr>
          <a:xfrm>
            <a:off x="9782175" y="7372350"/>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double Premium</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r>
              <a:rPr lang="en-US" sz="1875" dirty="0">
                <a:solidFill>
                  <a:srgbClr val="DCDCAA"/>
                </a:solidFill>
                <a:latin typeface="Courier New" panose="02070309020205020404" pitchFamily="34" charset="0"/>
                <a:ea typeface="Courier New" panose="02070309020205020404" pitchFamily="34" charset="-122"/>
                <a:cs typeface="Courier New" panose="02070309020205020404" pitchFamily="34" charset="-120"/>
              </a:rPr>
              <a:t>calculateTax</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a:t>
            </a:r>
            <a:endParaRPr lang="en-US" sz="1875" dirty="0"/>
          </a:p>
        </p:txBody>
      </p:sp>
      <p:sp>
        <p:nvSpPr>
          <p:cNvPr id="30" name="Text 28"/>
          <p:cNvSpPr/>
          <p:nvPr/>
        </p:nvSpPr>
        <p:spPr>
          <a:xfrm>
            <a:off x="9782175" y="7777163"/>
            <a:ext cx="7299198" cy="442913"/>
          </a:xfrm>
          <a:prstGeom prst="rect">
            <a:avLst/>
          </a:prstGeom>
          <a:noFill/>
        </p:spPr>
        <p:txBody>
          <a:bodyPr wrap="square" lIns="25400" tIns="25400" rIns="25400" bIns="25400" rtlCol="0" anchor="t">
            <a:normAutofit fontScale="92500" lnSpcReduction="10000"/>
          </a:bodyPr>
          <a:lstStyle/>
          <a:p>
            <a:pPr marL="0" indent="0" algn="l">
              <a:lnSpc>
                <a:spcPct val="170000"/>
              </a:lnSpc>
              <a:buNone/>
            </a:pP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r>
              <a:rPr lang="en-US" sz="1875" dirty="0">
                <a:solidFill>
                  <a:srgbClr val="569CD6"/>
                </a:solidFill>
                <a:latin typeface="Courier New" panose="02070309020205020404" pitchFamily="34" charset="0"/>
                <a:ea typeface="Courier New" panose="02070309020205020404" pitchFamily="34" charset="-122"/>
                <a:cs typeface="Courier New" panose="02070309020205020404" pitchFamily="34" charset="-120"/>
              </a:rPr>
              <a:t>return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income*</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0.10 </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income*</a:t>
            </a:r>
            <a:r>
              <a:rPr lang="en-US" sz="1875" dirty="0">
                <a:solidFill>
                  <a:srgbClr val="B5CEA8"/>
                </a:solidFill>
                <a:latin typeface="Courier New" panose="02070309020205020404" pitchFamily="34" charset="0"/>
                <a:ea typeface="Courier New" panose="02070309020205020404" pitchFamily="34" charset="-122"/>
                <a:cs typeface="Courier New" panose="02070309020205020404" pitchFamily="34" charset="-120"/>
              </a:rPr>
              <a:t>0.05</a:t>
            </a:r>
            <a:r>
              <a:rPr lang="en-US" sz="1875" dirty="0">
                <a:solidFill>
                  <a:srgbClr val="D4D4D4"/>
                </a:solidFill>
                <a:latin typeface="Courier New" panose="02070309020205020404" pitchFamily="34" charset="0"/>
                <a:ea typeface="Courier New" panose="02070309020205020404" pitchFamily="34" charset="-122"/>
                <a:cs typeface="Courier New" panose="02070309020205020404" pitchFamily="34" charset="-120"/>
              </a:rPr>
              <a:t>; }</a:t>
            </a:r>
            <a:endParaRPr lang="en-US" sz="18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10 · CHALLENGES</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What was hard, and how we solved it</a:t>
            </a:r>
            <a:endParaRPr lang="en-US" sz="4800" dirty="0"/>
          </a:p>
        </p:txBody>
      </p:sp>
      <p:sp>
        <p:nvSpPr>
          <p:cNvPr id="4" name="Shape 2"/>
          <p:cNvSpPr/>
          <p:nvPr/>
        </p:nvSpPr>
        <p:spPr>
          <a:xfrm>
            <a:off x="1047750" y="2505075"/>
            <a:ext cx="16192500" cy="1819275"/>
          </a:xfrm>
          <a:prstGeom prst="roundRect">
            <a:avLst>
              <a:gd name="adj" fmla="val 7330"/>
            </a:avLst>
          </a:prstGeom>
          <a:solidFill>
            <a:srgbClr val="161B22"/>
          </a:solidFill>
          <a:ln w="9525">
            <a:solidFill>
              <a:srgbClr val="262C36"/>
            </a:solidFill>
            <a:prstDash val="solid"/>
          </a:ln>
        </p:spPr>
      </p:sp>
      <p:sp>
        <p:nvSpPr>
          <p:cNvPr id="5" name="Text 3"/>
          <p:cNvSpPr/>
          <p:nvPr/>
        </p:nvSpPr>
        <p:spPr>
          <a:xfrm>
            <a:off x="1438275" y="2838450"/>
            <a:ext cx="8266748" cy="333375"/>
          </a:xfrm>
          <a:prstGeom prst="rect">
            <a:avLst/>
          </a:prstGeom>
          <a:noFill/>
        </p:spPr>
        <p:txBody>
          <a:bodyPr wrap="square" lIns="25400" tIns="25400" rIns="25400" bIns="25400" rtlCol="0" anchor="t">
            <a:normAutofit/>
          </a:bodyPr>
          <a:lstStyle/>
          <a:p>
            <a:pPr marL="0" indent="0" algn="l">
              <a:buNone/>
            </a:pPr>
            <a:r>
              <a:rPr lang="en-US" sz="1800" dirty="0">
                <a:solidFill>
                  <a:srgbClr val="F0776C"/>
                </a:solidFill>
                <a:latin typeface="Courier New" panose="02070309020205020404" pitchFamily="34" charset="0"/>
                <a:ea typeface="Courier New" panose="02070309020205020404" pitchFamily="34" charset="-122"/>
                <a:cs typeface="Courier New" panose="02070309020205020404" pitchFamily="34" charset="-120"/>
              </a:rPr>
              <a:t>// challenge</a:t>
            </a:r>
            <a:endParaRPr lang="en-US" sz="1800" dirty="0"/>
          </a:p>
        </p:txBody>
      </p:sp>
      <p:sp>
        <p:nvSpPr>
          <p:cNvPr id="6" name="Text 4"/>
          <p:cNvSpPr/>
          <p:nvPr/>
        </p:nvSpPr>
        <p:spPr>
          <a:xfrm>
            <a:off x="1438275" y="3209925"/>
            <a:ext cx="8266748" cy="428625"/>
          </a:xfrm>
          <a:prstGeom prst="rect">
            <a:avLst/>
          </a:prstGeom>
          <a:noFill/>
        </p:spPr>
        <p:txBody>
          <a:bodyPr wrap="square" lIns="25400" tIns="25400" rIns="25400" bIns="25400" rtlCol="0" anchor="t">
            <a:normAutofit/>
          </a:bodyPr>
          <a:lstStyle/>
          <a:p>
            <a:pPr marL="0" indent="0" algn="l">
              <a:buNone/>
            </a:pPr>
            <a:r>
              <a:rPr lang="en-US" sz="2325" dirty="0">
                <a:solidFill>
                  <a:srgbClr val="E6EDF3"/>
                </a:solidFill>
                <a:latin typeface="Arial" panose="020B0604020202020204" pitchFamily="34" charset="0"/>
                <a:ea typeface="Arial" panose="020B0604020202020204" pitchFamily="34" charset="-122"/>
                <a:cs typeface="Arial" panose="020B0604020202020204" pitchFamily="34" charset="-120"/>
              </a:rPr>
              <a:t>Bad input crashed the program.</a:t>
            </a:r>
            <a:endParaRPr lang="en-US" sz="2325" dirty="0"/>
          </a:p>
        </p:txBody>
      </p:sp>
      <p:sp>
        <p:nvSpPr>
          <p:cNvPr id="7" name="Text 5"/>
          <p:cNvSpPr/>
          <p:nvPr/>
        </p:nvSpPr>
        <p:spPr>
          <a:xfrm>
            <a:off x="9334500" y="2838450"/>
            <a:ext cx="8266748" cy="333375"/>
          </a:xfrm>
          <a:prstGeom prst="rect">
            <a:avLst/>
          </a:prstGeom>
          <a:noFill/>
        </p:spPr>
        <p:txBody>
          <a:bodyPr wrap="square" lIns="25400" tIns="25400" rIns="25400" bIns="25400" rtlCol="0" anchor="t">
            <a:normAutofit/>
          </a:bodyPr>
          <a:lstStyle/>
          <a:p>
            <a:pPr marL="0" indent="0" algn="l">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solution</a:t>
            </a:r>
            <a:endParaRPr lang="en-US" sz="1800" dirty="0"/>
          </a:p>
        </p:txBody>
      </p:sp>
      <p:sp>
        <p:nvSpPr>
          <p:cNvPr id="8" name="Text 6"/>
          <p:cNvSpPr/>
          <p:nvPr/>
        </p:nvSpPr>
        <p:spPr>
          <a:xfrm>
            <a:off x="9334500" y="3209925"/>
            <a:ext cx="7740682" cy="819150"/>
          </a:xfrm>
          <a:prstGeom prst="rect">
            <a:avLst/>
          </a:prstGeom>
          <a:noFill/>
        </p:spPr>
        <p:txBody>
          <a:bodyPr wrap="square" lIns="25400" tIns="25400" rIns="25400" bIns="25400" rtlCol="0" anchor="t">
            <a:normAutofit/>
          </a:bodyPr>
          <a:lstStyle/>
          <a:p>
            <a:pPr marL="0" indent="0" algn="l">
              <a:buNone/>
            </a:pPr>
            <a:r>
              <a:rPr lang="en-US" sz="2325" dirty="0">
                <a:solidFill>
                  <a:srgbClr val="C9D1D9"/>
                </a:solidFill>
                <a:latin typeface="Arial" panose="020B0604020202020204" pitchFamily="34" charset="0"/>
                <a:ea typeface="Arial" panose="020B0604020202020204" pitchFamily="34" charset="-122"/>
                <a:cs typeface="Arial" panose="020B0604020202020204" pitchFamily="34" charset="-120"/>
              </a:rPr>
              <a:t>A custom exception + a loop that re-asks until input is valid.</a:t>
            </a:r>
            <a:endParaRPr lang="en-US" sz="2325" dirty="0"/>
          </a:p>
        </p:txBody>
      </p:sp>
      <p:sp>
        <p:nvSpPr>
          <p:cNvPr id="9" name="Shape 7"/>
          <p:cNvSpPr/>
          <p:nvPr/>
        </p:nvSpPr>
        <p:spPr>
          <a:xfrm>
            <a:off x="1047750" y="4572000"/>
            <a:ext cx="16192500" cy="1819275"/>
          </a:xfrm>
          <a:prstGeom prst="roundRect">
            <a:avLst>
              <a:gd name="adj" fmla="val 7330"/>
            </a:avLst>
          </a:prstGeom>
          <a:solidFill>
            <a:srgbClr val="161B22"/>
          </a:solidFill>
          <a:ln w="9525">
            <a:solidFill>
              <a:srgbClr val="262C36"/>
            </a:solidFill>
            <a:prstDash val="solid"/>
          </a:ln>
        </p:spPr>
      </p:sp>
      <p:sp>
        <p:nvSpPr>
          <p:cNvPr id="10" name="Text 8"/>
          <p:cNvSpPr/>
          <p:nvPr/>
        </p:nvSpPr>
        <p:spPr>
          <a:xfrm>
            <a:off x="1438275" y="4905375"/>
            <a:ext cx="8266748" cy="333375"/>
          </a:xfrm>
          <a:prstGeom prst="rect">
            <a:avLst/>
          </a:prstGeom>
          <a:noFill/>
        </p:spPr>
        <p:txBody>
          <a:bodyPr wrap="square" lIns="25400" tIns="25400" rIns="25400" bIns="25400" rtlCol="0" anchor="t">
            <a:normAutofit/>
          </a:bodyPr>
          <a:lstStyle/>
          <a:p>
            <a:pPr marL="0" indent="0" algn="l">
              <a:buNone/>
            </a:pPr>
            <a:r>
              <a:rPr lang="en-US" sz="1800" dirty="0">
                <a:solidFill>
                  <a:srgbClr val="F0776C"/>
                </a:solidFill>
                <a:latin typeface="Courier New" panose="02070309020205020404" pitchFamily="34" charset="0"/>
                <a:ea typeface="Courier New" panose="02070309020205020404" pitchFamily="34" charset="-122"/>
                <a:cs typeface="Courier New" panose="02070309020205020404" pitchFamily="34" charset="-120"/>
              </a:rPr>
              <a:t>// challenge</a:t>
            </a:r>
            <a:endParaRPr lang="en-US" sz="1800" dirty="0"/>
          </a:p>
        </p:txBody>
      </p:sp>
      <p:sp>
        <p:nvSpPr>
          <p:cNvPr id="11" name="Text 9"/>
          <p:cNvSpPr/>
          <p:nvPr/>
        </p:nvSpPr>
        <p:spPr>
          <a:xfrm>
            <a:off x="1438275" y="5276850"/>
            <a:ext cx="8266748" cy="428625"/>
          </a:xfrm>
          <a:prstGeom prst="rect">
            <a:avLst/>
          </a:prstGeom>
          <a:noFill/>
        </p:spPr>
        <p:txBody>
          <a:bodyPr wrap="square" lIns="25400" tIns="25400" rIns="25400" bIns="25400" rtlCol="0" anchor="t">
            <a:normAutofit/>
          </a:bodyPr>
          <a:lstStyle/>
          <a:p>
            <a:pPr marL="0" indent="0" algn="l">
              <a:buNone/>
            </a:pPr>
            <a:r>
              <a:rPr lang="en-US" sz="2325" dirty="0">
                <a:solidFill>
                  <a:srgbClr val="E6EDF3"/>
                </a:solidFill>
                <a:latin typeface="Arial" panose="020B0604020202020204" pitchFamily="34" charset="0"/>
                <a:ea typeface="Arial" panose="020B0604020202020204" pitchFamily="34" charset="-122"/>
                <a:cs typeface="Arial" panose="020B0604020202020204" pitchFamily="34" charset="-120"/>
              </a:rPr>
              <a:t>Deciding when a payment is overdue.</a:t>
            </a:r>
            <a:endParaRPr lang="en-US" sz="2325" dirty="0"/>
          </a:p>
        </p:txBody>
      </p:sp>
      <p:sp>
        <p:nvSpPr>
          <p:cNvPr id="12" name="Text 10"/>
          <p:cNvSpPr/>
          <p:nvPr/>
        </p:nvSpPr>
        <p:spPr>
          <a:xfrm>
            <a:off x="9334500" y="4905375"/>
            <a:ext cx="8266748" cy="333375"/>
          </a:xfrm>
          <a:prstGeom prst="rect">
            <a:avLst/>
          </a:prstGeom>
          <a:noFill/>
        </p:spPr>
        <p:txBody>
          <a:bodyPr wrap="square" lIns="25400" tIns="25400" rIns="25400" bIns="25400" rtlCol="0" anchor="t">
            <a:normAutofit/>
          </a:bodyPr>
          <a:lstStyle/>
          <a:p>
            <a:pPr marL="0" indent="0" algn="l">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solution</a:t>
            </a:r>
            <a:endParaRPr lang="en-US" sz="1800" dirty="0"/>
          </a:p>
        </p:txBody>
      </p:sp>
      <p:sp>
        <p:nvSpPr>
          <p:cNvPr id="13" name="Text 11"/>
          <p:cNvSpPr/>
          <p:nvPr/>
        </p:nvSpPr>
        <p:spPr>
          <a:xfrm>
            <a:off x="9334500" y="5276850"/>
            <a:ext cx="7740682" cy="819150"/>
          </a:xfrm>
          <a:prstGeom prst="rect">
            <a:avLst/>
          </a:prstGeom>
          <a:noFill/>
        </p:spPr>
        <p:txBody>
          <a:bodyPr wrap="square" lIns="25400" tIns="25400" rIns="25400" bIns="25400" rtlCol="0" anchor="t">
            <a:normAutofit/>
          </a:bodyPr>
          <a:lstStyle/>
          <a:p>
            <a:pPr marL="0" indent="0" algn="l">
              <a:buNone/>
            </a:pPr>
            <a:r>
              <a:rPr lang="en-US" sz="2325" dirty="0">
                <a:solidFill>
                  <a:srgbClr val="C9D1D9"/>
                </a:solidFill>
                <a:latin typeface="Arial" panose="020B0604020202020204" pitchFamily="34" charset="0"/>
                <a:ea typeface="Arial" panose="020B0604020202020204" pitchFamily="34" charset="-122"/>
                <a:cs typeface="Arial" panose="020B0604020202020204" pitchFamily="34" charset="-120"/>
              </a:rPr>
              <a:t>Read the computer's real date and compare it to the due date.</a:t>
            </a:r>
            <a:endParaRPr lang="en-US" sz="2325" dirty="0"/>
          </a:p>
        </p:txBody>
      </p:sp>
      <p:sp>
        <p:nvSpPr>
          <p:cNvPr id="14" name="Shape 12"/>
          <p:cNvSpPr/>
          <p:nvPr/>
        </p:nvSpPr>
        <p:spPr>
          <a:xfrm>
            <a:off x="1047750" y="6638925"/>
            <a:ext cx="16192500" cy="1819275"/>
          </a:xfrm>
          <a:prstGeom prst="roundRect">
            <a:avLst>
              <a:gd name="adj" fmla="val 7330"/>
            </a:avLst>
          </a:prstGeom>
          <a:solidFill>
            <a:srgbClr val="161B22"/>
          </a:solidFill>
          <a:ln w="9525">
            <a:solidFill>
              <a:srgbClr val="262C36"/>
            </a:solidFill>
            <a:prstDash val="solid"/>
          </a:ln>
        </p:spPr>
      </p:sp>
      <p:sp>
        <p:nvSpPr>
          <p:cNvPr id="15" name="Text 13"/>
          <p:cNvSpPr/>
          <p:nvPr/>
        </p:nvSpPr>
        <p:spPr>
          <a:xfrm>
            <a:off x="1438275" y="6972300"/>
            <a:ext cx="8266748" cy="333375"/>
          </a:xfrm>
          <a:prstGeom prst="rect">
            <a:avLst/>
          </a:prstGeom>
          <a:noFill/>
        </p:spPr>
        <p:txBody>
          <a:bodyPr wrap="square" lIns="25400" tIns="25400" rIns="25400" bIns="25400" rtlCol="0" anchor="t">
            <a:normAutofit/>
          </a:bodyPr>
          <a:lstStyle/>
          <a:p>
            <a:pPr marL="0" indent="0" algn="l">
              <a:buNone/>
            </a:pPr>
            <a:r>
              <a:rPr lang="en-US" sz="1800" dirty="0">
                <a:solidFill>
                  <a:srgbClr val="F0776C"/>
                </a:solidFill>
                <a:latin typeface="Courier New" panose="02070309020205020404" pitchFamily="34" charset="0"/>
                <a:ea typeface="Courier New" panose="02070309020205020404" pitchFamily="34" charset="-122"/>
                <a:cs typeface="Courier New" panose="02070309020205020404" pitchFamily="34" charset="-120"/>
              </a:rPr>
              <a:t>// challenge</a:t>
            </a:r>
            <a:endParaRPr lang="en-US" sz="1800" dirty="0"/>
          </a:p>
        </p:txBody>
      </p:sp>
      <p:sp>
        <p:nvSpPr>
          <p:cNvPr id="16" name="Text 14"/>
          <p:cNvSpPr/>
          <p:nvPr/>
        </p:nvSpPr>
        <p:spPr>
          <a:xfrm>
            <a:off x="1438275" y="7343775"/>
            <a:ext cx="8266748" cy="428625"/>
          </a:xfrm>
          <a:prstGeom prst="rect">
            <a:avLst/>
          </a:prstGeom>
          <a:noFill/>
        </p:spPr>
        <p:txBody>
          <a:bodyPr wrap="square" lIns="25400" tIns="25400" rIns="25400" bIns="25400" rtlCol="0" anchor="t">
            <a:normAutofit/>
          </a:bodyPr>
          <a:lstStyle/>
          <a:p>
            <a:pPr marL="0" indent="0" algn="l">
              <a:buNone/>
            </a:pPr>
            <a:r>
              <a:rPr lang="en-US" sz="2325" dirty="0">
                <a:solidFill>
                  <a:srgbClr val="E6EDF3"/>
                </a:solidFill>
                <a:latin typeface="Arial" panose="020B0604020202020204" pitchFamily="34" charset="0"/>
                <a:ea typeface="Arial" panose="020B0604020202020204" pitchFamily="34" charset="-122"/>
                <a:cs typeface="Arial" panose="020B0604020202020204" pitchFamily="34" charset="-120"/>
              </a:rPr>
              <a:t>Storing different types in one list.</a:t>
            </a:r>
            <a:endParaRPr lang="en-US" sz="2325" dirty="0"/>
          </a:p>
        </p:txBody>
      </p:sp>
      <p:sp>
        <p:nvSpPr>
          <p:cNvPr id="17" name="Text 15"/>
          <p:cNvSpPr/>
          <p:nvPr/>
        </p:nvSpPr>
        <p:spPr>
          <a:xfrm>
            <a:off x="9334500" y="6972300"/>
            <a:ext cx="8266748" cy="333375"/>
          </a:xfrm>
          <a:prstGeom prst="rect">
            <a:avLst/>
          </a:prstGeom>
          <a:noFill/>
        </p:spPr>
        <p:txBody>
          <a:bodyPr wrap="square" lIns="25400" tIns="25400" rIns="25400" bIns="25400" rtlCol="0" anchor="t">
            <a:normAutofit/>
          </a:bodyPr>
          <a:lstStyle/>
          <a:p>
            <a:pPr marL="0" indent="0" algn="l">
              <a:buNone/>
            </a:pPr>
            <a:r>
              <a:rPr lang="en-US" sz="180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 solution</a:t>
            </a:r>
            <a:endParaRPr lang="en-US" sz="1800" dirty="0"/>
          </a:p>
        </p:txBody>
      </p:sp>
      <p:sp>
        <p:nvSpPr>
          <p:cNvPr id="18" name="Text 16"/>
          <p:cNvSpPr/>
          <p:nvPr/>
        </p:nvSpPr>
        <p:spPr>
          <a:xfrm>
            <a:off x="9334500" y="7343775"/>
            <a:ext cx="7740682" cy="819150"/>
          </a:xfrm>
          <a:prstGeom prst="rect">
            <a:avLst/>
          </a:prstGeom>
          <a:noFill/>
        </p:spPr>
        <p:txBody>
          <a:bodyPr wrap="square" lIns="25400" tIns="25400" rIns="25400" bIns="25400" rtlCol="0" anchor="t">
            <a:normAutofit/>
          </a:bodyPr>
          <a:lstStyle/>
          <a:p>
            <a:pPr marL="0" indent="0" algn="l">
              <a:buNone/>
            </a:pPr>
            <a:r>
              <a:rPr lang="en-US" sz="2325" dirty="0">
                <a:solidFill>
                  <a:srgbClr val="C9D1D9"/>
                </a:solidFill>
                <a:latin typeface="Arial" panose="020B0604020202020204" pitchFamily="34" charset="0"/>
                <a:ea typeface="Arial" panose="020B0604020202020204" pitchFamily="34" charset="-122"/>
                <a:cs typeface="Arial" panose="020B0604020202020204" pitchFamily="34" charset="-120"/>
              </a:rPr>
              <a:t>Base-class pointers in a vector, so polymorphism still works.</a:t>
            </a:r>
            <a:endParaRPr lang="en-US" sz="23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11 · DEMO</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Seeing it run</a:t>
            </a:r>
            <a:endParaRPr lang="en-US" sz="4800" dirty="0"/>
          </a:p>
        </p:txBody>
      </p:sp>
      <p:sp>
        <p:nvSpPr>
          <p:cNvPr id="4" name="Shape 2"/>
          <p:cNvSpPr/>
          <p:nvPr/>
        </p:nvSpPr>
        <p:spPr>
          <a:xfrm>
            <a:off x="1047750" y="2409825"/>
            <a:ext cx="16192500" cy="7115175"/>
          </a:xfrm>
          <a:prstGeom prst="roundRect">
            <a:avLst>
              <a:gd name="adj" fmla="val 1874"/>
            </a:avLst>
          </a:prstGeom>
          <a:solidFill>
            <a:srgbClr val="0B0E14"/>
          </a:solidFill>
          <a:ln w="19050">
            <a:solidFill>
              <a:srgbClr val="2B333D"/>
            </a:solidFill>
            <a:prstDash val="dash"/>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
        <p:cNvGrpSpPr/>
        <p:nvPr/>
      </p:nvGrpSpPr>
      <p:grpSpPr>
        <a:xfrm>
          <a:off x="0" y="0"/>
          <a:ext cx="0" cy="0"/>
          <a:chOff x="0" y="0"/>
          <a:chExt cx="0" cy="0"/>
        </a:xfrm>
      </p:grpSpPr>
      <p:sp>
        <p:nvSpPr>
          <p:cNvPr id="2" name="Text 0"/>
          <p:cNvSpPr/>
          <p:nvPr/>
        </p:nvSpPr>
        <p:spPr>
          <a:xfrm>
            <a:off x="1047750" y="857250"/>
            <a:ext cx="17811750" cy="371475"/>
          </a:xfrm>
          <a:prstGeom prst="rect">
            <a:avLst/>
          </a:prstGeom>
          <a:noFill/>
        </p:spPr>
        <p:txBody>
          <a:bodyPr wrap="square" lIns="25400" tIns="25400" rIns="25400" bIns="25400" rtlCol="0" anchor="t">
            <a:normAutofit/>
          </a:bodyPr>
          <a:lstStyle/>
          <a:p>
            <a:pPr marL="0" indent="0" algn="l">
              <a:buNone/>
            </a:pPr>
            <a:r>
              <a:rPr lang="en-US" sz="1950" kern="0" spc="1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12 · CONCLUSION</a:t>
            </a:r>
            <a:endParaRPr lang="en-US" sz="1950" dirty="0"/>
          </a:p>
        </p:txBody>
      </p:sp>
      <p:sp>
        <p:nvSpPr>
          <p:cNvPr id="3" name="Text 1"/>
          <p:cNvSpPr/>
          <p:nvPr/>
        </p:nvSpPr>
        <p:spPr>
          <a:xfrm>
            <a:off x="1047750" y="1323975"/>
            <a:ext cx="17811750" cy="742950"/>
          </a:xfrm>
          <a:prstGeom prst="rect">
            <a:avLst/>
          </a:prstGeom>
          <a:noFill/>
        </p:spPr>
        <p:txBody>
          <a:bodyPr wrap="square" lIns="25400" tIns="25400" rIns="25400" bIns="25400" rtlCol="0" anchor="t">
            <a:normAutofit lnSpcReduction="10000"/>
          </a:bodyPr>
          <a:lstStyle/>
          <a:p>
            <a:pPr marL="0" indent="0" algn="l">
              <a:buNone/>
            </a:pPr>
            <a:r>
              <a:rPr lang="en-US" sz="4800" b="1" dirty="0">
                <a:solidFill>
                  <a:srgbClr val="E6EDF3"/>
                </a:solidFill>
                <a:latin typeface="Arial" panose="020B0604020202020204" pitchFamily="34" charset="0"/>
                <a:ea typeface="Arial" panose="020B0604020202020204" pitchFamily="34" charset="-122"/>
                <a:cs typeface="Arial" panose="020B0604020202020204" pitchFamily="34" charset="-120"/>
              </a:rPr>
              <a:t>Where we landed, and what's next</a:t>
            </a:r>
            <a:endParaRPr lang="en-US" sz="4800" dirty="0"/>
          </a:p>
        </p:txBody>
      </p:sp>
      <p:sp>
        <p:nvSpPr>
          <p:cNvPr id="4" name="Text 2"/>
          <p:cNvSpPr/>
          <p:nvPr/>
        </p:nvSpPr>
        <p:spPr>
          <a:xfrm>
            <a:off x="1047750" y="2543175"/>
            <a:ext cx="8539163" cy="419100"/>
          </a:xfrm>
          <a:prstGeom prst="rect">
            <a:avLst/>
          </a:prstGeom>
          <a:noFill/>
        </p:spPr>
        <p:txBody>
          <a:bodyPr wrap="square" lIns="25400" tIns="25400" rIns="25400" bIns="25400" rtlCol="0" anchor="t">
            <a:normAutofit/>
          </a:bodyPr>
          <a:lstStyle/>
          <a:p>
            <a:pPr marL="0" indent="0" algn="l">
              <a:buNone/>
            </a:pPr>
            <a:r>
              <a:rPr lang="en-US" sz="22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summary</a:t>
            </a:r>
            <a:endParaRPr lang="en-US" sz="2250" dirty="0"/>
          </a:p>
        </p:txBody>
      </p:sp>
      <p:sp>
        <p:nvSpPr>
          <p:cNvPr id="5" name="Text 3"/>
          <p:cNvSpPr/>
          <p:nvPr/>
        </p:nvSpPr>
        <p:spPr>
          <a:xfrm>
            <a:off x="1047750" y="3114675"/>
            <a:ext cx="7995761" cy="1866900"/>
          </a:xfrm>
          <a:prstGeom prst="rect">
            <a:avLst/>
          </a:prstGeom>
          <a:noFill/>
        </p:spPr>
        <p:txBody>
          <a:bodyPr wrap="square" lIns="25400" tIns="25400" rIns="25400" bIns="25400" rtlCol="0" anchor="t">
            <a:normAutofit fontScale="92500"/>
          </a:bodyPr>
          <a:lstStyle/>
          <a:p>
            <a:pPr marL="0" indent="0" algn="l">
              <a:lnSpc>
                <a:spcPct val="150000"/>
              </a:lnSpc>
              <a:buNone/>
            </a:pPr>
            <a:r>
              <a:rPr lang="en-US" sz="2400" dirty="0">
                <a:solidFill>
                  <a:srgbClr val="C9D1D9"/>
                </a:solidFill>
                <a:latin typeface="Arial" panose="020B0604020202020204" pitchFamily="34" charset="0"/>
                <a:ea typeface="Arial" panose="020B0604020202020204" pitchFamily="34" charset="-122"/>
                <a:cs typeface="Arial" panose="020B0604020202020204" pitchFamily="34" charset="-120"/>
              </a:rPr>
              <a:t>The Group Tax Scheduler applies all four OOP pillars in one working tool — it </a:t>
            </a:r>
            <a:r>
              <a:rPr lang="en-US" sz="2400" dirty="0">
                <a:solidFill>
                  <a:srgbClr val="4EC9B0"/>
                </a:solidFill>
                <a:latin typeface="Arial" panose="020B0604020202020204" pitchFamily="34" charset="0"/>
                <a:ea typeface="Arial" panose="020B0604020202020204" pitchFamily="34" charset="-122"/>
                <a:cs typeface="Arial" panose="020B0604020202020204" pitchFamily="34" charset="-120"/>
              </a:rPr>
              <a:t>calculates </a:t>
            </a:r>
            <a:r>
              <a:rPr lang="en-US" sz="2400" dirty="0">
                <a:solidFill>
                  <a:srgbClr val="C9D1D9"/>
                </a:solidFill>
                <a:latin typeface="Arial" panose="020B0604020202020204" pitchFamily="34" charset="0"/>
                <a:ea typeface="Arial" panose="020B0604020202020204" pitchFamily="34" charset="-122"/>
                <a:cs typeface="Arial" panose="020B0604020202020204" pitchFamily="34" charset="-120"/>
              </a:rPr>
              <a:t>tax by type, </a:t>
            </a:r>
            <a:r>
              <a:rPr lang="en-US" sz="2400" dirty="0">
                <a:solidFill>
                  <a:srgbClr val="DCDCAA"/>
                </a:solidFill>
                <a:latin typeface="Arial" panose="020B0604020202020204" pitchFamily="34" charset="0"/>
                <a:ea typeface="Arial" panose="020B0604020202020204" pitchFamily="34" charset="-122"/>
                <a:cs typeface="Arial" panose="020B0604020202020204" pitchFamily="34" charset="-120"/>
              </a:rPr>
              <a:t>tracks </a:t>
            </a:r>
            <a:r>
              <a:rPr lang="en-US" sz="2400" dirty="0">
                <a:solidFill>
                  <a:srgbClr val="C9D1D9"/>
                </a:solidFill>
                <a:latin typeface="Arial" panose="020B0604020202020204" pitchFamily="34" charset="0"/>
                <a:ea typeface="Arial" panose="020B0604020202020204" pitchFamily="34" charset="-122"/>
                <a:cs typeface="Arial" panose="020B0604020202020204" pitchFamily="34" charset="-120"/>
              </a:rPr>
              <a:t>payment against a live due date, and </a:t>
            </a:r>
            <a:r>
              <a:rPr lang="en-US" sz="2400" dirty="0">
                <a:solidFill>
                  <a:srgbClr val="569CD6"/>
                </a:solidFill>
                <a:latin typeface="Arial" panose="020B0604020202020204" pitchFamily="34" charset="0"/>
                <a:ea typeface="Arial" panose="020B0604020202020204" pitchFamily="34" charset="-122"/>
                <a:cs typeface="Arial" panose="020B0604020202020204" pitchFamily="34" charset="-120"/>
              </a:rPr>
              <a:t>saves </a:t>
            </a:r>
            <a:r>
              <a:rPr lang="en-US" sz="2400" dirty="0">
                <a:solidFill>
                  <a:srgbClr val="C9D1D9"/>
                </a:solidFill>
                <a:latin typeface="Arial" panose="020B0604020202020204" pitchFamily="34" charset="0"/>
                <a:ea typeface="Arial" panose="020B0604020202020204" pitchFamily="34" charset="-122"/>
                <a:cs typeface="Arial" panose="020B0604020202020204" pitchFamily="34" charset="-120"/>
              </a:rPr>
              <a:t>the record safely.</a:t>
            </a:r>
            <a:endParaRPr lang="en-US" sz="2400" dirty="0"/>
          </a:p>
        </p:txBody>
      </p:sp>
      <p:sp>
        <p:nvSpPr>
          <p:cNvPr id="6" name="Text 4"/>
          <p:cNvSpPr/>
          <p:nvPr/>
        </p:nvSpPr>
        <p:spPr>
          <a:xfrm>
            <a:off x="1047750" y="5267325"/>
            <a:ext cx="8539163" cy="419100"/>
          </a:xfrm>
          <a:prstGeom prst="rect">
            <a:avLst/>
          </a:prstGeom>
          <a:noFill/>
        </p:spPr>
        <p:txBody>
          <a:bodyPr wrap="square" lIns="25400" tIns="25400" rIns="25400" bIns="25400" rtlCol="0" anchor="t">
            <a:normAutofit/>
          </a:bodyPr>
          <a:lstStyle/>
          <a:p>
            <a:pPr marL="0" indent="0" algn="l">
              <a:buNone/>
            </a:pPr>
            <a:r>
              <a:rPr lang="en-US" sz="22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design choices</a:t>
            </a:r>
            <a:endParaRPr lang="en-US" sz="2250" dirty="0"/>
          </a:p>
        </p:txBody>
      </p:sp>
      <p:sp>
        <p:nvSpPr>
          <p:cNvPr id="7" name="Text 5"/>
          <p:cNvSpPr/>
          <p:nvPr/>
        </p:nvSpPr>
        <p:spPr>
          <a:xfrm>
            <a:off x="1047750" y="5800725"/>
            <a:ext cx="178147" cy="802779"/>
          </a:xfrm>
          <a:prstGeom prst="rect">
            <a:avLst/>
          </a:prstGeom>
          <a:noFill/>
        </p:spPr>
        <p:txBody>
          <a:bodyPr wrap="square" lIns="25400" tIns="25400" rIns="25400" bIns="25400" rtlCol="0" anchor="t">
            <a:normAutofit/>
          </a:bodyPr>
          <a:lstStyle/>
          <a:p>
            <a:pPr marL="0" indent="0" algn="l">
              <a:lnSpc>
                <a:spcPct val="145000"/>
              </a:lnSpc>
              <a:buNone/>
            </a:pPr>
            <a:r>
              <a:rPr lang="en-US" sz="202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025" dirty="0"/>
          </a:p>
        </p:txBody>
      </p:sp>
      <p:sp>
        <p:nvSpPr>
          <p:cNvPr id="8" name="Text 6"/>
          <p:cNvSpPr/>
          <p:nvPr/>
        </p:nvSpPr>
        <p:spPr>
          <a:xfrm>
            <a:off x="1283047" y="5800725"/>
            <a:ext cx="7753405" cy="802779"/>
          </a:xfrm>
          <a:prstGeom prst="rect">
            <a:avLst/>
          </a:prstGeom>
          <a:noFill/>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C9D1D9"/>
                </a:solidFill>
                <a:latin typeface="Arial" panose="020B0604020202020204" pitchFamily="34" charset="0"/>
                <a:ea typeface="Arial" panose="020B0604020202020204" pitchFamily="34" charset="-122"/>
                <a:cs typeface="Arial" panose="020B0604020202020204" pitchFamily="34" charset="-120"/>
              </a:rPr>
              <a:t>No “edit” feature </a:t>
            </a:r>
            <a:r>
              <a:rPr lang="en-US" sz="2025" b="1" dirty="0">
                <a:solidFill>
                  <a:srgbClr val="E6EDF3"/>
                </a:solidFill>
                <a:latin typeface="Arial" panose="020B0604020202020204" pitchFamily="34" charset="0"/>
                <a:ea typeface="Arial" panose="020B0604020202020204" pitchFamily="34" charset="-122"/>
                <a:cs typeface="Arial" panose="020B0604020202020204" pitchFamily="34" charset="-120"/>
              </a:rPr>
              <a:t>by design </a:t>
            </a:r>
            <a:r>
              <a:rPr lang="en-US" sz="2025" dirty="0">
                <a:solidFill>
                  <a:srgbClr val="C9D1D9"/>
                </a:solidFill>
                <a:latin typeface="Arial" panose="020B0604020202020204" pitchFamily="34" charset="0"/>
                <a:ea typeface="Arial" panose="020B0604020202020204" pitchFamily="34" charset="-122"/>
                <a:cs typeface="Arial" panose="020B0604020202020204" pitchFamily="34" charset="-120"/>
              </a:rPr>
              <a:t>— input is validated at entry, so a mistaken entry is just deleted and re-added.</a:t>
            </a:r>
            <a:endParaRPr lang="en-US" sz="2025" dirty="0"/>
          </a:p>
        </p:txBody>
      </p:sp>
      <p:sp>
        <p:nvSpPr>
          <p:cNvPr id="9" name="Text 7"/>
          <p:cNvSpPr/>
          <p:nvPr/>
        </p:nvSpPr>
        <p:spPr>
          <a:xfrm>
            <a:off x="1047750" y="6698754"/>
            <a:ext cx="178147" cy="802779"/>
          </a:xfrm>
          <a:prstGeom prst="rect">
            <a:avLst/>
          </a:prstGeom>
          <a:noFill/>
        </p:spPr>
        <p:txBody>
          <a:bodyPr wrap="square" lIns="25400" tIns="25400" rIns="25400" bIns="25400" rtlCol="0" anchor="t">
            <a:normAutofit/>
          </a:bodyPr>
          <a:lstStyle/>
          <a:p>
            <a:pPr marL="0" indent="0" algn="l">
              <a:lnSpc>
                <a:spcPct val="145000"/>
              </a:lnSpc>
              <a:buNone/>
            </a:pPr>
            <a:r>
              <a:rPr lang="en-US" sz="202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025" dirty="0"/>
          </a:p>
        </p:txBody>
      </p:sp>
      <p:sp>
        <p:nvSpPr>
          <p:cNvPr id="10" name="Text 8"/>
          <p:cNvSpPr/>
          <p:nvPr/>
        </p:nvSpPr>
        <p:spPr>
          <a:xfrm>
            <a:off x="1283047" y="6698754"/>
            <a:ext cx="7753405" cy="802779"/>
          </a:xfrm>
          <a:prstGeom prst="rect">
            <a:avLst/>
          </a:prstGeom>
          <a:noFill/>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C9D1D9"/>
                </a:solidFill>
                <a:latin typeface="Arial" panose="020B0604020202020204" pitchFamily="34" charset="0"/>
                <a:ea typeface="Arial" panose="020B0604020202020204" pitchFamily="34" charset="-122"/>
                <a:cs typeface="Arial" panose="020B0604020202020204" pitchFamily="34" charset="-120"/>
              </a:rPr>
              <a:t>Auto-load </a:t>
            </a:r>
            <a:r>
              <a:rPr lang="en-US" sz="2025" b="1" dirty="0">
                <a:solidFill>
                  <a:srgbClr val="E6EDF3"/>
                </a:solidFill>
                <a:latin typeface="Arial" panose="020B0604020202020204" pitchFamily="34" charset="0"/>
                <a:ea typeface="Arial" panose="020B0604020202020204" pitchFamily="34" charset="-122"/>
                <a:cs typeface="Arial" panose="020B0604020202020204" pitchFamily="34" charset="-120"/>
              </a:rPr>
              <a:t>defaults to continuing </a:t>
            </a:r>
            <a:r>
              <a:rPr lang="en-US" sz="2025" dirty="0">
                <a:solidFill>
                  <a:srgbClr val="C9D1D9"/>
                </a:solidFill>
                <a:latin typeface="Arial" panose="020B0604020202020204" pitchFamily="34" charset="0"/>
                <a:ea typeface="Arial" panose="020B0604020202020204" pitchFamily="34" charset="-122"/>
                <a:cs typeface="Arial" panose="020B0604020202020204" pitchFamily="34" charset="-120"/>
              </a:rPr>
              <a:t>saved data, so saving never silently overwrites records.</a:t>
            </a:r>
            <a:endParaRPr lang="en-US" sz="2025" dirty="0"/>
          </a:p>
        </p:txBody>
      </p:sp>
      <p:sp>
        <p:nvSpPr>
          <p:cNvPr id="11" name="Text 9"/>
          <p:cNvSpPr/>
          <p:nvPr/>
        </p:nvSpPr>
        <p:spPr>
          <a:xfrm>
            <a:off x="9477375" y="2543175"/>
            <a:ext cx="8539163" cy="419100"/>
          </a:xfrm>
          <a:prstGeom prst="rect">
            <a:avLst/>
          </a:prstGeom>
          <a:noFill/>
        </p:spPr>
        <p:txBody>
          <a:bodyPr wrap="square" lIns="25400" tIns="25400" rIns="25400" bIns="25400" rtlCol="0" anchor="t">
            <a:normAutofit/>
          </a:bodyPr>
          <a:lstStyle/>
          <a:p>
            <a:pPr marL="0" indent="0" algn="l">
              <a:buNone/>
            </a:pPr>
            <a:r>
              <a:rPr lang="en-US" sz="2250" dirty="0">
                <a:solidFill>
                  <a:srgbClr val="8B949E"/>
                </a:solidFill>
                <a:latin typeface="Courier New" panose="02070309020205020404" pitchFamily="34" charset="0"/>
                <a:ea typeface="Courier New" panose="02070309020205020404" pitchFamily="34" charset="-122"/>
                <a:cs typeface="Courier New" panose="02070309020205020404" pitchFamily="34" charset="-120"/>
              </a:rPr>
              <a:t>// future work</a:t>
            </a:r>
            <a:endParaRPr lang="en-US" sz="2250" dirty="0"/>
          </a:p>
        </p:txBody>
      </p:sp>
      <p:sp>
        <p:nvSpPr>
          <p:cNvPr id="12" name="Text 10"/>
          <p:cNvSpPr/>
          <p:nvPr/>
        </p:nvSpPr>
        <p:spPr>
          <a:xfrm>
            <a:off x="9477375" y="3114675"/>
            <a:ext cx="241995" cy="76200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3" name="Text 11"/>
          <p:cNvSpPr/>
          <p:nvPr/>
        </p:nvSpPr>
        <p:spPr>
          <a:xfrm>
            <a:off x="9795570" y="3114675"/>
            <a:ext cx="7668021" cy="762000"/>
          </a:xfrm>
          <a:prstGeom prst="rect">
            <a:avLst/>
          </a:prstGeom>
          <a:noFill/>
        </p:spPr>
        <p:txBody>
          <a:bodyPr wrap="square" lIns="25400" tIns="25400" rIns="25400" bIns="25400" rtlCol="0" anchor="t">
            <a:normAutofit/>
          </a:bodyPr>
          <a:lstStyle/>
          <a:p>
            <a:pPr marL="0" indent="0" algn="l">
              <a:buNone/>
            </a:pP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Full calendar-aware date validation (today Feb 30 can slip through)</a:t>
            </a:r>
            <a:endParaRPr lang="en-US" sz="2175" dirty="0"/>
          </a:p>
        </p:txBody>
      </p:sp>
      <p:sp>
        <p:nvSpPr>
          <p:cNvPr id="14" name="Text 12"/>
          <p:cNvSpPr/>
          <p:nvPr/>
        </p:nvSpPr>
        <p:spPr>
          <a:xfrm>
            <a:off x="9477375" y="4010025"/>
            <a:ext cx="241995" cy="40005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5" name="Text 13"/>
          <p:cNvSpPr/>
          <p:nvPr/>
        </p:nvSpPr>
        <p:spPr>
          <a:xfrm>
            <a:off x="9795570" y="4010025"/>
            <a:ext cx="5666168" cy="400050"/>
          </a:xfrm>
          <a:prstGeom prst="rect">
            <a:avLst/>
          </a:prstGeom>
          <a:noFill/>
        </p:spPr>
        <p:txBody>
          <a:bodyPr wrap="square" lIns="0" tIns="0" rIns="0" bIns="0" rtlCol="0" anchor="t">
            <a:normAutofit/>
          </a:bodyPr>
          <a:lstStyle/>
          <a:p>
            <a:pPr marL="0" indent="0" algn="l">
              <a:buNone/>
            </a:pP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Per-taxpayer due dates, not one shared date</a:t>
            </a:r>
            <a:endParaRPr lang="en-US" sz="2175" dirty="0"/>
          </a:p>
        </p:txBody>
      </p:sp>
      <p:sp>
        <p:nvSpPr>
          <p:cNvPr id="16" name="Text 14"/>
          <p:cNvSpPr/>
          <p:nvPr/>
        </p:nvSpPr>
        <p:spPr>
          <a:xfrm>
            <a:off x="9477375" y="4543425"/>
            <a:ext cx="241995" cy="40005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7" name="Text 15"/>
          <p:cNvSpPr/>
          <p:nvPr/>
        </p:nvSpPr>
        <p:spPr>
          <a:xfrm>
            <a:off x="9795570" y="4543425"/>
            <a:ext cx="3357576" cy="400050"/>
          </a:xfrm>
          <a:prstGeom prst="rect">
            <a:avLst/>
          </a:prstGeom>
          <a:noFill/>
        </p:spPr>
        <p:txBody>
          <a:bodyPr wrap="square" lIns="0" tIns="0" rIns="0" bIns="0" rtlCol="0" anchor="t">
            <a:normAutofit/>
          </a:bodyPr>
          <a:lstStyle/>
          <a:p>
            <a:pPr marL="0" indent="0" algn="l">
              <a:buNone/>
            </a:pP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Search taxpayers by name</a:t>
            </a:r>
            <a:endParaRPr lang="en-US" sz="2175" dirty="0"/>
          </a:p>
        </p:txBody>
      </p:sp>
      <p:sp>
        <p:nvSpPr>
          <p:cNvPr id="18" name="Text 16"/>
          <p:cNvSpPr/>
          <p:nvPr/>
        </p:nvSpPr>
        <p:spPr>
          <a:xfrm>
            <a:off x="9477375" y="5076825"/>
            <a:ext cx="241995" cy="400050"/>
          </a:xfrm>
          <a:prstGeom prst="rect">
            <a:avLst/>
          </a:prstGeom>
          <a:noFill/>
        </p:spPr>
        <p:txBody>
          <a:bodyPr wrap="square" lIns="25400" tIns="25400" rIns="25400" bIns="25400" rtlCol="0" anchor="t">
            <a:normAutofit/>
          </a:bodyPr>
          <a:lstStyle/>
          <a:p>
            <a:pPr marL="0" indent="0" algn="l">
              <a:buNone/>
            </a:pPr>
            <a:r>
              <a:rPr lang="en-US" sz="2175" dirty="0">
                <a:solidFill>
                  <a:srgbClr val="4EC9B0"/>
                </a:solidFill>
                <a:latin typeface="Arial" panose="020B0604020202020204" pitchFamily="34" charset="0"/>
                <a:ea typeface="Arial" panose="020B0604020202020204" pitchFamily="34" charset="-122"/>
                <a:cs typeface="Arial" panose="020B0604020202020204" pitchFamily="34" charset="-120"/>
              </a:rPr>
              <a:t>+</a:t>
            </a:r>
            <a:endParaRPr lang="en-US" sz="2175" dirty="0"/>
          </a:p>
        </p:txBody>
      </p:sp>
      <p:sp>
        <p:nvSpPr>
          <p:cNvPr id="19" name="Text 17"/>
          <p:cNvSpPr/>
          <p:nvPr/>
        </p:nvSpPr>
        <p:spPr>
          <a:xfrm>
            <a:off x="9795570" y="5076825"/>
            <a:ext cx="5262394" cy="400050"/>
          </a:xfrm>
          <a:prstGeom prst="rect">
            <a:avLst/>
          </a:prstGeom>
          <a:noFill/>
        </p:spPr>
        <p:txBody>
          <a:bodyPr wrap="square" lIns="0" tIns="0" rIns="0" bIns="0" rtlCol="0" anchor="t">
            <a:normAutofit/>
          </a:bodyPr>
          <a:lstStyle/>
          <a:p>
            <a:pPr marL="0" indent="0" algn="l">
              <a:buNone/>
            </a:pPr>
            <a:r>
              <a:rPr lang="en-US" sz="2175" dirty="0">
                <a:solidFill>
                  <a:srgbClr val="C9D1D9"/>
                </a:solidFill>
                <a:latin typeface="Arial" panose="020B0604020202020204" pitchFamily="34" charset="0"/>
                <a:ea typeface="Arial" panose="020B0604020202020204" pitchFamily="34" charset="-122"/>
                <a:cs typeface="Arial" panose="020B0604020202020204" pitchFamily="34" charset="-120"/>
              </a:rPr>
              <a:t>A payment history / receipts per taxpayer</a:t>
            </a:r>
            <a:endParaRPr lang="en-US" sz="2175" dirty="0"/>
          </a:p>
        </p:txBody>
      </p:sp>
      <p:sp>
        <p:nvSpPr>
          <p:cNvPr id="20" name="Text 18"/>
          <p:cNvSpPr/>
          <p:nvPr/>
        </p:nvSpPr>
        <p:spPr>
          <a:xfrm>
            <a:off x="9477375" y="5972175"/>
            <a:ext cx="8539163" cy="419100"/>
          </a:xfrm>
          <a:prstGeom prst="rect">
            <a:avLst/>
          </a:prstGeom>
          <a:noFill/>
        </p:spPr>
        <p:txBody>
          <a:bodyPr wrap="square" lIns="25400" tIns="25400" rIns="25400" bIns="25400" rtlCol="0" anchor="t">
            <a:normAutofit/>
          </a:bodyPr>
          <a:lstStyle/>
          <a:p>
            <a:pPr marL="0" indent="0" algn="l">
              <a:buNone/>
            </a:pPr>
            <a:r>
              <a:rPr lang="en-US" sz="2250" dirty="0">
                <a:solidFill>
                  <a:srgbClr val="E6EDF3"/>
                </a:solidFill>
                <a:latin typeface="Courier New" panose="02070309020205020404" pitchFamily="34" charset="0"/>
                <a:ea typeface="Courier New" panose="02070309020205020404" pitchFamily="34" charset="-122"/>
                <a:cs typeface="Courier New" panose="02070309020205020404" pitchFamily="34" charset="-120"/>
              </a:rPr>
              <a:t>C:\csc226\project&gt; </a:t>
            </a:r>
            <a:r>
              <a:rPr lang="en-US" sz="2250" dirty="0">
                <a:solidFill>
                  <a:srgbClr val="4EC9B0"/>
                </a:solidFill>
                <a:latin typeface="Courier New" panose="02070309020205020404" pitchFamily="34" charset="0"/>
                <a:ea typeface="Courier New" panose="02070309020205020404" pitchFamily="34" charset="-122"/>
                <a:cs typeface="Courier New" panose="02070309020205020404" pitchFamily="34" charset="-120"/>
              </a:rPr>
              <a:t>thank you</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5581</Words>
  <Application>WPS Presentation</Application>
  <PresentationFormat>Custom</PresentationFormat>
  <Paragraphs>459</Paragraphs>
  <Slides>13</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Courier New</vt:lpstr>
      <vt:lpstr>Courier New</vt:lpstr>
      <vt:lpstr>Courier New</vt:lpstr>
      <vt:lpstr>Arial</vt:lpstr>
      <vt:lpstr>Arial</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Oluwaseyi Temitope</cp:lastModifiedBy>
  <cp:revision>5</cp:revision>
  <dcterms:created xsi:type="dcterms:W3CDTF">2026-07-02T20:46:00Z</dcterms:created>
  <dcterms:modified xsi:type="dcterms:W3CDTF">2026-07-03T06:45:09Z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047C914EB6204A88A09EE2909D2375DF_12</vt:lpwstr>
  </property>
  <property fmtid="{D5CDD505-2E9C-101B-9397-08002B2CF9AE}" pid="3" name="KSOProductBuildVer">
    <vt:lpwstr>1033-12.1.0.26880</vt:lpwstr>
  </property>
</Properties>
</file>